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197df5a06d4254" /><Relationship Type="http://schemas.openxmlformats.org/officeDocument/2006/relationships/extended-properties" Target="/docProps/app.xml" Id="R57ec491386cf4f15" /><Relationship Type="http://schemas.openxmlformats.org/officeDocument/2006/relationships/officeDocument" Target="/ppt/presentation.xml" Id="Rca8f654a58064a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e746ccefdb43df"/>
  </p:sldMasterIdLst>
  <p:notesMasterIdLst>
    <p:notesMasterId xmlns:r="http://schemas.openxmlformats.org/officeDocument/2006/relationships" r:id="R96c7a0770929432d"/>
  </p:notesMasterIdLst>
  <p:sldIdLst>
    <p:sldId xmlns:r="http://schemas.openxmlformats.org/officeDocument/2006/relationships" id="256" r:id="R6ea0ff6696dd484c"/>
    <p:sldId xmlns:r="http://schemas.openxmlformats.org/officeDocument/2006/relationships" id="257" r:id="Raac768f6b331478d"/>
    <p:sldId xmlns:r="http://schemas.openxmlformats.org/officeDocument/2006/relationships" id="258" r:id="Rea74b165a1284d06"/>
    <p:sldId xmlns:r="http://schemas.openxmlformats.org/officeDocument/2006/relationships" id="259" r:id="Ra289967acf944c88"/>
    <p:sldId xmlns:r="http://schemas.openxmlformats.org/officeDocument/2006/relationships" id="260" r:id="R4f63d0b7ed704076"/>
    <p:sldId xmlns:r="http://schemas.openxmlformats.org/officeDocument/2006/relationships" id="261" r:id="R0d7cec834def4070"/>
    <p:sldId xmlns:r="http://schemas.openxmlformats.org/officeDocument/2006/relationships" id="262" r:id="R3f743ddef7c04488"/>
    <p:sldId xmlns:r="http://schemas.openxmlformats.org/officeDocument/2006/relationships" id="263" r:id="R384f98e112f645db"/>
    <p:sldId xmlns:r="http://schemas.openxmlformats.org/officeDocument/2006/relationships" id="264" r:id="R915040228ccf4582"/>
    <p:sldId xmlns:r="http://schemas.openxmlformats.org/officeDocument/2006/relationships" id="265" r:id="R09ddc56beb544c43"/>
    <p:sldId xmlns:r="http://schemas.openxmlformats.org/officeDocument/2006/relationships" id="266" r:id="R22f63f200a7a4140"/>
    <p:sldId xmlns:r="http://schemas.openxmlformats.org/officeDocument/2006/relationships" id="267" r:id="Rb4a1969c629d43fb"/>
    <p:sldId xmlns:r="http://schemas.openxmlformats.org/officeDocument/2006/relationships" id="268" r:id="R9ddf713248e14b33"/>
    <p:sldId xmlns:r="http://schemas.openxmlformats.org/officeDocument/2006/relationships" id="269" r:id="Raf7a862ff301461d"/>
    <p:sldId xmlns:r="http://schemas.openxmlformats.org/officeDocument/2006/relationships" id="270" r:id="Rd3af314ee4684547"/>
    <p:sldId xmlns:r="http://schemas.openxmlformats.org/officeDocument/2006/relationships" id="271" r:id="Re2c812b1fd0947e5"/>
    <p:sldId xmlns:r="http://schemas.openxmlformats.org/officeDocument/2006/relationships" id="272" r:id="Rd181d058be444fb3"/>
    <p:sldId xmlns:r="http://schemas.openxmlformats.org/officeDocument/2006/relationships" id="273" r:id="R2475fea5f8514dbd"/>
    <p:sldId xmlns:r="http://schemas.openxmlformats.org/officeDocument/2006/relationships" id="274" r:id="R52ca06d08a5542d5"/>
    <p:sldId xmlns:r="http://schemas.openxmlformats.org/officeDocument/2006/relationships" id="275" r:id="R6b6508f785204eae"/>
    <p:sldId xmlns:r="http://schemas.openxmlformats.org/officeDocument/2006/relationships" id="276" r:id="R616826bbd592455b"/>
    <p:sldId xmlns:r="http://schemas.openxmlformats.org/officeDocument/2006/relationships" id="277" r:id="Rdf2c0ae444f246d5"/>
    <p:sldId xmlns:r="http://schemas.openxmlformats.org/officeDocument/2006/relationships" id="278" r:id="R021b873e906b4b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f1d73856c424e" /><Relationship Type="http://schemas.openxmlformats.org/officeDocument/2006/relationships/slideMaster" Target="/ppt/slideMasters/slideMaster1.xml" Id="R13e746ccefdb43df" /><Relationship Type="http://schemas.openxmlformats.org/officeDocument/2006/relationships/notesMaster" Target="/ppt/notesMasters/notesMaster1.xml" Id="R96c7a0770929432d" /><Relationship Type="http://schemas.openxmlformats.org/officeDocument/2006/relationships/presProps" Target="/ppt/presProps.xml" Id="Ref04b6134be04c00" /><Relationship Type="http://schemas.openxmlformats.org/officeDocument/2006/relationships/tableStyles" Target="/ppt/tableStyles.xml" Id="R9c382681f1884474" /><Relationship Type="http://schemas.openxmlformats.org/officeDocument/2006/relationships/slide" Target="/ppt/slides/slide1.xml" Id="R6ea0ff6696dd484c" /><Relationship Type="http://schemas.openxmlformats.org/officeDocument/2006/relationships/slide" Target="/ppt/slides/slide2.xml" Id="Raac768f6b331478d" /><Relationship Type="http://schemas.openxmlformats.org/officeDocument/2006/relationships/slide" Target="/ppt/slides/slide3.xml" Id="Rea74b165a1284d06" /><Relationship Type="http://schemas.openxmlformats.org/officeDocument/2006/relationships/slide" Target="/ppt/slides/slide4.xml" Id="Ra289967acf944c88" /><Relationship Type="http://schemas.openxmlformats.org/officeDocument/2006/relationships/slide" Target="/ppt/slides/slide5.xml" Id="R4f63d0b7ed704076" /><Relationship Type="http://schemas.openxmlformats.org/officeDocument/2006/relationships/slide" Target="/ppt/slides/slide6.xml" Id="R0d7cec834def4070" /><Relationship Type="http://schemas.openxmlformats.org/officeDocument/2006/relationships/slide" Target="/ppt/slides/slide7.xml" Id="R3f743ddef7c04488" /><Relationship Type="http://schemas.openxmlformats.org/officeDocument/2006/relationships/slide" Target="/ppt/slides/slide8.xml" Id="R384f98e112f645db" /><Relationship Type="http://schemas.openxmlformats.org/officeDocument/2006/relationships/slide" Target="/ppt/slides/slide9.xml" Id="R915040228ccf4582" /><Relationship Type="http://schemas.openxmlformats.org/officeDocument/2006/relationships/slide" Target="/ppt/slides/slide10.xml" Id="R09ddc56beb544c43" /><Relationship Type="http://schemas.openxmlformats.org/officeDocument/2006/relationships/slide" Target="/ppt/slides/slide11.xml" Id="R22f63f200a7a4140" /><Relationship Type="http://schemas.openxmlformats.org/officeDocument/2006/relationships/slide" Target="/ppt/slides/slide12.xml" Id="Rb4a1969c629d43fb" /><Relationship Type="http://schemas.openxmlformats.org/officeDocument/2006/relationships/slide" Target="/ppt/slides/slide13.xml" Id="R9ddf713248e14b33" /><Relationship Type="http://schemas.openxmlformats.org/officeDocument/2006/relationships/slide" Target="/ppt/slides/slide14.xml" Id="Raf7a862ff301461d" /><Relationship Type="http://schemas.openxmlformats.org/officeDocument/2006/relationships/slide" Target="/ppt/slides/slide15.xml" Id="Rd3af314ee4684547" /><Relationship Type="http://schemas.openxmlformats.org/officeDocument/2006/relationships/slide" Target="/ppt/slides/slide16.xml" Id="Re2c812b1fd0947e5" /><Relationship Type="http://schemas.openxmlformats.org/officeDocument/2006/relationships/slide" Target="/ppt/slides/slide17.xml" Id="Rd181d058be444fb3" /><Relationship Type="http://schemas.openxmlformats.org/officeDocument/2006/relationships/slide" Target="/ppt/slides/slide18.xml" Id="R2475fea5f8514dbd" /><Relationship Type="http://schemas.openxmlformats.org/officeDocument/2006/relationships/slide" Target="/ppt/slides/slide19.xml" Id="R52ca06d08a5542d5" /><Relationship Type="http://schemas.openxmlformats.org/officeDocument/2006/relationships/slide" Target="/ppt/slides/slide20.xml" Id="R6b6508f785204eae" /><Relationship Type="http://schemas.openxmlformats.org/officeDocument/2006/relationships/slide" Target="/ppt/slides/slide21.xml" Id="R616826bbd592455b" /><Relationship Type="http://schemas.openxmlformats.org/officeDocument/2006/relationships/slide" Target="/ppt/slides/slide22.xml" Id="Rdf2c0ae444f246d5" /><Relationship Type="http://schemas.openxmlformats.org/officeDocument/2006/relationships/slide" Target="/ppt/slides/slide23.xml" Id="R021b873e906b4b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7b9ca0cebd4d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4c7b061e224325" /><Relationship Type="http://schemas.openxmlformats.org/officeDocument/2006/relationships/notesMaster" Target="/ppt/notesMasters/notesMaster1.xml" Id="R6aae2ecad43b49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223e3b92aa44ff" /><Relationship Type="http://schemas.openxmlformats.org/officeDocument/2006/relationships/notesMaster" Target="/ppt/notesMasters/notesMaster1.xml" Id="R8d926776976a4c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54fbcb06154229" /><Relationship Type="http://schemas.openxmlformats.org/officeDocument/2006/relationships/notesMaster" Target="/ppt/notesMasters/notesMaster1.xml" Id="R2646f57d0d914e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da608bb5eb4c6f" /><Relationship Type="http://schemas.openxmlformats.org/officeDocument/2006/relationships/notesMaster" Target="/ppt/notesMasters/notesMaster1.xml" Id="R8a66a38c17124c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abe9032092407b" /><Relationship Type="http://schemas.openxmlformats.org/officeDocument/2006/relationships/notesMaster" Target="/ppt/notesMasters/notesMaster1.xml" Id="Raa4c5e5dfdf14a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d32c37d05149b9" /><Relationship Type="http://schemas.openxmlformats.org/officeDocument/2006/relationships/notesMaster" Target="/ppt/notesMasters/notesMaster1.xml" Id="R46248f8f045f48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9d2199d7504e45" /><Relationship Type="http://schemas.openxmlformats.org/officeDocument/2006/relationships/notesMaster" Target="/ppt/notesMasters/notesMaster1.xml" Id="R477d7441074b4e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28607ff8e649da" /><Relationship Type="http://schemas.openxmlformats.org/officeDocument/2006/relationships/notesMaster" Target="/ppt/notesMasters/notesMaster1.xml" Id="R0e8c696d0c714c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dfa300ea584b12" /><Relationship Type="http://schemas.openxmlformats.org/officeDocument/2006/relationships/notesMaster" Target="/ppt/notesMasters/notesMaster1.xml" Id="Re667c98cfda946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d0b092edce4274" /><Relationship Type="http://schemas.openxmlformats.org/officeDocument/2006/relationships/notesMaster" Target="/ppt/notesMasters/notesMaster1.xml" Id="R9046d938e1f949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fc571ff2a0416b" /><Relationship Type="http://schemas.openxmlformats.org/officeDocument/2006/relationships/notesMaster" Target="/ppt/notesMasters/notesMaster1.xml" Id="R9aed774102ca45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1ed853e29847d9" /><Relationship Type="http://schemas.openxmlformats.org/officeDocument/2006/relationships/notesMaster" Target="/ppt/notesMasters/notesMaster1.xml" Id="R6d8c2e59fb6d4e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c23dee719c41ee" /><Relationship Type="http://schemas.openxmlformats.org/officeDocument/2006/relationships/notesMaster" Target="/ppt/notesMasters/notesMaster1.xml" Id="Rf6554bdf18164b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865a68b2634bf6" /><Relationship Type="http://schemas.openxmlformats.org/officeDocument/2006/relationships/notesMaster" Target="/ppt/notesMasters/notesMaster1.xml" Id="R756ca86699d544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df12750e6e4003" /><Relationship Type="http://schemas.openxmlformats.org/officeDocument/2006/relationships/notesMaster" Target="/ppt/notesMasters/notesMaster1.xml" Id="Rdc4059adac4345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ff95e9bf4744b4" /><Relationship Type="http://schemas.openxmlformats.org/officeDocument/2006/relationships/notesMaster" Target="/ppt/notesMasters/notesMaster1.xml" Id="Rf588257c182147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ac7bee7e22441f" /><Relationship Type="http://schemas.openxmlformats.org/officeDocument/2006/relationships/notesMaster" Target="/ppt/notesMasters/notesMaster1.xml" Id="R99eb3d4ca6c84c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0ed3129e434494" /><Relationship Type="http://schemas.openxmlformats.org/officeDocument/2006/relationships/notesMaster" Target="/ppt/notesMasters/notesMaster1.xml" Id="Rf24c27bb809f46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28e97b645e4002" /><Relationship Type="http://schemas.openxmlformats.org/officeDocument/2006/relationships/notesMaster" Target="/ppt/notesMasters/notesMaster1.xml" Id="Rf117c79b87fe4c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c67869b0784428" /><Relationship Type="http://schemas.openxmlformats.org/officeDocument/2006/relationships/notesMaster" Target="/ppt/notesMasters/notesMaster1.xml" Id="R49d63fb13a5d45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29ad54511e4533" /><Relationship Type="http://schemas.openxmlformats.org/officeDocument/2006/relationships/notesMaster" Target="/ppt/notesMasters/notesMaster1.xml" Id="R911f3bbf807b4bc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e0c6f92d204a0c" /><Relationship Type="http://schemas.openxmlformats.org/officeDocument/2006/relationships/notesMaster" Target="/ppt/notesMasters/notesMaster1.xml" Id="R354ab12bd49d41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b8430ee0497447e" /><Relationship Type="http://schemas.openxmlformats.org/officeDocument/2006/relationships/notesMaster" Target="/ppt/notesMasters/notesMaster1.xml" Id="Rcf124c5229074b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3910e81d945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683941ddec4ab0" /><Relationship Type="http://schemas.openxmlformats.org/officeDocument/2006/relationships/slideLayout" Target="/ppt/slideLayouts/slideLayout1.xml" Id="R361e916f95f943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1e916f95f943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c544104d84de5" /><Relationship Type="http://schemas.openxmlformats.org/officeDocument/2006/relationships/notesSlide" Target="/ppt/notesSlides/notesSlide1.xml" Id="Rffa55f9510ba44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30ff887ee4e4a" /><Relationship Type="http://schemas.openxmlformats.org/officeDocument/2006/relationships/notesSlide" Target="/ppt/notesSlides/notesSlide2.xml" Id="Ra0b173bebf5c49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7c4bb55dc4329" /><Relationship Type="http://schemas.openxmlformats.org/officeDocument/2006/relationships/notesSlide" Target="/ppt/notesSlides/notesSlide3.xml" Id="Rff64a131038a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ebaeb7ae8460c" /><Relationship Type="http://schemas.openxmlformats.org/officeDocument/2006/relationships/notesSlide" Target="/ppt/notesSlides/notesSlide4.xml" Id="R79b04e0f70eb46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bf3d955c64bb4" /><Relationship Type="http://schemas.openxmlformats.org/officeDocument/2006/relationships/notesSlide" Target="/ppt/notesSlides/notesSlide5.xml" Id="R31ad6f1e2c754d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f415f1e3e4b78" /><Relationship Type="http://schemas.openxmlformats.org/officeDocument/2006/relationships/notesSlide" Target="/ppt/notesSlides/notesSlide6.xml" Id="R199fb4aa417348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4ab6b97d444a6" /><Relationship Type="http://schemas.openxmlformats.org/officeDocument/2006/relationships/notesSlide" Target="/ppt/notesSlides/notesSlide7.xml" Id="R0431e1254fd344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37e3111864984" /><Relationship Type="http://schemas.openxmlformats.org/officeDocument/2006/relationships/notesSlide" Target="/ppt/notesSlides/notesSlide8.xml" Id="R8492ab31be5c48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450e150c74441" /><Relationship Type="http://schemas.openxmlformats.org/officeDocument/2006/relationships/notesSlide" Target="/ppt/notesSlides/notesSlide9.xml" Id="Rde8e36b48a6b4f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58563359c4511" /><Relationship Type="http://schemas.openxmlformats.org/officeDocument/2006/relationships/notesSlide" Target="/ppt/notesSlides/notesSlide10.xml" Id="Rbe840eb249c04f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424ccd4594bdf" /><Relationship Type="http://schemas.openxmlformats.org/officeDocument/2006/relationships/notesSlide" Target="/ppt/notesSlides/notesSlide11.xml" Id="R9fe54b5a2b5e41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a892f69874806" /><Relationship Type="http://schemas.openxmlformats.org/officeDocument/2006/relationships/notesSlide" Target="/ppt/notesSlides/notesSlide12.xml" Id="R1787173a76f042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ce247d0e24056" /><Relationship Type="http://schemas.openxmlformats.org/officeDocument/2006/relationships/notesSlide" Target="/ppt/notesSlides/notesSlide13.xml" Id="R0b08274176ab4b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6b675beb14cc9" /><Relationship Type="http://schemas.openxmlformats.org/officeDocument/2006/relationships/notesSlide" Target="/ppt/notesSlides/notesSlide14.xml" Id="Red2ef4e9c9394a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bb254ddd14fcc" /><Relationship Type="http://schemas.openxmlformats.org/officeDocument/2006/relationships/notesSlide" Target="/ppt/notesSlides/notesSlide15.xml" Id="R911661d3e38e4a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ba9a674f64724" /><Relationship Type="http://schemas.openxmlformats.org/officeDocument/2006/relationships/notesSlide" Target="/ppt/notesSlides/notesSlide16.xml" Id="R3af88d4f35a64e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b2caca42a495a" /><Relationship Type="http://schemas.openxmlformats.org/officeDocument/2006/relationships/notesSlide" Target="/ppt/notesSlides/notesSlide17.xml" Id="Rfeb0936e732740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5fd4ea04a4f61" /><Relationship Type="http://schemas.openxmlformats.org/officeDocument/2006/relationships/notesSlide" Target="/ppt/notesSlides/notesSlide18.xml" Id="R9194a7154c614e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689237af44255" /><Relationship Type="http://schemas.openxmlformats.org/officeDocument/2006/relationships/notesSlide" Target="/ppt/notesSlides/notesSlide19.xml" Id="R6817e6aad8dd49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88efadb72477d" /><Relationship Type="http://schemas.openxmlformats.org/officeDocument/2006/relationships/notesSlide" Target="/ppt/notesSlides/notesSlide20.xml" Id="R3e9a959ba5cb40b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da2209b214d91" /><Relationship Type="http://schemas.openxmlformats.org/officeDocument/2006/relationships/notesSlide" Target="/ppt/notesSlides/notesSlide21.xml" Id="Rb34194540bbf40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3bdf0316742e7" /><Relationship Type="http://schemas.openxmlformats.org/officeDocument/2006/relationships/notesSlide" Target="/ppt/notesSlides/notesSlide22.xml" Id="Rb125df6085e84e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82391ee124c1c" /><Relationship Type="http://schemas.openxmlformats.org/officeDocument/2006/relationships/notesSlide" Target="/ppt/notesSlides/notesSlide23.xml" Id="R5e8ccd0c487e48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0D793-C088-4182-B2B8-305AF8B0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2E32B-AD78-4EA3-8BCD-19388CDA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65C0"/>
                </a:solidFill>
              </a:defRPr>
            </a:pPr>
            <a:r>
              <a:rPr sz="1200" b="1">
                <a:solidFill>
                  <a:srgbClr val="1565C0"/>
                </a:solidFill>
              </a:rPr>
              <a:t>CLOUD DATA &amp; GENAI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3C541-9661-4432-9C97-7AB5991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F3A"/>
                </a:solidFill>
              </a:defRPr>
            </a:pPr>
            <a:r>
              <a:rPr sz="4350" b="1">
                <a:solidFill>
                  <a:srgbClr val="0B1F3A"/>
                </a:solidFill>
              </a:rPr>
              <a:t>Terraform State</a:t>
            </a:r>
          </a:p>
          <a:p xmlns:a="http://schemas.openxmlformats.org/drawingml/2006/main">
            <a:pPr algn="l">
              <a:defRPr sz="4350" b="1">
                <a:solidFill>
                  <a:srgbClr val="0B1F3A"/>
                </a:solidFill>
              </a:defRPr>
            </a:pPr>
            <a:r>
              <a:rPr sz="4350" b="1">
                <a:solidFill>
                  <a:srgbClr val="0B1F3A"/>
                </a:solidFill>
              </a:rPr>
              <a:t>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8274B-0B1D-4F44-850D-F1043DBE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Remote backends, state locking, CI delivery and safe troubleshooting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38D32-1CBC-4134-9B0E-C5E52386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68530-0C3E-4262-8E1C-5BB6DAE9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Day 11 | Week 3: Azure DevOps, Containerization &amp; Terraform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1EF13-5848-414F-B3FA-53792A41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Trainer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4DA3E-49A3-4CFA-9F62-4B20770F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A03A6-8332-4F59-8F50-43760126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71262-5C51-4D6F-A497-3A51C4D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7712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009A1-1D68-480D-8FEA-0ECF81C2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2997C-599A-4037-B48D-40C48D54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Today’s outcome: manage infrastructure as a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DC63A-9060-4086-9AE7-48CC0DD0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Move from a local Terraform workflow to a safe shared operating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1F52A-15A5-432E-83EE-C0751BFA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C09DC-8978-414F-AC4B-555B324A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Explain the purpose and risks of Terraform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A6B10-D156-490E-8241-1D1EFA55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80B75-A5A5-4C57-B932-E2BA29EA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Configure Azure Blob Storage as the remote backend.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74FD7-CBC9-437F-8CEE-8233A61E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E09FF-BE13-428B-84AA-68C7253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Use remote outputs, versioned modules and state locking.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B404D-CA58-424E-839B-29DE9E43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4641B-6489-4D21-AA3B-2EA8EE28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Build a CI flow that plans, reviews and applies safely.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736E3-0C17-4BAC-AD53-D7068AF7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50759-485D-436B-85C7-8D76CAF9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B0254-2315-43B0-922C-7E92A67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9126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EA528-345D-4643-8190-BF8B466A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D2FEF-C189-4B73-99A9-EC02C8C3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The question Day 11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76931-FF74-46FB-A14A-39107A0F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Day 10 created infrastructure. Day 11 makes changes safe, repeatable and team-ready.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7C800-08C0-45E1-92A6-E6505D64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A"/>
                </a:solidFill>
              </a:defRPr>
            </a:pPr>
            <a:r>
              <a:rPr sz="2325" b="1">
                <a:solidFill>
                  <a:srgbClr val="0B1F3A"/>
                </a:solidFill>
              </a:rPr>
              <a:t>“Terraform code declares what we want. State records what Terraform manages.”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426D4-3214-4F7F-97B1-7537A8A4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D334F-D98F-40C3-A80F-2C57C6E7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243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Without state, Terraform cannot reliably map your configuration to the real Azure resources.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D155D-F5B7-41A3-BB05-8E23246C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CB029-EC2F-48C8-819F-09B4BF7F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A6D01-26BE-455B-8ABD-FADA6336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1039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EC370-066E-4A27-A91E-0F14BD34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51C9E-E625-409D-B6E3-E3498F65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Configuration, Azure and state have different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38FB7-D595-4731-8466-CC1E6341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Keep the distinction clear before discussing remote backends.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A814C-5D28-46CE-AE86-49C72C03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3048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E6F48-A692-4102-805D-0B530DCB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.tf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30BAD-1DA9-4B6A-87C0-B7B950BC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956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Desired infrastructure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09539-3C9E-4056-A5E8-4E9879E6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33625"/>
            <a:ext cx="3048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1C1E6-F677-4D19-AC49-8C8159FF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Azure resources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EABB-BE66-45A7-AB47-7EBF7C6A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956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Actual running infrastructure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D29EE-573B-4E71-9D07-5E1F69D1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3048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18C2D-F2F3-4A17-B9DC-EA75A2D9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717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.tfstate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1E207-0FD7-474B-939B-090A60D6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956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Terraform’s management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B6C8E-A994-407D-A727-37E7E1AC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006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Terraform compares configuration + state + provider refresh to create a plan.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672C2-6FF9-43BD-A9F5-4DFBEC57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334B9-D747-40B1-8726-8DFB41DA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F632B-2670-46C5-96FA-C2B31625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02746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1EF8E-248D-4B6A-8F77-1BE41BE2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AC53C-7070-452A-8902-B20FFC1F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Why local state breaks down for teams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13084-2A4C-4D3A-93F2-1FCD26DF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A laptop file cannot safely coordinate a shared platform.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5D222-B104-4001-AC04-730D7B1A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5A213-F923-4760-B384-9353840A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It is not shared: different engineers can make decisions from different copies.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A6EA0-253B-4A9C-A778-DB2EFFD0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CD5FB-6B5C-4F90-810B-BBC357FA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66975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It can be lost, overwritten or accidentally committed to Git.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A102E-28F8-4EE4-8C26-47B12566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5EB5A-A259-40C2-9F88-01FC0552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81325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It cannot coordinate simultaneous state-changing operations.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16737-5C00-4B6F-A809-7C0EF496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186EA-95D5-4070-9D6E-AC83AEDA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95675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It is difficult to protect, audit and back up consistently.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95F5F-9629-469C-A075-18BEED28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81368-D00C-4E5F-9CA1-3CD3F2CD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4213C-1FF2-405C-8F74-26B72265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3437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65571-F9F8-45EF-A45D-7783CD7C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28E4E-19CB-4449-8C0D-CE007CF0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Remote backend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C9C5F-FEFA-4099-8B05-373A1DCB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The backend is separate from the infrastructure it manages.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A6E57-3D80-4D3A-BF3E-A7AAEA61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E9995-83DB-4AD7-9198-219BAEF1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Terraform</a:t>
            </a:r>
          </a:p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Cloud Shell / 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B7EB2-B321-4F14-849D-B64C4FAE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9525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CE44A-C377-4603-AB81-988D1783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47875"/>
            <a:ext cx="2714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6DF93-C571-4B16-B496-1653B7CB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Azure Storage</a:t>
            </a:r>
          </a:p>
          <a:p xmlns:a="http://schemas.openxmlformats.org/drawingml/2006/main">
            <a:pPr algn="ctr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private tfstate container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382CE-C87B-43E7-A4E5-C857868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9525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DC4F8-1DFE-4E78-8442-0BF04E00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07C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5582B-E647-48D2-9F0B-2972FA64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166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7C10"/>
                </a:solidFill>
              </a:defRPr>
            </a:pPr>
            <a:r>
              <a:rPr sz="1725" b="1">
                <a:solidFill>
                  <a:srgbClr val="107C10"/>
                </a:solidFill>
              </a:rPr>
              <a:t>Azure resources</a:t>
            </a:r>
          </a:p>
          <a:p xmlns:a="http://schemas.openxmlformats.org/drawingml/2006/main">
            <a:pPr algn="ctr">
              <a:defRPr sz="1725" b="1">
                <a:solidFill>
                  <a:srgbClr val="107C10"/>
                </a:solidFill>
              </a:defRPr>
            </a:pPr>
            <a:r>
              <a:rPr sz="1725" b="1">
                <a:solidFill>
                  <a:srgbClr val="107C10"/>
                </a:solidFill>
              </a:rPr>
              <a:t>managed by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5986E-492A-4BBE-AF25-1124BF16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467"/>
                </a:solidFill>
              </a:defRPr>
            </a:pPr>
            <a:r>
              <a:rPr sz="1500" b="0">
                <a:solidFill>
                  <a:srgbClr val="475467"/>
                </a:solidFill>
              </a:rPr>
              <a:t>Blob lease protects concurrent state writes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8CDE8-8F2B-44F9-8BA5-ED2A7E7C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8FC79-06AA-49E2-BB2D-0022981A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DE21D-34DD-4576-B13B-9874C497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15147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666B0-666A-4EEF-A07C-62895FFC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1B7D5-5102-4965-99D4-8185EB35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Bootstrap comes before backend initialization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DD322-1FA8-4CCB-8949-50916FFF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Terraform cannot use a backend that does not exist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7A61F-96AD-4CB4-A69F-00637635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65C0"/>
                </a:solidFill>
              </a:defRPr>
            </a:pPr>
            <a:r>
              <a:rPr sz="2550" b="1">
                <a:solidFill>
                  <a:srgbClr val="1565C0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AA01D-6E9A-4301-B30F-2555FC35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9075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Create resource group, storage account and private container.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7BDCE-470A-4514-8965-5AF35CE7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65C0"/>
                </a:solidFill>
              </a:defRPr>
            </a:pPr>
            <a:r>
              <a:rPr sz="2550" b="1">
                <a:solidFill>
                  <a:srgbClr val="1565C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4DEB8-4521-4A03-A452-F4F07A9A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9562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Add backend configuration with names only - no access keys.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73009-0BD6-415E-BC58-EEDC5E2B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65C0"/>
                </a:solidFill>
              </a:defRPr>
            </a:pPr>
            <a:r>
              <a:rPr sz="2550" b="1">
                <a:solidFill>
                  <a:srgbClr val="1565C0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E9AE5-EAFE-4DE5-B3D7-DCA6FCDF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005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Run terraform init; migrate existing local state when prompted.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366DE-2406-4653-941A-0D194907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E376E-D365-4B6B-A428-C3D4AB36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97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2D12"/>
                </a:solidFill>
              </a:defRPr>
            </a:pPr>
            <a:r>
              <a:rPr sz="1500" b="1">
                <a:solidFill>
                  <a:srgbClr val="7C2D12"/>
                </a:solidFill>
              </a:rPr>
              <a:t>Important: backend.tf tells Terraform where state lives. It does not create the Storage Account or container.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FD7DC-6354-444C-BA51-5412FA04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9010F-5EA9-4120-B111-C586BCD4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C9829-F5D1-4B19-88D0-6936B1EE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8012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D2BB2-1492-4488-9046-A95AD0F3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68608-3A6A-44F3-9E28-946ED581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Backend configuration contains location, not secrets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EA9A3-DFA0-44BB-9851-7C1E18F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Azure AD authentication locally and OIDC in CI.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62BF6-A571-467F-B0FD-5EA9888E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5334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F22F1-C467-4D20-A37B-46CFC91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38350"/>
            <a:ext cx="49911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terraform {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backend "azurerm" {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resource_group_name  = "rg-tfstate-s01"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storage_account_name = "sttfstates01abc123"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container_name       = "tfstate"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key                  = "env/dev/infra.tfstate"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use_azuread_auth     = true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}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3E571-74F5-430D-B244-8C7FD894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4C287-D87F-493E-AB16-990E7BAD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3362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No storage account key in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79EAF-5C01-40F1-B39A-865639E0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944B3-691A-45F1-AD08-7486C4F9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479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One key per environment/component.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850A0-1CC0-4E57-8814-845DB39B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2B22D-A09C-495D-BD6E-F1903C7F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6232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Keep the container private.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42B5F-FF1C-47E5-AEBE-F7C8BAC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1B8A0-EB1A-4E3E-A12E-9A9178E7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76675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Use RBAC and least privilege.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2156B-C096-4BDE-8202-B42C95AB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0E665-3CDA-46BD-8D07-A6B7B71F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1778A-A32F-4DC9-8C8F-8F302D16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6703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E60B53-4768-4794-81FD-7692B7FD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2DCE8-C6A3-4D20-A6CA-B792FBA1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Lab flow: bootstrap, initialize, apply and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E5EC6-DF7F-4A2A-865C-C43E5FC8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Students will complete one safe remote-state lifecycle.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C4F23-C93F-4ECE-BB2E-B45A1363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A6C01-BB74-4C16-AF5C-9009846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5C0"/>
                </a:solidFill>
              </a:defRPr>
            </a:pPr>
            <a:r>
              <a:rPr sz="1275" b="1">
                <a:solidFill>
                  <a:srgbClr val="1565C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E993B-0901-4D9D-A7D2-BD22308A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Bootstrap storage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FAB8B-3521-4FEC-8A35-F0685926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7EA1D-2EAE-43E2-9038-94BFDFA4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76726-0D62-458F-9B45-9FE7CDA4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5C0"/>
                </a:solidFill>
              </a:defRPr>
            </a:pPr>
            <a:r>
              <a:rPr sz="1275" b="1">
                <a:solidFill>
                  <a:srgbClr val="1565C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C2877-3DFA-415F-8085-86C10D3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Write backend.tf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DFC38-1EBC-41CA-BB80-D7871279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81350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165DA-D4C5-4E83-BA99-20E4EEE2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04747-8301-499C-9889-D0DC4FDE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5C0"/>
                </a:solidFill>
              </a:defRPr>
            </a:pPr>
            <a:r>
              <a:rPr sz="1275" b="1">
                <a:solidFill>
                  <a:srgbClr val="1565C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0A21A-70E0-49B8-83AD-44DEEDEB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290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terraform init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6B572-0064-4F11-A04A-DAF5C0B7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626C2-2B28-4F1F-AA31-5048C8A0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5275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0CB1D-44AD-4AA8-9073-7C415203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051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5C0"/>
                </a:solidFill>
              </a:defRPr>
            </a:pPr>
            <a:r>
              <a:rPr sz="1275" b="1">
                <a:solidFill>
                  <a:srgbClr val="1565C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23124-347E-4D36-A927-F9344E81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plan + apply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1E085-7F3A-4AFF-961D-14F7211A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050BF-A4A8-4F32-8686-77E88416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41773-E425-4886-9B51-B9AB3631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051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5C0"/>
                </a:solidFill>
              </a:defRPr>
            </a:pPr>
            <a:r>
              <a:rPr sz="1275" b="1">
                <a:solidFill>
                  <a:srgbClr val="1565C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71BC9-E8F2-48B2-BDA8-0ED6BCD1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Verify remote blob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D00788-9636-4729-8634-3B3B177F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0125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Run terraform fmt and terraform validate before planning.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01963-4489-415C-9A87-8AEAD1F9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AF0FC-61C5-4B18-808F-17F54C39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00130-530E-4709-BF31-5B64566D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6251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949DD-0164-4442-8A80-B5270E47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6A362-D17F-44C8-ACA4-872139FA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State migration changes the record, not the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C03CA-FDA5-4AD4-BD8B-F55BE159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Terraform retains the same managed Azure objects while moving the state 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BA3D0-3627-420B-BBF9-DA15143A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33625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7C494-56F6-406C-8C20-28C256F6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193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Before</a:t>
            </a:r>
          </a:p>
          <a:p xmlns:a="http://schemas.openxmlformats.org/drawingml/2006/main">
            <a:pPr algn="ctr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local terraform.tfstate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4E3D9-8C49-4FE5-870F-9AC1F1FB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14625"/>
            <a:ext cx="2381250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4A54C-F5D8-4D20-8641-0D1516DF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E6D4C-490E-4FF8-A88D-FD67F9C1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65C0"/>
                </a:solidFill>
              </a:defRPr>
            </a:pPr>
            <a:r>
              <a:rPr sz="1875" b="1">
                <a:solidFill>
                  <a:srgbClr val="1565C0"/>
                </a:solidFill>
              </a:rPr>
              <a:t>After</a:t>
            </a:r>
          </a:p>
          <a:p xmlns:a="http://schemas.openxmlformats.org/drawingml/2006/main">
            <a:pPr algn="ctr">
              <a:defRPr sz="1875" b="1">
                <a:solidFill>
                  <a:srgbClr val="1565C0"/>
                </a:solidFill>
              </a:defRPr>
            </a:pPr>
            <a:r>
              <a:rPr sz="1875" b="1">
                <a:solidFill>
                  <a:srgbClr val="1565C0"/>
                </a:solidFill>
              </a:rPr>
              <a:t>Azure Blob remote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44239-5B47-4202-8385-0B1A0628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29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At the init prompt, copy state only after checking the backend names.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EDC93-1826-4C62-9329-7F6BEB65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8A55C-9E60-42C8-ACC7-AF46470B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1018E-32C1-4F21-BF37-DFEAE9D5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27881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9AA4C-0BC4-4941-B382-24D66BC7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D7AA4-F40A-4028-869F-CC8ADF91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Read the plan before you apply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4B514-A8C3-42E6-947A-DABA0F77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The plan is a proposed change - not an automatic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E3077-482B-4470-9CAB-CFE82EB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A1E57-973F-458D-B4CD-801BA9CF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76475"/>
            <a:ext cx="46101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Plan: 1 to add, 1 to change, 0 to destroy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~ tags = {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+ "state" = "remote"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145F9-351A-4785-AFFA-5DFC5608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3905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07C1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6ED50-55C7-4251-BBC3-01F7458C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7C10"/>
                </a:solidFill>
              </a:defRPr>
            </a:pPr>
            <a:r>
              <a:rPr sz="1800" b="1">
                <a:solidFill>
                  <a:srgbClr val="107C10"/>
                </a:solidFill>
              </a:rPr>
              <a:t>Safe review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8D92B-D334-4883-B123-07F20BAD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C0BA9-83B1-4193-AA7A-4D392F0A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19425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Is this subscription correct?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631C1-51C4-4146-B349-C82A5EBA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BA9CB-7BB5-4047-914E-37A67592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33775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Are the changes expected?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1E6C0-CF57-40FB-99EB-ECD06EF8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9727D-86CF-4A0A-A7E8-FB054210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48125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Is a destroy/replacement intended?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25F01-2C80-4BD6-9D23-16CA893D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47728-FF7D-42BF-A615-CFE79111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C7222-BE21-45AA-AE59-EF3B5D6A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356531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26D08-8960-45D2-9E80-A82BC1C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70132-79A3-49B7-AC20-2528E2F6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AzureRM locking protects state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BB190-9DFF-4328-B8ED-B6B45D9B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Lock errors are a coordination signal, not a reason to force-unlock.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EE0E9-3CC5-4AD5-9B77-0F362509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2619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4372D-72DF-4B51-B081-4E60C7AF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289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65C0"/>
                </a:solidFill>
              </a:defRPr>
            </a:pPr>
            <a:r>
              <a:rPr sz="1725" b="1">
                <a:solidFill>
                  <a:srgbClr val="1565C0"/>
                </a:solidFill>
              </a:rPr>
              <a:t>Engineer A</a:t>
            </a:r>
          </a:p>
          <a:p xmlns:a="http://schemas.openxmlformats.org/drawingml/2006/main">
            <a:pPr algn="ctr">
              <a:defRPr sz="1725" b="1">
                <a:solidFill>
                  <a:srgbClr val="1565C0"/>
                </a:solidFill>
              </a:defRPr>
            </a:pPr>
            <a:r>
              <a:rPr sz="1725" b="1">
                <a:solidFill>
                  <a:srgbClr val="1565C0"/>
                </a:solidFill>
              </a:rPr>
              <a:t>terraform apply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167BE-0ADE-4654-A436-DD6C3796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95575"/>
            <a:ext cx="11430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16CFF-4605-431D-B73F-456DA572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3837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82037-1A57-4263-9F95-52D0170C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Blob lease</a:t>
            </a:r>
          </a:p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state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87CDF-B07C-499A-8957-E2BA3F12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95575"/>
            <a:ext cx="11430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06AFE-DADA-4643-A21F-D776C237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666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8600E-A00C-47D0-A357-A374056A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119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Engineer B</a:t>
            </a:r>
          </a:p>
          <a:p xmlns:a="http://schemas.openxmlformats.org/drawingml/2006/main">
            <a:pPr algn="ctr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wait / coordinate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AE004-431A-45C9-BBFA-D65A7217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Force-unlock only after proving no Terraform process is active.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CB8F6-EA94-4BEC-B61A-0971526E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8BA7A-9D3B-4858-87D6-51DE76C4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C0A2A-8A2B-41BC-B3BF-BA2623BE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41749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52DE5-D027-4C6C-9FF8-0EED0466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D0FF4-CF75-4B1B-88FD-CA52D05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Remote state outputs connect configurations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516E9-ED6C-43E3-AAB5-797FD4EE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only within a trusted boundary and expose the minimum data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B314B-186A-49C4-B0A9-68C3D7C8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5143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55FDB-4411-4780-A765-359D823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90725"/>
            <a:ext cx="48006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data "terraform_remote_state" "network" {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backend = "azurerm"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config = { key = "env/dev/network.tfstate" }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output "vnet_id" {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value = data.terraform_remote_state.network.outputs.vnet_id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30A94-C07C-480B-95DE-46B93EA8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71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B4741-7862-43D1-9721-D11DA9F5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8600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Reader access can expose the full state snapshot.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66FE7-898C-4605-9156-2510E04C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86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A49E8-E317-4B1F-88A5-5E92D70D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0035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Prefer dedicated interfaces for cross-team sharing.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52CF3-A5B4-4097-9125-387307E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7347A-0645-4E41-98D9-D329F236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1470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Never use remote state as a substitute for access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94F0D-5B71-4BB4-9F7D-2774FEE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8EE19-1D12-44C6-BBD8-198B6278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3595D-415D-40AF-8DB6-2240B855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69489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7CFF7-D605-4048-8140-76B4919E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5F24E-1492-43FE-9CE3-2348897A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Modules standardize repeatable infrastructure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56FA3-04B8-4AB5-9907-2A99F23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A module is reusable infrastructure code with a tested, versioned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1777D-0B93-460D-A81A-A372D202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667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D8BA6-A39B-4F4F-8B49-FD0ABC4E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336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65C0"/>
                </a:solidFill>
              </a:defRPr>
            </a:pPr>
            <a:r>
              <a:rPr sz="1725" b="1">
                <a:solidFill>
                  <a:srgbClr val="1565C0"/>
                </a:solidFill>
              </a:rPr>
              <a:t>Root configuration</a:t>
            </a:r>
          </a:p>
          <a:p xmlns:a="http://schemas.openxmlformats.org/drawingml/2006/main">
            <a:pPr algn="ctr">
              <a:defRPr sz="1725" b="1">
                <a:solidFill>
                  <a:srgbClr val="1565C0"/>
                </a:solidFill>
              </a:defRPr>
            </a:pPr>
            <a:r>
              <a:rPr sz="1725" b="1">
                <a:solidFill>
                  <a:srgbClr val="1565C0"/>
                </a:solidFill>
              </a:rPr>
              <a:t>app environment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33BB9-7211-4FE6-A403-26D18828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10477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E7BBA-9627-4C1C-A439-E5956511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667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663E4-98F5-4CE7-B655-AEB1F497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336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Versioned module</a:t>
            </a:r>
          </a:p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network v1.4.2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F8DBF-DB02-42D4-BB98-B084FF31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9875"/>
            <a:ext cx="10477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C72BD-C5EC-491A-9231-8CACEE58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428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07C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DF47F-F9A8-427A-817D-146E9862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336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7C10"/>
                </a:solidFill>
              </a:defRPr>
            </a:pPr>
            <a:r>
              <a:rPr sz="1725" b="1">
                <a:solidFill>
                  <a:srgbClr val="107C10"/>
                </a:solidFill>
              </a:rPr>
              <a:t>Azure</a:t>
            </a:r>
          </a:p>
          <a:p xmlns:a="http://schemas.openxmlformats.org/drawingml/2006/main">
            <a:pPr algn="ctr">
              <a:defRPr sz="1725" b="1">
                <a:solidFill>
                  <a:srgbClr val="107C10"/>
                </a:solidFill>
              </a:defRPr>
            </a:pPr>
            <a:r>
              <a:rPr sz="1725" b="1">
                <a:solidFill>
                  <a:srgbClr val="107C10"/>
                </a:solidFill>
              </a:rPr>
              <a:t>VNet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8B1BC-F9E6-4C6D-9D39-28618762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75467"/>
                </a:solidFill>
              </a:defRPr>
            </a:pPr>
            <a:r>
              <a:rPr sz="1575" b="0">
                <a:solidFill>
                  <a:srgbClr val="475467"/>
                </a:solidFill>
              </a:rPr>
              <a:t>Pin module and provider versions. Review and test module updates through pull requests.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41FFA-5434-4830-B07D-EFBF1027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D4CB9-F011-4842-8725-47577C8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470A7-3D4C-407F-8227-B34A88FD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996818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B6280-83CF-4783-A952-C8D71315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98D48-8939-448C-9D7A-E5ADFCC2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CI/CD: plan, review, then apply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CAF12-4A38-4617-B32F-D1B22CFC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The pipeline should provide evidence and controls - not just automation.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4AB15-BDD0-45AB-8282-7DAE757A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8D467-E840-4759-A735-5C787702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48000"/>
            <a:ext cx="127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fmt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FE623-73E4-4223-BB7F-A85E52A2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1051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4E4B5-EB59-46A9-BADB-3BDF9698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987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B5565-F900-4A89-848C-ABE71730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127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init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OIDC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B2850-5C58-4BF1-9FA7-F122CA61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6EC60-8DC2-46C5-BAF2-CCFC3577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987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10A4F-91F8-4176-BA67-945498C3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8000"/>
            <a:ext cx="127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plan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134A5-B693-451B-A04A-872DC8A0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3D86A-CD09-4913-8FD3-A3915584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13874-AF0C-4022-B293-94C1D77D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27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approval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685C8-BFA8-4105-A780-2F12FE88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3ABB1-B1FE-4482-B611-F628BD75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987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07C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A5B7E-A1C7-4C63-AF23-E406D512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127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7C10"/>
                </a:solidFill>
              </a:defRPr>
            </a:pPr>
            <a:r>
              <a:rPr sz="1575" b="1">
                <a:solidFill>
                  <a:srgbClr val="107C10"/>
                </a:solidFill>
              </a:rPr>
              <a:t>apply</a:t>
            </a:r>
          </a:p>
          <a:p xmlns:a="http://schemas.openxmlformats.org/drawingml/2006/main">
            <a:pPr algn="ctr">
              <a:defRPr sz="1575" b="1">
                <a:solidFill>
                  <a:srgbClr val="107C10"/>
                </a:solidFill>
              </a:defRPr>
            </a:pPr>
            <a:r>
              <a:rPr sz="1575" b="1">
                <a:solidFill>
                  <a:srgbClr val="107C10"/>
                </a:solidFill>
              </a:rPr>
              <a:t>protected env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42D85-43E0-4440-B902-E3EF2569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Do not run apply on pull requests. Apply only from a protected branch/environment.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CB5F4B-552C-4F12-9C86-5548CF10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06070-940B-4266-B4E0-B1CDF4AE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0DA28-39DA-4A6D-8C42-B3DB0169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42516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D3B86-4F63-4861-8F68-7CFACEAD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DD315-7FE1-49AC-A9F7-430C4C17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OIDC removes the need for long-lived cloud secrets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A505F-AF96-48FE-80FC-06D30C9B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GitHub Actions exchanges a short-lived identity token for Azure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C74CF-E18E-4C07-B282-2206A752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7DEFE-D4E8-44EF-83CE-C51FC1DE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051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65C0"/>
                </a:solidFill>
              </a:defRPr>
            </a:pPr>
            <a:r>
              <a:rPr sz="1725" b="1">
                <a:solidFill>
                  <a:srgbClr val="1565C0"/>
                </a:solidFill>
              </a:rPr>
              <a:t>GitHub Actions</a:t>
            </a:r>
          </a:p>
          <a:p xmlns:a="http://schemas.openxmlformats.org/drawingml/2006/main">
            <a:pPr algn="ctr">
              <a:defRPr sz="1725" b="1">
                <a:solidFill>
                  <a:srgbClr val="1565C0"/>
                </a:solidFill>
              </a:defRPr>
            </a:pPr>
            <a:r>
              <a:rPr sz="1725" b="1">
                <a:solidFill>
                  <a:srgbClr val="1565C0"/>
                </a:solidFill>
              </a:rPr>
              <a:t>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EFB5F-5BD2-412A-8963-20027A3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33675"/>
            <a:ext cx="13335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75853-FC13-473D-A0C3-F8BECE03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812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C0782-02E7-4C29-B3E4-3CDEBDD4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OIDC federation</a:t>
            </a:r>
          </a:p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Azure Entra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9EEBC-ACF8-4ECC-AFA9-F36B0065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33675"/>
            <a:ext cx="13335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806F2-F219-40C4-B75C-BB694B2D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07C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D50A2-90D1-440F-8AD0-978ED5F7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051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7C10"/>
                </a:solidFill>
              </a:defRPr>
            </a:pPr>
            <a:r>
              <a:rPr sz="1650" b="1">
                <a:solidFill>
                  <a:srgbClr val="107C10"/>
                </a:solidFill>
              </a:rPr>
              <a:t>Scoped</a:t>
            </a:r>
          </a:p>
          <a:p xmlns:a="http://schemas.openxmlformats.org/drawingml/2006/main">
            <a:pPr algn="ctr">
              <a:defRPr sz="1650" b="1">
                <a:solidFill>
                  <a:srgbClr val="107C10"/>
                </a:solidFill>
              </a:defRPr>
            </a:pPr>
            <a:r>
              <a:rPr sz="1650" b="1">
                <a:solidFill>
                  <a:srgbClr val="107C10"/>
                </a:solidFill>
              </a:rPr>
              <a:t>Azure 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3C608-DFAB-4134-BCC0-4832A30E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least privilege for backend data access and workload resource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18490-1AAB-478A-AF8A-C0CF6459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E7C71-2ADF-404A-A6E1-8F858DCD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F387B-0954-4653-9307-E9636D4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81181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744FA-6F79-4C19-B0C9-FD6C8A8E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A142F-0742-4D71-A045-238C0D0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Test Terraform before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60930-24DB-44DB-A45F-60CA2BE2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Combine quick checks with policy and module behaviour tests.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FA476-3E59-4BA8-940F-9C34BF0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85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5457D-FD0C-47BB-8CCF-142E5895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terraform fmt -check: consistent formatting.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FED06-7215-4905-A106-01B00670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F1F96-39A3-42AA-BAB1-47C08FCC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terraform validate: configuration structure and provider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34984-AA2C-493B-885F-F66B7287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F37F0-6ABA-4619-829D-D69CC840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terraform test: module behaviour where test files exist.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07F17-312C-4D09-AB1A-C728625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84E4F-51F0-4416-85DB-BF6C96B8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43300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Approved lint/security/policy checks: catch organization-specific risks.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75CAC-A961-47C8-A870-590BA9F9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9616D-2892-4B63-B2D7-6EBF0E71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Review the human-readable plan summary before apply.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EC2E2-DE27-4867-8ECF-DFED4E0B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27B43-ABEE-4AD5-BACD-11C67429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EDF86-142D-4784-94FF-42223D12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47946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747A0-4995-4430-9530-D2AC07D3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1A54D-BC6A-4499-B1FF-E59FBAC7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Debug in layers, then remove diagnostics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9E49E-F6BF-46E1-B84E-4B76AE05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Start small and avoid committing logs or plans.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AA3CA-91EB-46DD-8612-EA467D43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0A3E5-C9D3-41B3-8872-F1CF9772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62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865C0-CF3C-4F8C-9AED-C4AE2768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621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terraform fmt / validate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35B29-A81E-4709-BFAE-1F4EECA2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621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Syntax and local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39EA1-00A2-4172-A784-4BBFA0D0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8D518-4F46-4F90-B1C8-B0C5474F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5C0"/>
                </a:solidFill>
              </a:defRPr>
            </a:pPr>
            <a:r>
              <a:rPr sz="1275" b="1">
                <a:solidFill>
                  <a:srgbClr val="1565C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08ED0-81F9-45B9-BBC9-94BC1190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28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terraform init -reconfigure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3B6C7-494B-46CC-A577-36BC8904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289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Backend settings 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E2C55-1880-4A02-896C-B284B8F8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2F3E0-BB15-4159-BE0E-AF3706B5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5C0"/>
                </a:solidFill>
              </a:defRPr>
            </a:pPr>
            <a:r>
              <a:rPr sz="1275" b="1">
                <a:solidFill>
                  <a:srgbClr val="1565C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25AAD-B1FF-41F4-A245-A23A7FC9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95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terraform plan -refresh-only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7A57C-C73A-4079-B751-A7755D49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Drift versus current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2757B-4193-4E9C-8821-0D219163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56C55-DCEA-4119-AA78-3B8638FB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65C0"/>
                </a:solidFill>
              </a:defRPr>
            </a:pPr>
            <a:r>
              <a:rPr sz="1275" b="1">
                <a:solidFill>
                  <a:srgbClr val="1565C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16AC7-2A46-4B88-91F5-20A6E4DF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62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TF_LOG=INFO + TF_LOG_PATH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ADD07-6090-449D-A2C1-5DB823E3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623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Targeted diagnostic 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C5580-0FD7-4527-A983-04E3B854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226F5-32F2-4B94-9C3D-6F592055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788B3-32CD-42F0-BC3A-8A52D22C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083965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5A9D6-2E5C-420A-9A88-4BFE0D66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F4D7F-A806-457D-AF6C-FD75F05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Troubleshoot without making things worse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DB650-A2A0-4F9F-86EC-3D34EF13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Stop when a plan is surprising; use evidence before corrective commands.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0DF93-DDEB-4FCA-92D8-F9600FB2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38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6AE06-7A9B-4C48-9211-74362C88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State lock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229AF-085A-4522-A483-1484D273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676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Coordinate; confirm no active run; force-unlock is last resort.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86056-A728-40DF-8E62-41ACA07E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43200"/>
            <a:ext cx="1038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B632B-CA28-4F41-AD85-BA6A67CB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AuthorizationFailed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9399C-1798-4C2A-BF5F-E2D66180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676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Check identity, subscription and minimum required role.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14D20-3EF2-4397-BAF7-BA8F4F87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33775"/>
            <a:ext cx="1038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A8645-3155-4F8B-B0FA-40EFE69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Name unavailable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6A812-0918-4AB0-8B10-BACD29EE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24275"/>
            <a:ext cx="676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Change the generated suffix, re-plan.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536CE-7AEF-4A5B-9289-A1BE25D4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1038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F36D5-6BDA-4DF8-A03D-518D2490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Unexpected destroy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A000A-4CCC-44C8-8AA3-4E5A412C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676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Check workspace, tfvars, provider account and resource address.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DFAF9-35AF-486C-B6DA-5605890B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73DB9-CB02-42B1-85C8-C378965E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E5591-E964-40DC-8CD0-A7E01918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642205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CBED0-CC2B-4809-8B1A-5F63D767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A53B9-A86E-498B-8E42-7D2E9CE7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Terraform best practices are operational habits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CFD91-DFC1-48F6-9606-B4CFB1A5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Code quality, security and delivery discipline reinforce each 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E5650-0EB4-474A-8AE3-7F5509A8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95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65577-91C5-4A81-8B4F-F37B298A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Separate state by environment and component.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F03FC-A634-4F9E-BFCC-A54B7970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D6A4A-2517-4C31-8AE5-6A178D15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241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clear names, tags and ownership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4FAA8-DBD3-4888-AB54-53B73C3F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07F8D-0671-4D30-927B-6BC7BD4D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Pin versions; upgrade intentionally through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DD99F-EB9F-4993-915A-670F0913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B11C9-3C65-41DD-9EAC-6637803B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Keep secrets out of code, plans, state outputs and logs.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53D32-7530-4394-8292-A888FC85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8282D-802A-4465-8B5E-659AD8CC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least privilege and protected CI environments.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3B97E-7B26-4A61-AF23-E9A258EE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72B30-9D77-437A-844E-349C57B8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Detect drift deliberately; do not silently overwrite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11E94-1F9A-4D61-93E0-F4AF96E0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103F6-0A08-4817-99ED-0E11497B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FBFC3-3282-4C37-BB49-BB2D1226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109867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F170C-BEAA-42E6-9440-498ED5A3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A4BE6-A9A8-47E9-8E14-AAB13B0B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Day 11 lab evidence to collect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7AA40-7208-4E52-9EBA-82CA2F84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Each student should be able to demonstrate the remote backend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796D9-59E7-41AA-9600-8B9676EC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196AC-2BDF-44BF-BEDD-187FE1F1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955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terraform init, plan and apply completed successfully.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54BC6-C727-4176-A2A5-0C9EFFE7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1F8DF-C170-46FB-97CA-E787E82D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098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Private tfstate container contains the expected blob key.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6E952-948A-4FC5-A5D2-1BE2A147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9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C47CF-3F52-4728-8655-681A7A25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242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terraform output shows expected managed-resource outputs.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5DA72-FFCD-4742-A832-49F78479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24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545B6-AAAC-4293-8296-9FCCEF88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85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Second configuration reads a producer output safely.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64886-2600-4F85-849C-0B57590F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F6F78-4E7A-48FC-B487-7272D6DC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1529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Student can explain why .tfstate and secrets do not belong in Git.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749A1-78F3-4B96-A092-B4FDB55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2CD03-7E47-4ED0-99D4-CCA71A0E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CB7BC-D7DB-499B-9402-ED69F469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908158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5863D-F0FD-46BD-9D17-A328CE33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7504F-682E-4E15-AB94-615FCC62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Exit check: can you explain these five answers?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101B0-5462-42C7-8EAC-2B9AF6CD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these questions to confirm the concept, not just the commands.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2296F-926B-4626-BD4A-24D7D32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65C0"/>
                </a:solidFill>
              </a:defRPr>
            </a:pPr>
            <a:r>
              <a:rPr sz="1575" b="1">
                <a:solidFill>
                  <a:srgbClr val="1565C0"/>
                </a:solidFill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C2895-E5F1-418A-BA95-81914715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Why does Terraform need state?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BC8D7-1303-4E7F-843F-4098C983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65C0"/>
                </a:solidFill>
              </a:defRPr>
            </a:pPr>
            <a:r>
              <a:rPr sz="1575" b="1">
                <a:solidFill>
                  <a:srgbClr val="1565C0"/>
                </a:solidFill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67B42-CEB8-4168-B3BA-0BBB14FC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Does backend.tf create the Storage Account?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EB986-691F-4FA2-920F-36FEDBF7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65C0"/>
                </a:solidFill>
              </a:defRPr>
            </a:pPr>
            <a:r>
              <a:rPr sz="1575" b="1">
                <a:solidFill>
                  <a:srgbClr val="1565C0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30E77-CBFF-43B8-B852-AB3269FD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What provides AzureRM state locking?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02FAC-C0EB-4A40-A35D-5101F5F4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65C0"/>
                </a:solidFill>
              </a:defRPr>
            </a:pPr>
            <a:r>
              <a:rPr sz="1575" b="1">
                <a:solidFill>
                  <a:srgbClr val="1565C0"/>
                </a:solidFill>
              </a:rPr>
              <a:t>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98E99-CC80-48C7-9EF5-1AD7DDDD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Why use OIDC in CI?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42C0A-CEA0-4EE9-B2B4-8EBFB80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65C0"/>
                </a:solidFill>
              </a:defRPr>
            </a:pPr>
            <a:r>
              <a:rPr sz="1575" b="1">
                <a:solidFill>
                  <a:srgbClr val="1565C0"/>
                </a:solidFill>
              </a:rPr>
              <a:t>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B4206-96FB-4039-B920-ABE7CE3A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When is force-unlock acceptable?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05644-0083-418A-A1F6-E990CE8F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F7449-43B1-4356-945F-8701FBF1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07DFC-4C58-4666-9F50-298FA87A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759834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B4DDB-E7FD-4401-9096-BB790E8A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DAY 11  /  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EFC87-83C3-4A12-BE61-3F51C904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Close: safe state enables safe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04322-8C59-477F-81D6-B5EEEBE1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The remote backend is the foundation for reliable Terraform teamwork and CI/CD.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C6023-EAE3-4FB0-9721-6DE6AD49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0447F-441D-4894-A0E7-9EC60D86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A"/>
                </a:solidFill>
              </a:defRPr>
            </a:pPr>
            <a:r>
              <a:rPr sz="2325" b="1">
                <a:solidFill>
                  <a:srgbClr val="0B1F3A"/>
                </a:solidFill>
              </a:rPr>
              <a:t>Next: apply the same discipline to security, CI controls and production environments.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EDA3F-5D25-44BE-BB7F-78483863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Configuration + protected state + reviewed plan + scoped identity = reliable infrastructure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B235C-7A66-4AD0-ADB4-B31D818C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DD1BA-D522-4A79-ADF1-E5EA9872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Cloud Data &amp; GenAI  |  Terraform State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B5E12-8C0E-41CB-8CC4-CD0CE141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565C0"/>
                </a:solidFill>
              </a:defRPr>
            </a:pPr>
            <a:r>
              <a:rPr sz="900" b="1">
                <a:solidFill>
                  <a:srgbClr val="1565C0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31631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2026-09-08T09:03:55.6750000Z</dcterms:created>
  <dcterms:modified xsi:type="dcterms:W3CDTF">2026-09-08T09:03:55.6750000Z</dcterms:modified>
</coreProperties>
</file>