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Day 2 by explaining that networking is the backbone of every Azure workload. Today students learn how Azure resources communicate securely.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 w="12700">
            <a:solidFill>
              <a:srgbClr val="F2F7F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6A6"/>
                </a:solidFill>
              </a:rPr>
              <a:t>Cloud Data GenAI Training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</a:rPr>
              <a:t>Day 2: Virtual Networking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68096" y="2487168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66666"/>
                </a:solidFill>
              </a:rPr>
              <a:t>Virtual Networks • Subnets • IP Addressing • VMs • App Service Connectivity • PowerShell Labs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9808" y="3749040"/>
            <a:ext cx="7589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3840480"/>
            <a:ext cx="737006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Outcome: Build a secure network foundation for Azure workloads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2 Learning Outcomes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What learners should be able to do by the end of today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566928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</a:rPr>
              <a:t>Explain why Azure Virtual Networks are needed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Create VNets and subnets using portal and PowerShell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Understand private IP, public IP, NIC and NSG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Create and manage a Linux VM in a subnet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Use Custom Script Extension to automate VM configuration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Connect App Service outbound traffic to a VNet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Explain availability sets, fault domains and update domains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0" y="18288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24928" y="1920240"/>
            <a:ext cx="3346704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Practical exercise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VNet + VM + App Service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0" y="315468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FFF4E6"/>
          </a:solidFill>
          <a:ln w="12700">
            <a:solidFill>
              <a:srgbClr val="ED7D31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4928" y="3246120"/>
            <a:ext cx="334670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Safety rule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No Owner access for students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6A6"/>
                </a:solidFill>
              </a:rPr>
              <a:t>03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</a:rPr>
              <a:t>TOC Mapping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49808" y="26060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The uploaded schedule lists Day 2 as Virtual Networking with VNet, subnets, IP addressing, VMs, scaling, availability sets and custom script extension.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2 TOC Converted into Labs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Theory and hands-on flow aligned to the training schedule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234440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VNet purpose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08960" y="1143000"/>
            <a:ext cx="6583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18688" y="1234440"/>
            <a:ext cx="63642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Create a private network boundary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764792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EF5FB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856232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Subnets &amp; IPs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0" y="1764792"/>
            <a:ext cx="6583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856232"/>
            <a:ext cx="63642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Design web/app/vm/integration subnets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386584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478024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PowerShell Lab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08960" y="2386584"/>
            <a:ext cx="6583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18688" y="2478024"/>
            <a:ext cx="63642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Create VNet from Cloud Shell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008376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EF5FB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099816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VMs &amp; NICs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108960" y="3008376"/>
            <a:ext cx="6583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18688" y="3099816"/>
            <a:ext cx="63642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Deploy Linux VM, inspect NIC/IP/NSG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3630168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721608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Custom Script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108960" y="3630168"/>
            <a:ext cx="6583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18688" y="3721608"/>
            <a:ext cx="63642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Install NGINX automatically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425196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EF5FB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343400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App Service link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108960" y="4251960"/>
            <a:ext cx="6583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18688" y="4343400"/>
            <a:ext cx="63642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VNet Integration demo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4873752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4965192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HA concepts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108960" y="4873752"/>
            <a:ext cx="6583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18688" y="4965192"/>
            <a:ext cx="63642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Fault/update domains and availability sets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Networking Big Picture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VNet is the private boundary that protects and connects workloads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0" y="3154680"/>
            <a:ext cx="164592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543800" y="3154680"/>
            <a:ext cx="146304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31520" y="25146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D7D31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606040"/>
            <a:ext cx="170078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Internet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Users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26280" y="2240280"/>
            <a:ext cx="2926080" cy="1645920"/>
          </a:xfrm>
          <a:prstGeom prst="roundRect">
            <a:avLst>
              <a:gd name="adj" fmla="val 4444"/>
            </a:avLst>
          </a:prstGeom>
          <a:solidFill>
            <a:srgbClr val="EEF5FB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2331720"/>
            <a:ext cx="2706624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Azure VNet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10.20.0.0/16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0" y="251460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53728" y="2606040"/>
            <a:ext cx="197510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Azure Resources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VM • App • DB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4846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Security is controlled with routes, NSGs, private IPs and identity/RBAC.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6A6"/>
                </a:solidFill>
              </a:rPr>
              <a:t>06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</a:rPr>
              <a:t>VNet Fundamentals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49808" y="26060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Explain VNet using a private campus analogy: campus boundary, buildings, gates and internal roads.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VNet Analogy: Private Campus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Use this analogy for beginners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37360"/>
            <a:ext cx="179222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VNet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Private campus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108960" y="16459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18688" y="1737360"/>
            <a:ext cx="179222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Subnet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Building/zone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0" y="16459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4E6"/>
          </a:solidFill>
          <a:ln w="12700">
            <a:solidFill>
              <a:srgbClr val="ED7D31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96128" y="1737360"/>
            <a:ext cx="179222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NSG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Security gate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63840" y="16459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0AD47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73568" y="1737360"/>
            <a:ext cx="179222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Private IP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Room number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0" y="36576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000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3749040"/>
            <a:ext cx="234086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Public IP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Public address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516636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Key message: resources inside a VNet can communicate privately, while public exposure is controlled.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IP Plan for Student 01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Repeat the pattern or allocate separate ranges per student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28016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1F4E79"/>
          </a:solidFill>
          <a:ln w="12700">
            <a:solidFill>
              <a:srgbClr val="1F4E79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371600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VNet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28016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10128" y="1371600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10.20.0.0/16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1280160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BFBFBF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87568" y="1371600"/>
            <a:ext cx="45354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Complete private range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1938528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EF5FB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029968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subnet-web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1938528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2029968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10.20.1.0/24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77840" y="1938528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BFBFBF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7568" y="2029968"/>
            <a:ext cx="45354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Frontend workloads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2596896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EF5FB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2688336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subnet-app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2596896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2688336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10.20.2.0/24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77840" y="2596896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BFBFB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2688336"/>
            <a:ext cx="45354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Application tier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3255264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EF5FB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3346704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subnet-vm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0" y="3255264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3346704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10.20.3.0/24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577840" y="3255264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BFBFBF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87568" y="3346704"/>
            <a:ext cx="45354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Linux VM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22960" y="3913632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EF5FB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4005072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subnet-appsvc-integration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0" y="3913632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4005072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10.20.10.0/24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577840" y="3913632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BFBFBF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4005072"/>
            <a:ext cx="4535424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App Service outbound integration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6A6"/>
                </a:solidFill>
              </a:rPr>
              <a:t>09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</a:rPr>
              <a:t>Portal Lab: Create VNet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49808" y="26060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Students create a VNet and subnets in their assigned resource group.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1: Student Access Validation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Before networking, verify RBAC scope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576072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</a:rPr>
              <a:t>Open portal.azure.com in Incognito/InPrivate mode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Sign in as studentXX@InnovatorLearningTrainingso.onmicrosoft.com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Open Resource groups and verify rg-studentXX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Try to access another student RG; it should not be manageable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Checkpoint: student can create resources only in assigned RG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0" y="155448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24928" y="1645920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Authentication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Who are you?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0" y="274320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FFF4E6"/>
          </a:solidFill>
          <a:ln w="12700">
            <a:solidFill>
              <a:srgbClr val="ED7D31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4928" y="2834640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Authorization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What can you do?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2: Create VNet Using Azure Portal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Portal steps for students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5669280" cy="4663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111111"/>
                </a:solidFill>
              </a:rPr>
              <a:t>Search Virtual networks &gt; Create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Subscription: Azure subscription Cencora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Resource group: rg-studentXX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Name: vnet-studentXX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Region: Central India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Address space: 10.20.0.0/16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Add subnets: web, app and vm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Review + create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040880" y="146304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EEF5FB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50608" y="1554480"/>
            <a:ext cx="325526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Expected output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vnet-studentXX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040880" y="269748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50608" y="2788920"/>
            <a:ext cx="3255264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Subnets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subnet-web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subnet-app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subnet-vm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040880" y="457200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FFF4E6"/>
          </a:solidFill>
          <a:ln w="12700">
            <a:solidFill>
              <a:srgbClr val="ED7D31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50608" y="4663440"/>
            <a:ext cx="325526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Checkpoint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Open VNet &gt; Subnets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6A6"/>
                </a:solidFill>
              </a:rPr>
              <a:t>12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</a:rPr>
              <a:t>PowerShell Automation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49808" y="26060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Students repeat VNet creation using Azure Cloud Shell PowerShell to understand automation.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3: PowerShell - Create VNet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Use Cloud Shell in PowerShell mode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10972800" cy="448056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$rg = "rg-student01"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$location = "centralindia"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$vnetName = "vnet-student01"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subnet objects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$subnetWeb = New-AzVirtualNetworkSubnetConfig -Name "subnet-web" -AddressPrefix "10.20.1.0/24"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$subnetApp = New-AzVirtualNetworkSubnetConfig -Name "subnet-app" -AddressPrefix "10.20.2.0/24"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$subnetVm  = New-AzVirtualNetworkSubnetConfig -Name "subnet-vm"  -AddressPrefix "10.20.3.0/24"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the virtual network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New-AzVirtualNetwork -Name $vnetName -ResourceGroupName $rg -Location $location -AddressPrefix "10.20.0.0/16" -Subnet $subnetWeb,$subnetApp,$subnetVm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5806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Trainer tip: if the portal-created VNet already exists, use vnet-student01-ps or delete the test VNet.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6A6"/>
                </a:solidFill>
              </a:rPr>
              <a:t>14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</a:rPr>
              <a:t>NICs, IPs and NSGs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49808" y="26060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Move from network design to how Azure attaches networking to a VM.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Private IP vs Public IP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Two different addressing contexts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97280" y="1554480"/>
            <a:ext cx="2834640" cy="1280160"/>
          </a:xfrm>
          <a:prstGeom prst="roundRect">
            <a:avLst>
              <a:gd name="adj" fmla="val 5714"/>
            </a:avLst>
          </a:prstGeom>
          <a:solidFill>
            <a:srgbClr val="EEF5FB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7008" y="1645920"/>
            <a:ext cx="2615184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Private IP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10.20.3.4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Inside VNet only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38160" y="1554480"/>
            <a:ext cx="2834640" cy="1280160"/>
          </a:xfrm>
          <a:prstGeom prst="roundRect">
            <a:avLst>
              <a:gd name="adj" fmla="val 5714"/>
            </a:avLst>
          </a:prstGeom>
          <a:solidFill>
            <a:srgbClr val="FFF4E6"/>
          </a:solidFill>
          <a:ln w="12700">
            <a:solidFill>
              <a:srgbClr val="ED7D31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47888" y="1645920"/>
            <a:ext cx="2615184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Public IP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Internet reachable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if assigned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0" y="2194560"/>
            <a:ext cx="374904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14400" y="42062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Key message: a VM can communicate privately without having a public IP.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NIC and NSG Concepts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Where to inspect Azure VM networking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514600"/>
            <a:ext cx="206654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VM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vm-linux-student01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54680" y="2880360"/>
            <a:ext cx="109728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89120" y="24231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8848" y="2514600"/>
            <a:ext cx="234086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NIC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nic-vm-linux-student01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95160" y="2880360"/>
            <a:ext cx="109728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0" y="242316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0AD47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9328" y="2514600"/>
            <a:ext cx="206654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Subnet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subnet-vm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920240" y="470916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FFF4E6"/>
          </a:solidFill>
          <a:ln w="12700">
            <a:solidFill>
              <a:srgbClr val="ED7D31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9968" y="4800600"/>
            <a:ext cx="8193024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NSG rules decide which inbound/outbound traffic is allowed.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6A6"/>
                </a:solidFill>
              </a:rPr>
              <a:t>17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</a:rPr>
              <a:t>Azure Virtual Machines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49808" y="26060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Students deploy a small Linux VM into subnet-vm and connect with SSH.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4: Create Linux VM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Recommended choices for classroom setup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5394960" cy="4480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111111"/>
                </a:solidFill>
              </a:rPr>
              <a:t>Resource group: rg-studentXX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VM name: vm-linux-studentXX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Image: Ubuntu LTS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Size: small training SKU depending on quota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VNet: vnet-studentXX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Subnet: subnet-vm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Inbound: SSH only when needed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Authentication: SSH key preferred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0" y="16459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67728" y="1737360"/>
            <a:ext cx="371246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VM lifecycle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</a:rPr>
              <a:t>Create → Connect → Configure → Stop/Delete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0" y="320040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 w="12700">
            <a:solidFill>
              <a:srgbClr val="ED7D31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67728" y="3291840"/>
            <a:ext cx="3712464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Cost reminder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VMs and disks can generate charges until stopped/deleted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5: Connect and Validate VM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Basic checks after 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5120640" cy="41148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&lt;username&gt;@&lt;public-ip-address&gt;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5486400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111111"/>
                </a:solidFill>
              </a:rPr>
              <a:t>Check VM Overview: Running state and public IP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Check VM Networking: NSG inbound rules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Check NIC: private IP and subnet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Use Cloud Shell or local terminal for SSH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Stop VM when validation is complete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0" y="219456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0000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24928" y="2286000"/>
            <a:ext cx="316382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Common issue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SSH blocked by NSG or wrong username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6A6"/>
                </a:solidFill>
              </a:rPr>
              <a:t>20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</a:rPr>
              <a:t>Custom Script Extension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49808" y="26060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Automate VM configuration by installing NGINX without manual SSH commands.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6: Install NGINX Using Custom Script Extension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A simple automation example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6400800" cy="201168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update -y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apt-get install -y nginx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"&lt;h1&gt;Day 2 Azure Networking Lab&lt;/h1&gt;" | sudo tee /var/www/html/index.html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enable nginx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restart nginx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3703320"/>
            <a:ext cx="5943600" cy="1920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111111"/>
                </a:solidFill>
              </a:rPr>
              <a:t>VM &gt; Extensions + applications &gt; Add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</a:rPr>
              <a:t>Choose Custom Script Extension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</a:rPr>
              <a:t>Run or upload the script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</a:rPr>
              <a:t>Temporarily allow HTTP 80 if you need browser validation</a:t>
            </a:r>
            <a:endParaRPr lang="en-US" sz="1600" dirty="0"/>
          </a:p>
          <a:p>
            <a:r>
              <a:rPr lang="en-US" sz="1600" dirty="0">
                <a:solidFill>
                  <a:srgbClr val="111111"/>
                </a:solidFill>
              </a:rPr>
              <a:t>Remove unnecessary inbound rules after demo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0" y="228600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EEF5FB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99248" y="2377440"/>
            <a:ext cx="3163824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Expected output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Browser shows Day 2 Azure Networking Lab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6A6"/>
                </a:solidFill>
              </a:rPr>
              <a:t>22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</a:rPr>
              <a:t>App Service + VNet Integration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49808" y="26060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Link the PaaS web app to the VNet so it can call private resources like the VM.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Exercise: Link App Service and VM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Use VNet Integration for outbound private connectivity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0" y="2926080"/>
            <a:ext cx="146304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315200" y="2926080"/>
            <a:ext cx="146304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22960" y="2331720"/>
            <a:ext cx="2103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42316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App Service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Web App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89120" y="214884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EEF5FB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240280"/>
            <a:ext cx="2706624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VNet Integration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subnet-appsvc-integration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869680" y="233172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70AD47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79408" y="2423160"/>
            <a:ext cx="2066544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Linux VM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Private IP 10.20.3.4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97280" y="46634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Important: App Service does not become a VM inside your VNet. It uses integration for outbound calls into the VNet.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7: App Service VNet Integration Steps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Use as instructor demo if App Service cost/tier is a concern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603504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111111"/>
                </a:solidFill>
              </a:rPr>
              <a:t>Create subnet-appsvc-integration, for example 10.20.10.0/24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Delegate subnet to Microsoft.Web/serverFarms if prompted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Create App Service Plan and Web App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Open Web App &gt; Networking &gt; VNet Integration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Select VNet and integration subnet</a:t>
            </a:r>
            <a:endParaRPr lang="en-US" sz="1700" dirty="0"/>
          </a:p>
          <a:p>
            <a:r>
              <a:rPr lang="en-US" sz="1700" dirty="0">
                <a:solidFill>
                  <a:srgbClr val="111111"/>
                </a:solidFill>
              </a:rPr>
              <a:t>From app/Kudu console, test access to VM private IP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0" y="201168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FF4E6"/>
          </a:solidFill>
          <a:ln w="12700">
            <a:solidFill>
              <a:srgbClr val="ED7D31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24928" y="2103120"/>
            <a:ext cx="3346704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Cost note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Some VNet Integration scenarios require a supported paid tier.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6A6"/>
                </a:solidFill>
              </a:rPr>
              <a:t>25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</a:rPr>
              <a:t>Scaling and Availability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49808" y="26060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Introduce downtime, availability sets, fault domains, update domains and scale sets.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Fault Domains and Update Domains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Simple explanation for Day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EEF5FB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737360"/>
            <a:ext cx="2706624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Fault Domain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Physical failure boundary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63440" y="164592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1737360"/>
            <a:ext cx="2706624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Update Domain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Planned maintenance group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21040" y="164592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FF4E6"/>
          </a:solidFill>
          <a:ln w="12700">
            <a:solidFill>
              <a:srgbClr val="ED7D31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30768" y="1737360"/>
            <a:ext cx="2706624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Availability Set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Spreads VMs across domains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39776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If one VM is business-critical, it is a single point of failure. Use multiple instances with availability patterns.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VM Scale Sets vs Availability Sets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When to use what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" y="182880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EEF5FB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920240"/>
            <a:ext cx="4078224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Availability Set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Few manually managed VMs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High availability placement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66560" y="182880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76288" y="1920240"/>
            <a:ext cx="4078224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VM Scale Set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Many similar instances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Autoscale and rolling upgrades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470916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66666"/>
                </a:solidFill>
              </a:rPr>
              <a:t>Day 2 objective: students need the concept, not heavy multi-VM deployment unless budget allows.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F"/>
          </a:solidFill>
          <a:ln w="12700">
            <a:solidFill>
              <a:srgbClr val="F7F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6A6"/>
                </a:solidFill>
              </a:rPr>
              <a:t>28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961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</a:rPr>
              <a:t>Troubleshooting and Cleanup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49808" y="26060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Close the day with validation, common issues and cost discipline.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28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Troubleshooting Scenarios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Use this during lab support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23444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No RG visible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3240" y="114300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72968" y="1234440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RBAC or wrong directory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37960" y="1143000"/>
            <a:ext cx="4297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FBFBF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47688" y="1234440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Check user and role assignment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173736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EEF5FB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82880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VM creation fails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63240" y="173736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1828800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Quota or SKU unavailable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37960" y="1737360"/>
            <a:ext cx="4297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FBFBF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1828800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Choose smaller size/region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233172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242316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SSH fails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63240" y="233172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72968" y="2423160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NSG, IP or username issue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2331720"/>
            <a:ext cx="4297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FBFB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47688" y="2423160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Check networking + credentials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29260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EEF5FB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301752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NGINX not visible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63240" y="292608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72968" y="3017520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HTTP rule or extension issue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37960" y="2926080"/>
            <a:ext cx="4297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FBFBF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7688" y="3017520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Check NSG and extension status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35204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3611880"/>
            <a:ext cx="197510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VNet Integration missing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063240" y="352044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72968" y="3611880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Plan tier/subnet issue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37960" y="3520440"/>
            <a:ext cx="42976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FBFBF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47688" y="3611880"/>
            <a:ext cx="4078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</a:rPr>
              <a:t>Use supported tier and delegated subnet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End-of-Day Validation Checklist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Before students leave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7680960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</a:rPr>
              <a:t>All students can access only their own resource group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Each student can explain VNet vs subnet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At least one VM/NIC/IP/NSG inspection is completed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Custom Script Extension or trainer demo completed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App Service VNet Integration concept is understood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All VMs/chargeable compute are stopped or deleted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Temporary public access rules are removed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Cost Management is checked after class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961120" y="246888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4E6"/>
          </a:solidFill>
          <a:ln w="12700">
            <a:solidFill>
              <a:srgbClr val="ED7D31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70848" y="2560320"/>
            <a:ext cx="2066544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Trainer sign-off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No active unexpected resources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30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2 Recap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What learners should remember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Azure networking is the foundation for secure cloud architecture.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3040" y="2240280"/>
            <a:ext cx="8961120" cy="3200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11111"/>
                </a:solidFill>
              </a:rPr>
              <a:t>VNet creates a private network boundary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Subnets segment workloads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NICs connect VMs to subnets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NSGs control network access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Private IP is internal; public IP is external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App Service can call into a VNet using VNet Integration</a:t>
            </a:r>
            <a:endParaRPr lang="en-US" sz="1800" dirty="0"/>
          </a:p>
          <a:p>
            <a:r>
              <a:rPr lang="en-US" sz="1800" dirty="0">
                <a:solidFill>
                  <a:srgbClr val="111111"/>
                </a:solidFill>
              </a:rPr>
              <a:t>Availability patterns reduce downtime risk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31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Day Preview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How Day 2 prepares learners for later modules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EEF5FB"/>
          </a:solidFill>
          <a:ln w="12700">
            <a:solidFill>
              <a:srgbClr val="2F75B5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468880"/>
            <a:ext cx="2157984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Day 2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Networking foundation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91840" y="2880360"/>
            <a:ext cx="109728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480560" y="237744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0A6A6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2468880"/>
            <a:ext cx="2157984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Storage / Apps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Private and secure access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995160" y="2880360"/>
            <a:ext cx="109728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0" y="23774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4E6"/>
          </a:solidFill>
          <a:ln w="12700">
            <a:solidFill>
              <a:srgbClr val="ED7D31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9328" y="2468880"/>
            <a:ext cx="2340864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Databricks / GenAI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Secure data platforms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97280" y="457200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66666"/>
                </a:solidFill>
              </a:rPr>
              <a:t>The same VNet concepts are reused for databases, storage, containers, Databricks, private endpoints and GenAI architectures.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5760" y="6492240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| Virtual Networking | 32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Data GenAI Training - Day 2 Virtual Networking</dc:title>
  <dc:subject>Day 2 Virtual Networking</dc:subject>
  <dc:creator>OpenAI</dc:creator>
  <cp:lastModifiedBy>OpenAI</cp:lastModifiedBy>
  <cp:revision>1</cp:revision>
  <dcterms:created xsi:type="dcterms:W3CDTF">2026-08-27T09:50:40Z</dcterms:created>
  <dcterms:modified xsi:type="dcterms:W3CDTF">2026-08-27T09:50:40Z</dcterms:modified>
</cp:coreProperties>
</file>