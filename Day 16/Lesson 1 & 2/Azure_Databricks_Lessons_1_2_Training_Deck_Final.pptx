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f8d92925594489" /><Relationship Type="http://schemas.openxmlformats.org/officeDocument/2006/relationships/extended-properties" Target="/docProps/app.xml" Id="Re1613bbd796241d3" /><Relationship Type="http://schemas.openxmlformats.org/officeDocument/2006/relationships/officeDocument" Target="/ppt/presentation.xml" Id="R89ce6a9527f44d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e0974e264a43ff"/>
  </p:sldMasterIdLst>
  <p:notesMasterIdLst>
    <p:notesMasterId xmlns:r="http://schemas.openxmlformats.org/officeDocument/2006/relationships" r:id="R5bbd08c272174868"/>
  </p:notesMasterIdLst>
  <p:sldIdLst>
    <p:sldId xmlns:r="http://schemas.openxmlformats.org/officeDocument/2006/relationships" id="256" r:id="Rb28a75d5cf2c42e2"/>
    <p:sldId xmlns:r="http://schemas.openxmlformats.org/officeDocument/2006/relationships" id="257" r:id="R8b8c21c029b54c53"/>
    <p:sldId xmlns:r="http://schemas.openxmlformats.org/officeDocument/2006/relationships" id="258" r:id="Rbd4eb42b62414b59"/>
    <p:sldId xmlns:r="http://schemas.openxmlformats.org/officeDocument/2006/relationships" id="259" r:id="R17f79d50cdeb4cef"/>
    <p:sldId xmlns:r="http://schemas.openxmlformats.org/officeDocument/2006/relationships" id="260" r:id="Rcc9904b2c5cc4c34"/>
    <p:sldId xmlns:r="http://schemas.openxmlformats.org/officeDocument/2006/relationships" id="261" r:id="R06f5d1ddbeac454d"/>
    <p:sldId xmlns:r="http://schemas.openxmlformats.org/officeDocument/2006/relationships" id="262" r:id="Rf73b6f3ee5c849bb"/>
    <p:sldId xmlns:r="http://schemas.openxmlformats.org/officeDocument/2006/relationships" id="263" r:id="Rd03a3115d646439d"/>
    <p:sldId xmlns:r="http://schemas.openxmlformats.org/officeDocument/2006/relationships" id="264" r:id="R18ce8d468ec7468a"/>
    <p:sldId xmlns:r="http://schemas.openxmlformats.org/officeDocument/2006/relationships" id="265" r:id="R858f92bd82d643ee"/>
    <p:sldId xmlns:r="http://schemas.openxmlformats.org/officeDocument/2006/relationships" id="266" r:id="R21ed0f17d4f349a6"/>
    <p:sldId xmlns:r="http://schemas.openxmlformats.org/officeDocument/2006/relationships" id="267" r:id="Rd4d343d4b08e4e3d"/>
    <p:sldId xmlns:r="http://schemas.openxmlformats.org/officeDocument/2006/relationships" id="268" r:id="Rc683b29bfc604570"/>
    <p:sldId xmlns:r="http://schemas.openxmlformats.org/officeDocument/2006/relationships" id="269" r:id="R7a58d8e0177348ab"/>
    <p:sldId xmlns:r="http://schemas.openxmlformats.org/officeDocument/2006/relationships" id="270" r:id="Re7a570fe694d4c7b"/>
    <p:sldId xmlns:r="http://schemas.openxmlformats.org/officeDocument/2006/relationships" id="271" r:id="Raa27e47d24f548f6"/>
    <p:sldId xmlns:r="http://schemas.openxmlformats.org/officeDocument/2006/relationships" id="272" r:id="Rfb3a4e10f1f54b4d"/>
    <p:sldId xmlns:r="http://schemas.openxmlformats.org/officeDocument/2006/relationships" id="273" r:id="R8892b02ae87c4447"/>
    <p:sldId xmlns:r="http://schemas.openxmlformats.org/officeDocument/2006/relationships" id="274" r:id="R043ea7191a734f17"/>
    <p:sldId xmlns:r="http://schemas.openxmlformats.org/officeDocument/2006/relationships" id="275" r:id="Rd882b9cbae4d4295"/>
    <p:sldId xmlns:r="http://schemas.openxmlformats.org/officeDocument/2006/relationships" id="276" r:id="R58b573c488b942f8"/>
    <p:sldId xmlns:r="http://schemas.openxmlformats.org/officeDocument/2006/relationships" id="277" r:id="Rf3dca7ee04734a6c"/>
    <p:sldId xmlns:r="http://schemas.openxmlformats.org/officeDocument/2006/relationships" id="278" r:id="Rba3befdbdcb748de"/>
    <p:sldId xmlns:r="http://schemas.openxmlformats.org/officeDocument/2006/relationships" id="279" r:id="Ra768f7a69b594943"/>
    <p:sldId xmlns:r="http://schemas.openxmlformats.org/officeDocument/2006/relationships" id="280" r:id="Ra6cef69d039b40c5"/>
    <p:sldId xmlns:r="http://schemas.openxmlformats.org/officeDocument/2006/relationships" id="281" r:id="R5c9fcbf6612d4dd0"/>
    <p:sldId xmlns:r="http://schemas.openxmlformats.org/officeDocument/2006/relationships" id="282" r:id="Rd73b74e4d3d04f90"/>
    <p:sldId xmlns:r="http://schemas.openxmlformats.org/officeDocument/2006/relationships" id="283" r:id="Rfa828fd909c34757"/>
    <p:sldId xmlns:r="http://schemas.openxmlformats.org/officeDocument/2006/relationships" id="284" r:id="R30ad7ecc538849a6"/>
    <p:sldId xmlns:r="http://schemas.openxmlformats.org/officeDocument/2006/relationships" id="285" r:id="Rfc57acb197a244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e93ba4f3f747ae" /><Relationship Type="http://schemas.openxmlformats.org/officeDocument/2006/relationships/slideMaster" Target="/ppt/slideMasters/slideMaster1.xml" Id="R52e0974e264a43ff" /><Relationship Type="http://schemas.openxmlformats.org/officeDocument/2006/relationships/notesMaster" Target="/ppt/notesMasters/notesMaster1.xml" Id="R5bbd08c272174868" /><Relationship Type="http://schemas.openxmlformats.org/officeDocument/2006/relationships/presProps" Target="/ppt/presProps.xml" Id="Rc26668243c44470e" /><Relationship Type="http://schemas.openxmlformats.org/officeDocument/2006/relationships/tableStyles" Target="/ppt/tableStyles.xml" Id="R58e794ac6f884045" /><Relationship Type="http://schemas.openxmlformats.org/officeDocument/2006/relationships/slide" Target="/ppt/slides/slide1.xml" Id="Rb28a75d5cf2c42e2" /><Relationship Type="http://schemas.openxmlformats.org/officeDocument/2006/relationships/slide" Target="/ppt/slides/slide2.xml" Id="R8b8c21c029b54c53" /><Relationship Type="http://schemas.openxmlformats.org/officeDocument/2006/relationships/slide" Target="/ppt/slides/slide3.xml" Id="Rbd4eb42b62414b59" /><Relationship Type="http://schemas.openxmlformats.org/officeDocument/2006/relationships/slide" Target="/ppt/slides/slide4.xml" Id="R17f79d50cdeb4cef" /><Relationship Type="http://schemas.openxmlformats.org/officeDocument/2006/relationships/slide" Target="/ppt/slides/slide5.xml" Id="Rcc9904b2c5cc4c34" /><Relationship Type="http://schemas.openxmlformats.org/officeDocument/2006/relationships/slide" Target="/ppt/slides/slide6.xml" Id="R06f5d1ddbeac454d" /><Relationship Type="http://schemas.openxmlformats.org/officeDocument/2006/relationships/slide" Target="/ppt/slides/slide7.xml" Id="Rf73b6f3ee5c849bb" /><Relationship Type="http://schemas.openxmlformats.org/officeDocument/2006/relationships/slide" Target="/ppt/slides/slide8.xml" Id="Rd03a3115d646439d" /><Relationship Type="http://schemas.openxmlformats.org/officeDocument/2006/relationships/slide" Target="/ppt/slides/slide9.xml" Id="R18ce8d468ec7468a" /><Relationship Type="http://schemas.openxmlformats.org/officeDocument/2006/relationships/slide" Target="/ppt/slides/slide10.xml" Id="R858f92bd82d643ee" /><Relationship Type="http://schemas.openxmlformats.org/officeDocument/2006/relationships/slide" Target="/ppt/slides/slide11.xml" Id="R21ed0f17d4f349a6" /><Relationship Type="http://schemas.openxmlformats.org/officeDocument/2006/relationships/slide" Target="/ppt/slides/slide12.xml" Id="Rd4d343d4b08e4e3d" /><Relationship Type="http://schemas.openxmlformats.org/officeDocument/2006/relationships/slide" Target="/ppt/slides/slide13.xml" Id="Rc683b29bfc604570" /><Relationship Type="http://schemas.openxmlformats.org/officeDocument/2006/relationships/slide" Target="/ppt/slides/slide14.xml" Id="R7a58d8e0177348ab" /><Relationship Type="http://schemas.openxmlformats.org/officeDocument/2006/relationships/slide" Target="/ppt/slides/slide15.xml" Id="Re7a570fe694d4c7b" /><Relationship Type="http://schemas.openxmlformats.org/officeDocument/2006/relationships/slide" Target="/ppt/slides/slide16.xml" Id="Raa27e47d24f548f6" /><Relationship Type="http://schemas.openxmlformats.org/officeDocument/2006/relationships/slide" Target="/ppt/slides/slide17.xml" Id="Rfb3a4e10f1f54b4d" /><Relationship Type="http://schemas.openxmlformats.org/officeDocument/2006/relationships/slide" Target="/ppt/slides/slide18.xml" Id="R8892b02ae87c4447" /><Relationship Type="http://schemas.openxmlformats.org/officeDocument/2006/relationships/slide" Target="/ppt/slides/slide19.xml" Id="R043ea7191a734f17" /><Relationship Type="http://schemas.openxmlformats.org/officeDocument/2006/relationships/slide" Target="/ppt/slides/slide20.xml" Id="Rd882b9cbae4d4295" /><Relationship Type="http://schemas.openxmlformats.org/officeDocument/2006/relationships/slide" Target="/ppt/slides/slide21.xml" Id="R58b573c488b942f8" /><Relationship Type="http://schemas.openxmlformats.org/officeDocument/2006/relationships/slide" Target="/ppt/slides/slide22.xml" Id="Rf3dca7ee04734a6c" /><Relationship Type="http://schemas.openxmlformats.org/officeDocument/2006/relationships/slide" Target="/ppt/slides/slide23.xml" Id="Rba3befdbdcb748de" /><Relationship Type="http://schemas.openxmlformats.org/officeDocument/2006/relationships/slide" Target="/ppt/slides/slide24.xml" Id="Ra768f7a69b594943" /><Relationship Type="http://schemas.openxmlformats.org/officeDocument/2006/relationships/slide" Target="/ppt/slides/slide25.xml" Id="Ra6cef69d039b40c5" /><Relationship Type="http://schemas.openxmlformats.org/officeDocument/2006/relationships/slide" Target="/ppt/slides/slide26.xml" Id="R5c9fcbf6612d4dd0" /><Relationship Type="http://schemas.openxmlformats.org/officeDocument/2006/relationships/slide" Target="/ppt/slides/slide27.xml" Id="Rd73b74e4d3d04f90" /><Relationship Type="http://schemas.openxmlformats.org/officeDocument/2006/relationships/slide" Target="/ppt/slides/slide28.xml" Id="Rfa828fd909c34757" /><Relationship Type="http://schemas.openxmlformats.org/officeDocument/2006/relationships/slide" Target="/ppt/slides/slide29.xml" Id="R30ad7ecc538849a6" /><Relationship Type="http://schemas.openxmlformats.org/officeDocument/2006/relationships/slide" Target="/ppt/slides/slide30.xml" Id="Rfc57acb197a244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d01206b72f40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8f169e284f4175" /><Relationship Type="http://schemas.openxmlformats.org/officeDocument/2006/relationships/notesMaster" Target="/ppt/notesMasters/notesMaster1.xml" Id="Red261400a70f47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1f92e74bde485f" /><Relationship Type="http://schemas.openxmlformats.org/officeDocument/2006/relationships/notesMaster" Target="/ppt/notesMasters/notesMaster1.xml" Id="Raa94efd27a7b4b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7f611ada204681" /><Relationship Type="http://schemas.openxmlformats.org/officeDocument/2006/relationships/notesMaster" Target="/ppt/notesMasters/notesMaster1.xml" Id="R32c1cb7aef01480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b00854038e4cce" /><Relationship Type="http://schemas.openxmlformats.org/officeDocument/2006/relationships/notesMaster" Target="/ppt/notesMasters/notesMaster1.xml" Id="R49ab0e08662842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1d763bb5d942a2" /><Relationship Type="http://schemas.openxmlformats.org/officeDocument/2006/relationships/notesMaster" Target="/ppt/notesMasters/notesMaster1.xml" Id="R3c02f77a562840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1944b88b2a42e6" /><Relationship Type="http://schemas.openxmlformats.org/officeDocument/2006/relationships/notesMaster" Target="/ppt/notesMasters/notesMaster1.xml" Id="R3b52e0b25c4e4a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eadca13dc945b5" /><Relationship Type="http://schemas.openxmlformats.org/officeDocument/2006/relationships/notesMaster" Target="/ppt/notesMasters/notesMaster1.xml" Id="Rbd4e7e52ec9a4d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396dea0e7547c7" /><Relationship Type="http://schemas.openxmlformats.org/officeDocument/2006/relationships/notesMaster" Target="/ppt/notesMasters/notesMaster1.xml" Id="Rbe90e12e77f540c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4e6791f47fd451b" /><Relationship Type="http://schemas.openxmlformats.org/officeDocument/2006/relationships/notesMaster" Target="/ppt/notesMasters/notesMaster1.xml" Id="Ra43c6493de5848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e2536caa924461" /><Relationship Type="http://schemas.openxmlformats.org/officeDocument/2006/relationships/notesMaster" Target="/ppt/notesMasters/notesMaster1.xml" Id="R58e28225890943a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34f2855f034b17" /><Relationship Type="http://schemas.openxmlformats.org/officeDocument/2006/relationships/notesMaster" Target="/ppt/notesMasters/notesMaster1.xml" Id="Rb2f33ec23ec04c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f4312f85af24b72" /><Relationship Type="http://schemas.openxmlformats.org/officeDocument/2006/relationships/notesMaster" Target="/ppt/notesMasters/notesMaster1.xml" Id="R7ecafb0b18b5482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c2e537e070d4e83" /><Relationship Type="http://schemas.openxmlformats.org/officeDocument/2006/relationships/notesMaster" Target="/ppt/notesMasters/notesMaster1.xml" Id="Rc172c78f78c74fa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8bd145d18bb4d33" /><Relationship Type="http://schemas.openxmlformats.org/officeDocument/2006/relationships/notesMaster" Target="/ppt/notesMasters/notesMaster1.xml" Id="R90c6399f1e6349b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cf1de702c6c418f" /><Relationship Type="http://schemas.openxmlformats.org/officeDocument/2006/relationships/notesMaster" Target="/ppt/notesMasters/notesMaster1.xml" Id="Rfe98eeaef5c2424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7594d3f0a184afb" /><Relationship Type="http://schemas.openxmlformats.org/officeDocument/2006/relationships/notesMaster" Target="/ppt/notesMasters/notesMaster1.xml" Id="R09ce6a4b5f49416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6c792a2d7d148b9" /><Relationship Type="http://schemas.openxmlformats.org/officeDocument/2006/relationships/notesMaster" Target="/ppt/notesMasters/notesMaster1.xml" Id="Rb34c50f3682a45f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abf252bb23d40d9" /><Relationship Type="http://schemas.openxmlformats.org/officeDocument/2006/relationships/notesMaster" Target="/ppt/notesMasters/notesMaster1.xml" Id="Ra3ec04d1ca2a477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91df2b2779844c9" /><Relationship Type="http://schemas.openxmlformats.org/officeDocument/2006/relationships/notesMaster" Target="/ppt/notesMasters/notesMaster1.xml" Id="R176fc89a94c147e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b6fb34e84374562" /><Relationship Type="http://schemas.openxmlformats.org/officeDocument/2006/relationships/notesMaster" Target="/ppt/notesMasters/notesMaster1.xml" Id="R6dc272baef5d4e0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7176523e21e4c0d" /><Relationship Type="http://schemas.openxmlformats.org/officeDocument/2006/relationships/notesMaster" Target="/ppt/notesMasters/notesMaster1.xml" Id="R577f4f270c49442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aecdd3fdb034d0a" /><Relationship Type="http://schemas.openxmlformats.org/officeDocument/2006/relationships/notesMaster" Target="/ppt/notesMasters/notesMaster1.xml" Id="R58ea48a2a54c4d3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83b1c49b7b348ca" /><Relationship Type="http://schemas.openxmlformats.org/officeDocument/2006/relationships/notesMaster" Target="/ppt/notesMasters/notesMaster1.xml" Id="Rf33821579d6a46c2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2d21026eb5c4f15" /><Relationship Type="http://schemas.openxmlformats.org/officeDocument/2006/relationships/notesMaster" Target="/ppt/notesMasters/notesMaster1.xml" Id="Rd454afd4ba38456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af874b830db4a95" /><Relationship Type="http://schemas.openxmlformats.org/officeDocument/2006/relationships/notesMaster" Target="/ppt/notesMasters/notesMaster1.xml" Id="Rc8e23f0f282a4b8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212a698c53f422e" /><Relationship Type="http://schemas.openxmlformats.org/officeDocument/2006/relationships/notesMaster" Target="/ppt/notesMasters/notesMaster1.xml" Id="Rfa5fd2a24274413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4d401811b2b4306" /><Relationship Type="http://schemas.openxmlformats.org/officeDocument/2006/relationships/notesMaster" Target="/ppt/notesMasters/notesMaster1.xml" Id="Rb533e59a160847e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8553b0c22904055" /><Relationship Type="http://schemas.openxmlformats.org/officeDocument/2006/relationships/notesMaster" Target="/ppt/notesMasters/notesMaster1.xml" Id="R51c318a46f8841a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17e0df1181f4ba2" /><Relationship Type="http://schemas.openxmlformats.org/officeDocument/2006/relationships/notesMaster" Target="/ppt/notesMasters/notesMaster1.xml" Id="R3cc775cd579b4b0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491c017753b4907" /><Relationship Type="http://schemas.openxmlformats.org/officeDocument/2006/relationships/notesMaster" Target="/ppt/notesMasters/notesMaster1.xml" Id="R82cc37e1c64d41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concrete outcome: every learner will create and validate a governed Delta table. Set the expectation that menu labels can vary slightly by tenant and release.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https://learn.microsoft.com/azure/databricks/admin/workspace/create-workspace</a:t>
            </a:r>
          </a:p>
          <a:p xmlns:a="http://schemas.openxmlformats.org/drawingml/2006/main">
            <a:r>
              <a:t>https://learn.microsoft.com/azure/databricks/notebooks/notebooks-manage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learners which outcome feels newest. Use their response to tune the pace. Stress that the final evidence includes both a query result and DESCRIBE HISTORY.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the scenario stable so learners spend cognitive effort on platform concepts, not on changing business examples.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Transition: first build the mental model, then use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 Databricks without marketing language. It supplies managed capabilities; teams still design data quality, permissions, costs and operations.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https://learn.microsoft.com/azure/databricks/admin/workspace/create-workspace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Avoid saying a lakehouse literally merges every capability perfectly. Explain it as an architectural pattern that brings table management to lake storage.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https://learn.microsoft.com/azure/databricks/delta/tutorial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 pointing check: show each object in the UI or diagram and ask the class to name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current deployment options carefully. Availability depends on region and tenant configuration. Premium is used here because the class includes Unity Catalog governance.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https://learn.microsoft.com/azure/databricks/admin/workspace/create-workspace</a:t>
            </a:r>
          </a:p>
          <a:p xmlns:a="http://schemas.openxmlformats.org/drawingml/2006/main">
            <a:r>
              <a:t>https://learn.microsoft.com/azure/databricks/compute/configure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State that networking detail differs by workspace and compute model. The diagram is a teaching abstraction, not a network design.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https://learn.microsoft.com/azure/databricks/admin/workspace/create-workspace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to Java: driver resembles the coordinating main process; executors resemble worker processes. Correct the misconception that a DataFrame is fully stored in driver memory.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https://spark.apache.org/docs/latest/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imply RDDs are obsolete. State that DataFrames and SQL are usually preferable for structured analytics because Spark can reason about their schema and plan.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https://spark.apache.org/docs/latest/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Ask: if we define three transformations but never call display, count or write, what may happen? Expected: Spark builds a plan, but the full data job may not run yet.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https://spark.apache.org/docs/latest/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the current toolbar. Explain that new notebooks may start in Drafts and can auto-connect to serverless in eligible Unity Catalog workspaces.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https://learn.microsoft.com/azure/databricks/notebooks/notebooks-manage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magic commands such as %sql only as needed. Separate destructive publish cells so learners do not rerun them accidentally.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https://learn.microsoft.com/azure/databricks/notebooks/notebooks-manage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teach learners to choose large nodes by guesswork. Use a restrictive policy and auto termination for shared training.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https://learn.microsoft.com/azure/databricks/compute/configure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Point out that the screenshot is a recent simple form and the learner tenant can show fewer or more fields. Focus on decisions, not memorized positions.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https://learn.microsoft.com/azure/databricks/compute/configure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Pause before display and ask learners to predict the highest order total. Pause before SQL and ask whether the temporary view is permanent.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https://learn.microsoft.com/azure/databricks/notebooks/notebooks-manage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which format they would choose for an API payload, an analytics extract and a trusted table. Clarify that Delta data files are Parquet plus a transaction log.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https://learn.microsoft.com/azure/databricks/delta/tutorial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 explicitly that this small sample is not proof of performance. It is a controlled way to learn the API and execution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Correct Java assumptions: withColumn returns a new DataFrame; it does not mutate the original like a setter. display is a Databricks notebook action that requests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https://spark.apache.org/docs/latest/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whether another job can reliably discover orders_work tomorrow. Expected: no; it is a temporary view in the current Spark session.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Transition: the DataFrame works, but it is temporary. Now publish it as a named, governed table.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learners translate the name aloud. Then substitute student_07 and product_summary to check that the structure—not the memorized string—is understood.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operational benefit and the security limits. Schema privileges control governed objects, but workspace and compute entitlements still matter.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Delta as a table protocol and transaction log around Parquet data. Do not reduce it to a file extension.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https://learn.microsoft.com/azure/databricks/delta/tutorial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Narrate every line. Overwrite is acceptable only because each learner owns an isolated lab target. In production, require validation, ownership and recovery rules.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https://learn.microsoft.com/azure/databricks/delta/tutorial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which key should match orders. Explain that MERGE is not automatically safe: duplicate source keys can still create ambiguous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https://learn.microsoft.com/azure/databricks/delta/tutorial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Learners use their assigned schema, not always student_01. Require evidence after each checkpoint so troubleshooting is localized.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https://learn.microsoft.com/azure/databricks/notebooks/notebooks-manage</a:t>
            </a:r>
          </a:p>
          <a:p xmlns:a="http://schemas.openxmlformats.org/drawingml/2006/main">
            <a:r>
              <a:t>https://learn.microsoft.com/azure/databricks/delta/tutorial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Treat permission errors as evidence. Fix the narrow missing grant rather than making the learner an admin. For rerun differences, inspect DESCRIBE HISTORY before overwriting.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https://learn.microsoft.com/azure/databricks/compute/configure</a:t>
            </a:r>
          </a:p>
          <a:p xmlns:a="http://schemas.openxmlformats.org/drawingml/2006/main">
            <a:r>
              <a:t>https://learn.microsoft.com/azure/databricks/delta/tutorial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asking one learner to explain the full path without notes. Collect the table query, DESCRIBE HISTORY and product_summary challenge as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bf5d6c33e9401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25dfe14b694f8a" /><Relationship Type="http://schemas.openxmlformats.org/officeDocument/2006/relationships/slideLayout" Target="/ppt/slideLayouts/slideLayout1.xml" Id="Rf2c6f091d4444b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c6f091d4444b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28f43c59846c2" /><Relationship Type="http://schemas.openxmlformats.org/officeDocument/2006/relationships/image" Target="/ppt/media/image.png" Id="R9c240882a68e4fac" /><Relationship Type="http://schemas.openxmlformats.org/officeDocument/2006/relationships/notesSlide" Target="/ppt/notesSlides/notesSlide1.xml" Id="R2a64029fcc5d4b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9e6630624432a" /><Relationship Type="http://schemas.openxmlformats.org/officeDocument/2006/relationships/notesSlide" Target="/ppt/notesSlides/notesSlide2.xml" Id="R9471715f1eb94e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9e61cfa3b845b9" /><Relationship Type="http://schemas.openxmlformats.org/officeDocument/2006/relationships/notesSlide" Target="/ppt/notesSlides/notesSlide3.xml" Id="R03df98bce3bb41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ab934c0e94fa0" /><Relationship Type="http://schemas.openxmlformats.org/officeDocument/2006/relationships/notesSlide" Target="/ppt/notesSlides/notesSlide4.xml" Id="R5cbd9b92578743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96633604db4806" /><Relationship Type="http://schemas.openxmlformats.org/officeDocument/2006/relationships/notesSlide" Target="/ppt/notesSlides/notesSlide5.xml" Id="R26a4865cd7cb40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3e6c4029441a9" /><Relationship Type="http://schemas.openxmlformats.org/officeDocument/2006/relationships/notesSlide" Target="/ppt/notesSlides/notesSlide6.xml" Id="Rb1f876951d044f2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f68dc9d58948f5" /><Relationship Type="http://schemas.openxmlformats.org/officeDocument/2006/relationships/notesSlide" Target="/ppt/notesSlides/notesSlide7.xml" Id="R63532d57cd344a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35ab265a54c4c" /><Relationship Type="http://schemas.openxmlformats.org/officeDocument/2006/relationships/notesSlide" Target="/ppt/notesSlides/notesSlide8.xml" Id="Rdabe5b2999fb429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ab978508934588" /><Relationship Type="http://schemas.openxmlformats.org/officeDocument/2006/relationships/notesSlide" Target="/ppt/notesSlides/notesSlide9.xml" Id="R77ca176ffdf84b5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7da7f0e814b7a" /><Relationship Type="http://schemas.openxmlformats.org/officeDocument/2006/relationships/notesSlide" Target="/ppt/notesSlides/notesSlide10.xml" Id="R05824637397343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9ae4ce782f4e7b" /><Relationship Type="http://schemas.openxmlformats.org/officeDocument/2006/relationships/notesSlide" Target="/ppt/notesSlides/notesSlide11.xml" Id="R6ce1ef2d2fa942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b90f86e994c5d" /><Relationship Type="http://schemas.openxmlformats.org/officeDocument/2006/relationships/notesSlide" Target="/ppt/notesSlides/notesSlide12.xml" Id="R6be586094eb5432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f48a3848c4e26" /><Relationship Type="http://schemas.openxmlformats.org/officeDocument/2006/relationships/image" Target="/ppt/media/image2.png" Id="R18ba0b71238b4eff" /><Relationship Type="http://schemas.openxmlformats.org/officeDocument/2006/relationships/notesSlide" Target="/ppt/notesSlides/notesSlide13.xml" Id="Rb2caaa2aec974ea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2ac9b8663945dc" /><Relationship Type="http://schemas.openxmlformats.org/officeDocument/2006/relationships/notesSlide" Target="/ppt/notesSlides/notesSlide14.xml" Id="R24323c0a3210466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d049aaba8495b" /><Relationship Type="http://schemas.openxmlformats.org/officeDocument/2006/relationships/notesSlide" Target="/ppt/notesSlides/notesSlide15.xml" Id="R30872215fca5414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c361a12914632" /><Relationship Type="http://schemas.openxmlformats.org/officeDocument/2006/relationships/image" Target="/ppt/media/image3.png" Id="Rc62008d6a04243c3" /><Relationship Type="http://schemas.openxmlformats.org/officeDocument/2006/relationships/notesSlide" Target="/ppt/notesSlides/notesSlide16.xml" Id="R8a6ed895cb5647b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9fd7e59004d5f" /><Relationship Type="http://schemas.openxmlformats.org/officeDocument/2006/relationships/image" Target="/ppt/media/image4.png" Id="R5cd7ea2e037f4476" /><Relationship Type="http://schemas.openxmlformats.org/officeDocument/2006/relationships/notesSlide" Target="/ppt/notesSlides/notesSlide17.xml" Id="Rada4853993634f3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3bdec702547c3" /><Relationship Type="http://schemas.openxmlformats.org/officeDocument/2006/relationships/notesSlide" Target="/ppt/notesSlides/notesSlide18.xml" Id="R3b37b063d8f1477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687b488a24fc5" /><Relationship Type="http://schemas.openxmlformats.org/officeDocument/2006/relationships/notesSlide" Target="/ppt/notesSlides/notesSlide19.xml" Id="R12cac489a477472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272f4ac6f4ee7" /><Relationship Type="http://schemas.openxmlformats.org/officeDocument/2006/relationships/notesSlide" Target="/ppt/notesSlides/notesSlide20.xml" Id="Rc146676c8f234c1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e8d9619905464a" /><Relationship Type="http://schemas.openxmlformats.org/officeDocument/2006/relationships/notesSlide" Target="/ppt/notesSlides/notesSlide21.xml" Id="Ra4418505303f447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f7bacbe3c4b59" /><Relationship Type="http://schemas.openxmlformats.org/officeDocument/2006/relationships/notesSlide" Target="/ppt/notesSlides/notesSlide22.xml" Id="R8769bbe0f1004f9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10d492c6e4f05" /><Relationship Type="http://schemas.openxmlformats.org/officeDocument/2006/relationships/notesSlide" Target="/ppt/notesSlides/notesSlide23.xml" Id="R20112bc1e05d4ab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d90276cbd4186" /><Relationship Type="http://schemas.openxmlformats.org/officeDocument/2006/relationships/notesSlide" Target="/ppt/notesSlides/notesSlide24.xml" Id="R9a66a6120d8545a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884baa0be4a0b" /><Relationship Type="http://schemas.openxmlformats.org/officeDocument/2006/relationships/notesSlide" Target="/ppt/notesSlides/notesSlide25.xml" Id="R9414399114fd49a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a06d16f7548df" /><Relationship Type="http://schemas.openxmlformats.org/officeDocument/2006/relationships/notesSlide" Target="/ppt/notesSlides/notesSlide26.xml" Id="R3d57f97992cd4a0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5c71e4bd944413" /><Relationship Type="http://schemas.openxmlformats.org/officeDocument/2006/relationships/notesSlide" Target="/ppt/notesSlides/notesSlide27.xml" Id="R5e586965c9304f9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2426dae2e14cfa" /><Relationship Type="http://schemas.openxmlformats.org/officeDocument/2006/relationships/image" Target="/ppt/media/image5.png" Id="R890a776f22504bc7" /><Relationship Type="http://schemas.openxmlformats.org/officeDocument/2006/relationships/notesSlide" Target="/ppt/notesSlides/notesSlide28.xml" Id="R4f78f41044954c9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651c2f6f24ff3" /><Relationship Type="http://schemas.openxmlformats.org/officeDocument/2006/relationships/notesSlide" Target="/ppt/notesSlides/notesSlide29.xml" Id="R986c719637ef400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14eacb3094639" /><Relationship Type="http://schemas.openxmlformats.org/officeDocument/2006/relationships/notesSlide" Target="/ppt/notesSlides/notesSlide30.xml" Id="Rd54a85c48b2445a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DD4C60-CC56-4E50-9B44-593418E5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1A288B-E5C9-4E7B-91AF-E6361C4B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5BD951-95B1-44DE-95B3-4BB5EA23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58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TRAINER DECK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F28E7-080E-4B48-941B-78336D3C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628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383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0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Azure Databricks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0C786E-C534-4C75-B17B-67CD70B6F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628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49C0B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49C0B6"/>
                </a:solidFill>
                <a:latin typeface="Bitstream Charter"/>
                <a:ea typeface="Bitstream Charter"/>
                <a:cs typeface="Bitstream Charter"/>
              </a:rPr>
              <a:t>Lessons 1 and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BB3B5-E5C1-4B59-892A-C9105AAE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6E1E9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D6E1E9"/>
                </a:solidFill>
                <a:latin typeface="Bitstream Charter"/>
                <a:ea typeface="Bitstream Charter"/>
                <a:cs typeface="Bitstream Charter"/>
              </a:rPr>
              <a:t>From first workspace navigation to a governed Delta table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CD7529-17CA-4BEF-B3F6-1AF3BB80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14 learners  •  one Premium workspace  •  one schema each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240882a68e4fac"/>
          <a:srcRect xmlns:a="http://schemas.openxmlformats.org/drawingml/2006/main" l="35762" t="0" r="3576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762000"/>
            <a:ext cx="4762500" cy="5334000"/>
          </a:xfrm>
          <a:prstGeom xmlns:a="http://schemas.openxmlformats.org/drawingml/2006/main" prst="roundRect">
            <a:avLst>
              <a:gd name="adj" fmla="val 2400"/>
            </a:avLst>
          </a:prstGeom>
        </p:spPr>
      </p:pic>
    </p:spTree>
    <p:extLst>
      <p:ext uri="{BB962C8B-B14F-4D97-AF65-F5344CB8AC3E}">
        <p14:creationId xmlns:p14="http://schemas.microsoft.com/office/powerpoint/2010/main" val="11493620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ED96E4-5519-4B6A-86B2-45089D48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AD59BF-A35E-482F-AE5B-0D570087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What learners will be able to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3C246-5921-4785-A227-C34E8C30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Two lessons, one complete data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C54992-B138-4F4F-ABF5-BF28B229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93DF0-4ED8-4314-B467-680688C5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AZURE DATABRICKS  •  LESSONS 1–2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16687-4220-4097-A5DB-B81ABD9F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A00F2C-6D71-4FE2-9F8C-0E9E69F4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333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889AA-1407-48A5-B998-028A1A59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1F943B-5A81-4C90-A7F9-16676F29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669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Explain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3BC18A-627E-4A04-B925-02AA7015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9146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Describe workspace, notebook, compute, Spark, Unity Catalog and Delta in plain language.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541938-CA08-4365-8BF9-80C80256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14500"/>
            <a:ext cx="3333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A5E89-A02A-4CCC-85E6-1B8F0D65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714500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E7B70D-14F5-4CB3-B8F3-947AD43D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8669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Build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A42482-A01B-418E-AB56-F5FD2A56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209800"/>
            <a:ext cx="29146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Create a DataFrame, transform it, expose a temporary view and query with SQL.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EB7A21-902F-4BF2-80FC-76DD4591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14500"/>
            <a:ext cx="3333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1326C8-BA42-44F8-ABE7-60DF702A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14500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8FF16B-A842-45D9-B30D-6CB76352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Publish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A325D7-B942-4D88-853A-BBDE19DD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09800"/>
            <a:ext cx="29146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Save into catalog.schema.table and validate data, metadata and history.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0825C8-292F-47C0-B85F-FCCC602A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9334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C19174-2726-4B64-8344-9C2CF41F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267200"/>
            <a:ext cx="866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Final evidence  training_lab.student_XX.orders</a:t>
            </a:r>
          </a:p>
        </p:txBody>
      </p:sp>
    </p:spTree>
    <p:extLst>
      <p:ext uri="{BB962C8B-B14F-4D97-AF65-F5344CB8AC3E}">
        <p14:creationId xmlns:p14="http://schemas.microsoft.com/office/powerpoint/2010/main" val="14592341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6BF090-4A62-43BE-A9FD-C99A4428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A1B8F6-35F9-4289-82CC-2028EA58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The business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F6BE5-FC37-4266-A5CD-D083936B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Five retail orders become a trusted 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2C1805-042A-41A9-A79A-94A0C0AA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FFC89E-94B0-4D08-A8BB-4304AD49D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AZURE DATABRICKS  •  LESSONS 1–2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582C6F-6388-4862-B464-94D2A659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D1238B-90F0-40D1-972A-8C70FA082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C3BB0E-ACD5-44DC-9AE8-046DD0D04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14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2331E9-E58F-4296-A8C4-5F42FA83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PUBLISH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C6DF61-78FB-4236-9F24-E69527D9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24765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0A3BBE-F116-4926-9501-BA20F951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959001-B218-4F6A-8BE1-8551CEAD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47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Small order data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EC8910-8EEA-49AB-BB6C-F27753CB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20574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order_id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product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quantity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unit_price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789533-7327-4452-9B1C-28FDF3D9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146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92F7C4-B79E-44F3-9B1C-33CE6680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26670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200508-8C1C-4995-BC41-1442339B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9550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35375D-3AC5-406E-91BD-D5C7DF44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479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Spark DataFrame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FFAD42-4488-4309-814B-BFED9D27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90800"/>
            <a:ext cx="22479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Filter invalid rows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Calculate order_total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Summarize by product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9A19F7-51C4-475B-831B-29631846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714625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750375-44C8-452A-B5C6-6AAACD2A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3810000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E44DD7-9559-496D-9E4A-A91C296B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76200" cy="1905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D8F552-EF66-47D0-ABEF-F5E5B5B8B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479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Governed Delta table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EBBA0B-E31B-40EB-91F9-CAE2A059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90800"/>
            <a:ext cx="33909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training_lab.student_01.orders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Query • history • time travel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1F6694-147A-49F5-8759-5E8DACFBF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672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Use the same story across explanation, demo, lab and assessment.</a:t>
            </a:r>
          </a:p>
        </p:txBody>
      </p:sp>
    </p:spTree>
    <p:extLst>
      <p:ext uri="{BB962C8B-B14F-4D97-AF65-F5344CB8AC3E}">
        <p14:creationId xmlns:p14="http://schemas.microsoft.com/office/powerpoint/2010/main" val="15996125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28A49-D7CD-417D-829F-13C82013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700" b="1">
                <a:solidFill>
                  <a:srgbClr val="49C0B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700" b="1">
                <a:solidFill>
                  <a:srgbClr val="49C0B6"/>
                </a:solidFill>
                <a:latin typeface="Bitstream Charter"/>
                <a:ea typeface="Bitstream Charter"/>
                <a:cs typeface="Bitstream Charter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A5E87-C9EB-4FDE-A172-99CD692FB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190625"/>
            <a:ext cx="781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Lesson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FAE7D0-2115-4FB6-BEBF-1B67F91B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33625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9D8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C9D8E5"/>
                </a:solidFill>
                <a:latin typeface="Bitstream Charter"/>
                <a:ea typeface="Bitstream Charter"/>
                <a:cs typeface="Bitstream Charter"/>
              </a:rPr>
              <a:t>Databricks foundations and Spark mental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7C927-2515-4792-A622-FDFAE9F4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71850"/>
            <a:ext cx="619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22F192-C08C-4410-A97D-C79A87F9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385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Concept → demonstration → guided lab → assessment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2FD2A-B9EE-45E0-A3A6-A837B9A1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DB0B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9DB0BF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147532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AE5E64-6E40-4BBD-895D-730DEE0C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FC59DC-B0E2-46E0-8DE1-9FCD57FB5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What Azure Databricks 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F9A2E1-4B6F-4FEF-80C7-020C0D73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A managed data and AI platform built around Spark and the lakehouse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5C1E8-06E4-4BDD-909C-C03FFE1CC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1D8048-2813-48A3-99C7-1299681F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AZURE DATABRICKS  •  LESSONS 1–2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D3AD7-ADCC-444D-A2CD-08ED098F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F9517-21ED-4E76-9D8A-51E29112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31908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B32F87-3E73-416D-9169-415419511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7620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E4B619-8A5F-426F-9850-9EDB6893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819275"/>
            <a:ext cx="2809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One workspace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412AD1-1227-4762-B745-C2B0EEBA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162175"/>
            <a:ext cx="27717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Notebooks, SQL, jobs and discovery for several roles.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1E111E-FE57-4D98-AEF5-09842843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66875"/>
            <a:ext cx="31908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F5BB4A-0F8E-4FD2-88B9-3F088124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66875"/>
            <a:ext cx="7620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89E203-DB91-4B74-97EB-026A4C26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819275"/>
            <a:ext cx="2809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Scalable execution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E2CD09-EB3E-4901-82EF-8564B111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162175"/>
            <a:ext cx="27717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Serverless or classic compute runs Spark and SQL workloads.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84610A-18DC-49D7-900D-8D8904DD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66875"/>
            <a:ext cx="31908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DE3CE3-95FA-4078-9D23-47539403B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666875"/>
            <a:ext cx="76200" cy="2190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A033FF-0597-4AF6-B8F9-ECFC6229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19275"/>
            <a:ext cx="2809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Governed assets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8454B8-AE97-4BA8-8433-F5D95581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62175"/>
            <a:ext cx="2771775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Unity Catalog controls and describes tables, files, models and more.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702F9D-D059-493B-A517-FD83A813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76750"/>
            <a:ext cx="1019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Managed platform ≠ data automatically becomes clean, governed or inexpensive.</a:t>
            </a:r>
          </a:p>
        </p:txBody>
      </p:sp>
    </p:spTree>
    <p:extLst>
      <p:ext uri="{BB962C8B-B14F-4D97-AF65-F5344CB8AC3E}">
        <p14:creationId xmlns:p14="http://schemas.microsoft.com/office/powerpoint/2010/main" val="16518762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2A1463-D56B-4B8E-8445-3DA9D57F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4DF80-84B1-4A11-A6D1-CD9352A7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The lakehouse idea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BD430-427A-4053-BE6A-405F6A4E3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Open storage with reliable table behavior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E029F-24F9-404E-B661-E0456B96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9C486-0FFA-487F-970E-496F898A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AZURE DATABRICKS  •  LESSONS 1–2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1DE31E-A624-4A83-9B96-918B44C5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CA926D-4849-4C06-ACB0-6AE0BF74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F98847-1BE4-4552-B1F2-809DC45B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635A8A-2560-45EF-A99E-B3D89E06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7716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Data lake strengths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4C10C1-94D8-43E7-9A3E-9C3C7A37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114550"/>
            <a:ext cx="27241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Low-cost cloud storage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Open file formats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Raw and refined 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CAD9B1-1C7E-4387-AFE1-C7A5C6E2B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19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1F933D-093C-4DF0-89EA-7E29D546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1925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EFDED7-69F7-4347-A635-4AB53FAF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7716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Warehouse strengths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A5D574-F42F-479D-ACA6-2A33C176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114550"/>
            <a:ext cx="27241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Managed tables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SQL performance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Schema and access controls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5FBB18-57BE-4395-9706-0CA75621B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19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ADFA12-B4D0-4703-BD53-D0BD450D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1925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186078-245A-4850-A77C-F1DE07BF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7716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Lakehouse 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E89E3B-2550-4EF2-8B45-A5782B63C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114550"/>
            <a:ext cx="27241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Open formats + transactions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Engineering + BI + AI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Unified governance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7F7BB4-4DD4-4D11-AB73-46930596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524375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Delta adds a transaction log to table data stored in Parquet.</a:t>
            </a:r>
          </a:p>
        </p:txBody>
      </p:sp>
    </p:spTree>
    <p:extLst>
      <p:ext uri="{BB962C8B-B14F-4D97-AF65-F5344CB8AC3E}">
        <p14:creationId xmlns:p14="http://schemas.microsoft.com/office/powerpoint/2010/main" val="20833758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480049-99B9-4260-B33E-62A7D7E0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1E65F-BB01-481C-87C8-584A0478F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Five objects to remember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91BEB-094F-4601-A646-3779750B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Use these names consistently throughout the class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F52B4-4991-4BD1-8503-05362EC8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AC4D6-E1F5-4694-8D74-892A4AA5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AZURE DATABRICKS  •  LESSONS 1–2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1F581-9CDA-46A4-BE3A-C82DE0C1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E1ABBE-022D-4E0F-86EB-8C76F251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2000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3C5C66-33A6-4067-8AFD-693D9CCB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4312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714C7B-7649-4284-AE6D-0CBDE0B5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622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Workspace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FCB2A6-6EAA-4753-8031-1439656CB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collaboration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345F61-FF39-4FDD-8837-30A89AFA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952625"/>
            <a:ext cx="2000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618570-5E45-4D55-83EA-F68C53F2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14312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6968CF-A95C-4764-92B1-D909E64D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622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Notebook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8AD665-2128-4B3B-8F9A-922FDBB1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19087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code + results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224BCC-5E91-436E-AC37-A339446E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952625"/>
            <a:ext cx="2000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20DCAE-A1BC-4AFA-80D7-3CC7ABD3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14312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254AE7-D21C-41E2-81F1-C01AF14F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622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Compute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44D5E6-6838-4249-ADF0-F735D998A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19087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execution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25EE7C-F4E7-4174-A542-1651E79D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52625"/>
            <a:ext cx="2000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48C79A-1EA1-40D6-8894-C5A716A92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4312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9C0B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49C0B6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DC55BD-3279-4967-A495-E2F5486E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7622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Unity Catalog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C71EE0-A94B-448D-B210-2189CA8B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9087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5E0E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D5E0E8"/>
                </a:solidFill>
                <a:latin typeface="Bitstream Charter"/>
                <a:ea typeface="Bitstream Charter"/>
                <a:cs typeface="Bitstream Charter"/>
              </a:rPr>
              <a:t>governance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69731B-E2D0-4639-B81A-665A4C71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952625"/>
            <a:ext cx="2000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DC3AF9-989F-490E-B6C0-02CFA918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143125"/>
            <a:ext cx="47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33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B2D49B-E024-4BE9-9EA0-9CBB2685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762250"/>
            <a:ext cx="1619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Delta table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AD6132-6E9F-48A9-A2F7-4DFBA042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190875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reliable data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69A275-081C-478B-979E-135A2AF7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72000"/>
            <a:ext cx="981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Notebook code runs on compute; governed tables live under Unity Catalog names.</a:t>
            </a:r>
          </a:p>
        </p:txBody>
      </p:sp>
    </p:spTree>
    <p:extLst>
      <p:ext uri="{BB962C8B-B14F-4D97-AF65-F5344CB8AC3E}">
        <p14:creationId xmlns:p14="http://schemas.microsoft.com/office/powerpoint/2010/main" val="13659224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FB6FDB-6481-4FF8-B626-7EABF8E67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5A407D-9BCD-41FC-B41A-76AE067D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Workspace and compute choices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429299-D8EE-4916-9465-E4CE2A3CB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Select by policy, network and workload—not habit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912145-947F-4592-BE5F-2CC54030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D9031-F3F1-4EFE-AEBE-D4B095FA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AZURE DATABRICKS  •  LESSONS 1–2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BCAD5-B728-4778-9E63-944359E7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486526-3029-4ADF-B202-86B08B0A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8FDB17-C937-4382-8E6D-1949F1E0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75573F-CBDE-4385-AC43-37A79F659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1927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Serverless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E82537-73D1-470C-AE1E-94031B7B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62175"/>
            <a:ext cx="2914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Fast startup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Infrastructure managed by Databricks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Best training default when enabled and approved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ED01D2-2AF3-4ED6-B38E-F2BFB2524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2CCA68-81A2-4947-B72B-B03BFC3C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29DC02-321E-4532-8CA2-F92D0BD6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81927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Classic all purpose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4416A6-97B1-4DFC-A85F-8CC17141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62175"/>
            <a:ext cx="2914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Interactive notebooks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Runtime and node configuration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Use policy and auto termination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9A7432-A7E5-4793-848B-86300DD2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66875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9F5757-04BB-49E4-8C8B-4386F069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66875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72C6A8-0189-41F6-A00D-76903586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1927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SQL warehouse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8A9F93-4EB0-4F59-8F31-F827D29C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62175"/>
            <a:ext cx="2914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SQL editor and BI queries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Optimized SQL experience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Not a general Python cluster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562CC5-30C7-4872-8730-EB03E13A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2437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Workspace deployment may offer Serverless capabilities or a classic Hybrid model.</a:t>
            </a:r>
          </a:p>
        </p:txBody>
      </p:sp>
    </p:spTree>
    <p:extLst>
      <p:ext uri="{BB962C8B-B14F-4D97-AF65-F5344CB8AC3E}">
        <p14:creationId xmlns:p14="http://schemas.microsoft.com/office/powerpoint/2010/main" val="17619098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43479E-B576-411F-B689-CD2F1F0F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2D018B-9757-42F8-B060-1DE67CF1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Architecture in one picture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9B860-EA22-4C2E-A5BB-4B451E7CD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Management, execution, storage and 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54204-E09E-46FC-9764-6FDBD374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870B52-1AA5-48DD-B8CB-7A6AB5B5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AZURE DATABRICKS  •  LESSONS 1–2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86361E-247B-4F7F-9E77-EFDB9A48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2C4578-E9E1-4309-8A89-B675B844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476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E61332-1358-4F3C-9BC9-8A676D27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1D1A79-0BA7-4350-8845-DCBE5767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66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Control plane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606369-1A26-4FD3-9C5E-22A1B3FA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0574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Workspace UI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Notebook metadata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Service management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DAAFC9-44E7-451B-BEF8-CBA0063D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14500"/>
            <a:ext cx="2476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6ACFBF-CE0F-44E1-BABD-900E66AA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1450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BEF3D2-8CB6-4586-AFFE-FB1B7865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866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Compute plane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DC7E07-CE4F-4D3E-8CE3-624DAE60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209800"/>
            <a:ext cx="20574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Driver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Executors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Spark tasks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BC6304-3FDF-4602-B578-4C76CC74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2476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499F64-0273-47EA-89FE-3D99BB56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90D34C-34D3-4222-AF15-0079D114B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66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Cloud storage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164AD5-D7E6-48D3-B069-A78E4EE4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9800"/>
            <a:ext cx="20574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Source files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Parquet data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Delta log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4082E6-0017-4603-BB6E-A22470C8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714500"/>
            <a:ext cx="2476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F6DD63-577F-4467-BCAB-3717C2030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71450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613850-3726-4C3F-A7CA-68C88F86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866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Unity Catalog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F81F12-5DBC-40A6-9B29-25495240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209800"/>
            <a:ext cx="20574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Names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Privileges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Lineage and discovery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A44751-D55C-4DD4-A92D-FCBEDCDC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Learner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72DDDE-6A90-4034-9F91-01F7D2FF7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005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Open notebook → select compute → read or write a governed object</a:t>
            </a:r>
          </a:p>
        </p:txBody>
      </p:sp>
    </p:spTree>
    <p:extLst>
      <p:ext uri="{BB962C8B-B14F-4D97-AF65-F5344CB8AC3E}">
        <p14:creationId xmlns:p14="http://schemas.microsoft.com/office/powerpoint/2010/main" val="146640380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26C985-5A96-4EA5-B2B8-887523C7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717C87-E347-4F4F-B758-1ACBFC5D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Spark execution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4A127C-AC96-4B47-9474-3134EF3C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The driver coordinates work across executor processes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F527E-845D-40DA-84FD-810F7F8F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000325-0842-4DAC-92C2-3882A575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AZURE DATABRICKS  •  LESSONS 1–2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01BBB-8775-42B7-BC29-943E49F7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C951AC-AB27-4258-AB62-2AA762D4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2476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020EEF-E3A1-4281-A25A-E00A54D7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8125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DRIVER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9DBAC2-CF56-4A84-AF5A-77F3F95A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57500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7E3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D7E3EB"/>
                </a:solidFill>
                <a:latin typeface="Bitstream Charter"/>
                <a:ea typeface="Bitstream Charter"/>
                <a:cs typeface="Bitstream Charter"/>
              </a:rPr>
              <a:t>Builds plan</a:t>
            </a:r>
          </a:p>
          <a:p xmlns:a="http://schemas.openxmlformats.org/drawingml/2006/main">
            <a:pPr algn="ctr">
              <a:defRPr sz="1200" b="0">
                <a:solidFill>
                  <a:srgbClr val="D7E3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D7E3EB"/>
                </a:solidFill>
                <a:latin typeface="Bitstream Charter"/>
                <a:ea typeface="Bitstream Charter"/>
                <a:cs typeface="Bitstream Charter"/>
              </a:rPr>
              <a:t>Schedules tasks</a:t>
            </a:r>
          </a:p>
          <a:p xmlns:a="http://schemas.openxmlformats.org/drawingml/2006/main">
            <a:pPr algn="ctr">
              <a:defRPr sz="1200" b="0">
                <a:solidFill>
                  <a:srgbClr val="D7E3E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D7E3EB"/>
                </a:solidFill>
                <a:latin typeface="Bitstream Charter"/>
                <a:ea typeface="Bitstream Charter"/>
                <a:cs typeface="Bitstream Charter"/>
              </a:rPr>
              <a:t>Collects status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EAFB43-606A-4F31-8DBA-BD16D4A4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193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rPr>
              <a:t>tasks 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9F036C-7E90-4395-8C9D-BFE70C7D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62125"/>
            <a:ext cx="266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25F997-303F-4C5A-9423-E0E1E983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762125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A8108D-F22D-44D9-9479-F82679DA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9145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Executor 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5E1637-4EAB-4B1C-B362-39909D88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257425"/>
            <a:ext cx="2247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Partition 1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Partition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27B681-50FA-4923-99FB-1A1005F6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76625"/>
            <a:ext cx="2667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4A4FD7-AEC4-4FEB-B374-C77724C72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476625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0A89ED-001E-41C8-A4FA-DCD7F328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290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Executor 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DD45A9-F6D8-4BB5-A0BE-C9195A713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971925"/>
            <a:ext cx="22479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Partition 3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Partition 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46E1DA-C337-4002-96D0-28FC55D4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33625"/>
            <a:ext cx="2857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B3AA62-1547-4C17-9DA9-072113F1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33625"/>
            <a:ext cx="76200" cy="2000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A2956C-07F2-4117-B718-4BFD4405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4860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Storage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E64168-6055-49B4-A0DA-A89BF6801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828925"/>
            <a:ext cx="24384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Read partitions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Write result files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Commit Delta version</a:t>
            </a:r>
          </a:p>
        </p:txBody>
      </p:sp>
    </p:spTree>
    <p:extLst>
      <p:ext uri="{BB962C8B-B14F-4D97-AF65-F5344CB8AC3E}">
        <p14:creationId xmlns:p14="http://schemas.microsoft.com/office/powerpoint/2010/main" val="66810219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401C95-B569-42C1-BDE9-A6A6D262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0B0258-4B2C-486E-8AC7-578BC3024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RDD, DataFrame and SQL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A4EF5-2B17-40CF-A716-E57EA7CB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Three interfaces, one Spark engine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55023-A1CD-41F6-91D8-975680A0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B0AC9-4996-4975-ACED-1F9945C65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AZURE DATABRICKS  •  LESSONS 1–2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93571-3B2C-43FF-8847-C53DB17C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128E0-F76A-43DC-B8A9-5871181D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BA545-BC02-43FA-AC42-B83FE3D8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7620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687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4F74D0-BAE6-4270-AA1D-2D2A8126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8669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RDD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E3133-A215-4C4B-8CB2-4325F0D0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209800"/>
            <a:ext cx="27241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Low-level distributed collection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Flexible but fewer structural optimization opportunities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Concept only in this course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0F231-AABC-4A8E-9D1C-CCCCE7FF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1450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17D2E0-F19D-45EB-B0C7-09775E2E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14500"/>
            <a:ext cx="7620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EA6149-9C09-4322-AFDE-A6E418D4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8669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DataFrame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8C2EBE-A959-4ADD-BC80-55F2FAE6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209800"/>
            <a:ext cx="27241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Named columns and schema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Optimizable logical plan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Primary PySpark interface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DF6512-16D1-42C8-BD2D-8EDEEE80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14500"/>
            <a:ext cx="3143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963A6C-7FB5-4A8F-85B7-313D6B5C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14500"/>
            <a:ext cx="76200" cy="2476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4C3C66-52E9-4351-B3C7-695A847E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8669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Spark 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4B74A1-CB20-4034-AD7B-7A21AF2AD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209800"/>
            <a:ext cx="27241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Declarative SQL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Uses the same engine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Ideal for analysts and 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B9CA4B-5596-48D4-85C3-9C7AA22D4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19625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Default choice for structured data: DataFrames and SQL.</a:t>
            </a:r>
          </a:p>
        </p:txBody>
      </p:sp>
    </p:spTree>
    <p:extLst>
      <p:ext uri="{BB962C8B-B14F-4D97-AF65-F5344CB8AC3E}">
        <p14:creationId xmlns:p14="http://schemas.microsoft.com/office/powerpoint/2010/main" val="14056243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C8740A-AD55-4D62-84BC-A9D9B736A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B9B6B-6CF0-4809-A1BE-236ADBEE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Lazy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DA601-805A-46AF-B8CE-196386A0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Transformations build a plan; actions request a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561B0B-5C26-42C1-9A1F-8A31F7825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2FBA1B-C03C-4D8C-B503-72105A2A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AZURE DATABRICKS  •  LESSONS 1–2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E8EA99-57FD-4EF7-B3F1-29393903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908B2-9F5B-4F1E-85A9-6391D72C5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8E3DB1-3358-4CB5-80DC-725FF663F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335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TRANSFORMATIONS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8FEAE-B0D2-4591-99D2-694F4426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rPr>
              <a:t>DESCRIBE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A31C34-AFD0-4537-96A5-A3D9A0CC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71725"/>
            <a:ext cx="26670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D61932-E645-48F9-9CE9-DB1FD4CC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23241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select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filter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withColumn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groupBy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333D28-5C1F-4D47-A4FA-D4DCB279C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051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074D01-2744-409C-BBF9-8AE10C2AB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2952750" cy="276225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1A19B3-610E-4D86-A689-02BF1C91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336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LOGICAL 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6D8455-6C4F-4565-9DE0-4F88C3EC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048000"/>
            <a:ext cx="2000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E5E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D9E5EC"/>
                </a:solidFill>
                <a:latin typeface="Bitstream Charter"/>
                <a:ea typeface="Bitstream Charter"/>
                <a:cs typeface="Bitstream Charter"/>
              </a:rPr>
              <a:t>Spark can reorder, prune and optimize operations before execution.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1A3D46-6A02-47D9-A4D5-5BE40DB69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905125"/>
            <a:ext cx="76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CB3B3A-724D-4F0E-9611-C973C950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7D5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2D2779-E732-49E2-9D8F-A188ECE7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335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ACTIONS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CD6B4E-AED3-4CC1-8FB7-966FE493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rPr>
              <a:t>TRIGGER WORK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135A05-0A89-43E7-82BF-A7290A01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71725"/>
            <a:ext cx="26670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4894F6-529C-4735-8B4B-DEE8F1856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66975"/>
            <a:ext cx="23241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display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count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collect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write</a:t>
            </a:r>
          </a:p>
        </p:txBody>
      </p:sp>
    </p:spTree>
    <p:extLst>
      <p:ext uri="{BB962C8B-B14F-4D97-AF65-F5344CB8AC3E}">
        <p14:creationId xmlns:p14="http://schemas.microsoft.com/office/powerpoint/2010/main" val="28320173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01EEB1-76C5-41AB-B200-C561F2F0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1762EE-87D4-4646-9A41-051A58061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Notebook essentials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C74CB-EC3A-4863-BEB4-E0530885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Create, connect, run and validate in small steps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DB5D3-5616-4672-A09E-3F5E74CB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7449C7-694E-4864-9616-80C166C1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AZURE DATABRICKS  •  LESSONS 1–2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E486EE-9EE9-4ECD-96DA-AAFDD61A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13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ba0b71238b4eff"/>
          <a:stretch xmlns:a="http://schemas.openxmlformats.org/drawingml/2006/main"/>
        </p:blipFill>
        <p:spPr>
          <a:xfrm xmlns:a="http://schemas.openxmlformats.org/drawingml/2006/main">
            <a:off x="666750" y="1930101"/>
            <a:ext cx="10858500" cy="616548"/>
          </a:xfrm>
          <a:prstGeom xmlns:a="http://schemas.openxmlformats.org/drawingml/2006/main" prst="roundRect">
            <a:avLst>
              <a:gd name="adj" fmla="val 100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53C4BB-38F8-4453-B847-8AC38675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33750"/>
            <a:ext cx="2381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DEF12-4A57-4595-894C-515BBC54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3375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734C6F-F18B-4C4D-8BA0-30EA471A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4861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1  Create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F1A4EC-C70D-4229-A4AB-C9E39709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829050"/>
            <a:ext cx="1962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New → Notebook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Name by purpose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82DF44-6FF0-4091-B5A3-90B31408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33750"/>
            <a:ext cx="2381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2E6D18-3937-44B5-8D9A-88676E8A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3375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E4CD21-FD64-433D-8077-35392536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4861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2  Connect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C31EF5-0F30-4547-9E23-1B8FE1D48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829050"/>
            <a:ext cx="1962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Select permitted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serverless or classic compute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A01E54-C4AD-437C-BCCD-F48833A7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33750"/>
            <a:ext cx="2381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62B2E2-076A-4320-B122-33051B7B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3375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37B671-4F44-476B-A1F3-8E863C2C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4861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3  Run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96633E-3F13-4105-8BA1-FBAF3CC9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829050"/>
            <a:ext cx="1962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Execute one safe cell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then Run all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E5AEC7-FC6C-43EF-AC82-6F2C8EC0E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333750"/>
            <a:ext cx="23812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D9C7E6-6B89-4DD9-AA82-7B4DAF60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333750"/>
            <a:ext cx="762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C9EA8C-BBB0-4D13-9797-7996F9FB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4861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4  Validate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02A62F-E032-43FC-BC49-B71FE29A3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829050"/>
            <a:ext cx="1962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Inspect schema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rows and errors</a:t>
            </a:r>
          </a:p>
        </p:txBody>
      </p:sp>
    </p:spTree>
    <p:extLst>
      <p:ext uri="{BB962C8B-B14F-4D97-AF65-F5344CB8AC3E}">
        <p14:creationId xmlns:p14="http://schemas.microsoft.com/office/powerpoint/2010/main" val="4917098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538A26-EDAD-4A9B-838B-8EA96F8C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BB84B-C4D7-42FA-8401-08A9D8BE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Notebook languages and cell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AA7CF-CED0-495F-9357-5F6F6BA6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Keep setup, transformation, validation and publishing separate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348381-55C5-49B5-A806-265B9630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89B4BA-59F7-40EA-88B4-029309C4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AZURE DATABRICKS  •  LESSONS 1–2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7086B-B91F-4265-A14D-4D8D24357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A6C476-DA2A-402B-8CC0-98288CFB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rPr>
              <a:t>PYTHON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975EFA-BB5F-46DE-80B8-61EA079D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43100"/>
            <a:ext cx="5048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4149A9-5C37-4CFB-847C-93C34014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038350"/>
            <a:ext cx="47053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from pyspark.sql import functions as F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orders_df = spark.createDataFrame(data, schema)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47B56E-9E7E-4BD6-959F-D450F5AF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714500"/>
            <a:ext cx="504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rPr>
              <a:t>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288F30-A5C1-4EC4-A9F5-364876F9C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43100"/>
            <a:ext cx="5048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D0F649-B99F-4323-84CA-A3AACB62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038350"/>
            <a:ext cx="47053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%sql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SELECT product, SUM(order_total)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FROM orders_work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GROUP BY product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A7D9B4-D2F8-4E28-97E8-7B370DEF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05250"/>
            <a:ext cx="3333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B14E43-3C0D-4040-9150-D39FCF64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05250"/>
            <a:ext cx="762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5DCDE4-752F-4561-B184-C86DEFC6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0576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Setup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1363CC-3777-47D6-9007-6DA42E42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40055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Imports, parameters and source paths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D29B2F-965A-449C-ACF5-966F6654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05250"/>
            <a:ext cx="3333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726738-D9F7-420F-A8D5-B8728D261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05250"/>
            <a:ext cx="762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90582E-1431-4B5E-B935-8BF318C0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576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Transform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F6C119-B1FF-4978-B78C-DE6E275D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40055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Clean, derive and aggregate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898D19-46DF-4ED3-A65B-ABC9DBAC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05250"/>
            <a:ext cx="3333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507431-5591-4A5E-B7A8-00F2646D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05250"/>
            <a:ext cx="762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7D1085-4DB4-43D0-B644-6F2E459F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0576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Publish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4DBB56-F21B-4968-9D44-0B426C3F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40055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Write, validate and record evidence</a:t>
            </a:r>
          </a:p>
        </p:txBody>
      </p:sp>
    </p:spTree>
    <p:extLst>
      <p:ext uri="{BB962C8B-B14F-4D97-AF65-F5344CB8AC3E}">
        <p14:creationId xmlns:p14="http://schemas.microsoft.com/office/powerpoint/2010/main" val="8331731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95326A-07C8-4D3A-BC0E-9FED214C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A7FC56-62DC-4484-86B1-D6932B656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Choosing classic compute safely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AD8E20-41A7-459B-A7AB-B0E959DA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Use the simplest policy-compliant configuration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BF8CCA-9CEC-4AEF-AD2E-E5BFED61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80B975-E3C5-4AAA-831B-AC10C276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AZURE DATABRICKS  •  LESSONS 1–2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F2E90E-7F58-4F1E-8CDE-591BBA51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72BDF-C80F-451E-9E6C-F583F7F0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B1F01-22B7-4023-8A2F-9C863F64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383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Policy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D334EF-627C-4BFE-800F-8844134E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6192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Trainer-approved limits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08350-FCF5-46A2-A1DA-79FD4C5B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6220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45D400-B54D-4962-8AA7-B2686FA7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Runtime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68AD5E-8314-4F2A-AD7E-3AB70810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622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Current supported or approved LTS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5238F6-7F82-4398-8241-B3694477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0515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4D7006-1629-45C6-B0C3-AE3979F9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24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Access mode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9A1EDE-4A74-4DD7-B651-7296426D8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1051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Standard for Unity Catalog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7D4245-FD08-4777-ADC4-FB40AADB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4810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ECC70C-024F-442C-AE00-ACF219B6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671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Autoscaling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34B2BA-3FF8-449A-AB04-4A7AFE3EB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8481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Small minimum and maximum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E6BD37-06AF-45CA-B41E-CD016A2E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91050"/>
            <a:ext cx="1809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4D02BE-3CBE-4F20-9ACA-68CE18039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101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Auto termination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510D0A-F6B4-47B7-B6D9-4172C7C95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45910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Mandatory for interactive labs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8FE897-3B17-4264-BA8B-4E7FEABC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76875"/>
            <a:ext cx="1000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8FCB278-F247-42BE-9EE5-D6894E27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667375"/>
            <a:ext cx="838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Use serverless instead when enabled, approved and suitable.</a:t>
            </a:r>
          </a:p>
        </p:txBody>
      </p:sp>
    </p:spTree>
    <p:extLst>
      <p:ext uri="{BB962C8B-B14F-4D97-AF65-F5344CB8AC3E}">
        <p14:creationId xmlns:p14="http://schemas.microsoft.com/office/powerpoint/2010/main" val="10890846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32052F-814D-485B-8E27-D013E2A3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E04113-8B72-42F7-952D-5B448D1C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Recent compute configuration UI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25877F-C35B-46E9-8E6B-45BE59CA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Fields vary by policy and workspace capability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903D2-0AE9-4620-9864-F49E615B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1AFE65-8B0E-4710-8885-C80A1961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AZURE DATABRICKS  •  LESSONS 1–2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7B33A6-2FF0-45F5-BDE2-CCF24A00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16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008d6a04243c3"/>
          <a:stretch xmlns:a="http://schemas.openxmlformats.org/drawingml/2006/main"/>
        </p:blipFill>
        <p:spPr>
          <a:xfrm xmlns:a="http://schemas.openxmlformats.org/drawingml/2006/main">
            <a:off x="1128993" y="1571625"/>
            <a:ext cx="5266765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025B69-A4CA-442D-8366-ABE79E9A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62125"/>
            <a:ext cx="4000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9DFFAF-2DCB-42FC-8289-223E5D29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62125"/>
            <a:ext cx="7620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D90978-D4DE-4484-8DB9-E0FE26F6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1452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Check policy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2D81F4-2CDB-490D-9063-F143D2B7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57425"/>
            <a:ext cx="358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29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The policy controls permitted runtimes, sizes and limits.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8F242E-910E-4A9C-9F5B-8B0BB7D3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4000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9F18A3-DA3F-4889-816C-028EBF2D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7620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5DE2DB-F15D-4A4A-956D-134920E1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2004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Check access mode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5E6A7C-F1FB-428C-9A04-5A3143C2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43300"/>
            <a:ext cx="358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Use a Unity Catalog-compatible mode approved for the class.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84F87A-52CD-4A81-9864-0B273AF1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33875"/>
            <a:ext cx="40005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C0CAC1-8233-4F09-A998-8B660EA53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33875"/>
            <a:ext cx="76200" cy="1047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7A34E8-2CD9-4D0A-82BE-B2124187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486275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Check cost controls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87A104-B5C5-49E4-88D3-9F190A58F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829175"/>
            <a:ext cx="3581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Small limits and auto termination reduce idle spend.</a:t>
            </a:r>
          </a:p>
        </p:txBody>
      </p:sp>
    </p:spTree>
    <p:extLst>
      <p:ext uri="{BB962C8B-B14F-4D97-AF65-F5344CB8AC3E}">
        <p14:creationId xmlns:p14="http://schemas.microsoft.com/office/powerpoint/2010/main" val="12510926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B4D8A3-1FB8-4AAD-8D27-08D993A5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3923A2-395A-41EE-9224-453EEF4CA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Lesson 1 demonstration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CBD213-A601-4BFA-9C9C-42D1DB5C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Create the notebook, build the DataFrame, then query 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2B59BE-ED25-46DA-AB9E-5B1F9F40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97F23-7223-486D-AEA1-73A2F084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AZURE DATABRICKS  •  LESSONS 1–2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353A3-CF44-4296-9262-FD6329194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17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d7ea2e037f4476"/>
          <a:stretch xmlns:a="http://schemas.openxmlformats.org/drawingml/2006/main"/>
        </p:blipFill>
        <p:spPr>
          <a:xfrm xmlns:a="http://schemas.openxmlformats.org/drawingml/2006/main">
            <a:off x="619125" y="2487288"/>
            <a:ext cx="5905500" cy="1883423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1E3C18-024B-458D-B6EA-5C443917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571625"/>
            <a:ext cx="4476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02211A-1D9F-4542-84F9-57EA1D26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571625"/>
            <a:ext cx="762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860B42-BC24-43CC-837F-61B98C2A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7240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01  Create 01 Foundations Orders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264925-CEDE-4F8E-BD98-28FD6D2D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066925"/>
            <a:ext cx="40576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3CDF96-6968-4CDE-AAA7-0A42BED5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352675"/>
            <a:ext cx="4476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F63B53-09EF-4956-9913-97BEFDDE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352675"/>
            <a:ext cx="762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01E0EC-F109-484B-89D5-D5178E67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5050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02  Verify compute with spark.range(5)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BA4862-D134-4F94-BF5A-CA6F28D6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847975"/>
            <a:ext cx="40576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102F61-F656-4933-AFF3-1BC6C5AB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33725"/>
            <a:ext cx="4476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E44CF3-0516-43CE-8C73-7B921A30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133725"/>
            <a:ext cx="762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9979E8-24F2-4175-8CB7-E78398CD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2861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03  Create orders_df and printSchema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B966D8-8138-402B-BA5A-DE188475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629025"/>
            <a:ext cx="40576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B43DCD-9194-47D5-AAE7-5CE70C7D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14775"/>
            <a:ext cx="4476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A800CE-E2A3-4DD1-AC94-5992994C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914775"/>
            <a:ext cx="762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548920-9B47-4E99-9CAD-D228888D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06717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04  Derive order_total and display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A8C72B-1DF6-40C4-A12B-DF054A2D6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410075"/>
            <a:ext cx="40576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A3850C-6870-46DF-B69B-4E806480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695825"/>
            <a:ext cx="4476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BE0230-111D-423F-9CAE-E517827C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695825"/>
            <a:ext cx="76200" cy="647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F83DEB-142F-42F0-A631-9C8E8D22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848225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05  Register orders_work and run SQL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8EEE3D-59A1-4DC8-B27E-23E44A34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191125"/>
            <a:ext cx="40576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7149390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628F70-1292-407C-95B5-2E925416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C593DD-4538-44F1-A814-80BE9CD1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CSV, JSON, Parquet and Delta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8ACF43-76FB-4360-B028-873ADF33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Choose a format based on structure and reliability needs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BF3B7-3D03-42F7-9B8B-C332B09A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549D5-C85B-4EE5-895E-7F1B34947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AZURE DATABRICKS  •  LESSONS 1–2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81DCE4-CEFA-46D7-A270-0BB9098F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545AD-C3DD-40AB-A512-F2536D85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2571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6E809A-800A-430A-B304-A9093BCF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0975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B687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91DACD-E525-4F27-8CDA-9610FD4B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1431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CSV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DFDDB-EA97-49BA-95FE-F67747CB9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8098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rPr>
              <a:t>Exchange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B13813-C0DA-424E-9D5F-202CE411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337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Simple, no embedded types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076745-DF53-4FA7-BBC2-71CC2D507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09750"/>
            <a:ext cx="2571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832693-2030-42DC-99B6-4E015FBD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0975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853954-3181-4663-BBEC-8118A846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1431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22D073-0435-4C46-9B66-25A95BE0B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8098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rPr>
              <a:t>Events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884CC4-8ABE-47DC-835E-AE869F3DC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3337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Nested but verbose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A39390-736F-472F-A92D-6F0ABD7C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0"/>
            <a:ext cx="2571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828ACF-792E-49A8-AE44-DC79EA43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0975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7C1604-7BF4-4451-875F-BB766159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1431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Parquet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8F2F25-DE0E-451B-83D0-FA04825B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8098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rPr>
              <a:t>Analytics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5644C1-4054-40A3-A128-68D1A6140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3337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Columnar and compressed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CC1128-8F5C-4B63-83D8-B7BE9DAB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09750"/>
            <a:ext cx="2571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1B3C0B-912E-463D-8D8D-A89BF1F0A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809750"/>
            <a:ext cx="25717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F4C2F7-EFBA-4EA0-A4B5-01D3D62A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143125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Delta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1222BE-9610-4C74-A2EE-B7B0790E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8098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rPr>
              <a:t>Trusted tables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7F434C-866F-4036-8332-F426D2D1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3337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Parquet + transaction log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FFFBBB-27B5-48E5-B2DC-FBB84852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625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Parquet is columnar—but transactions, history and time travel come from Delta.</a:t>
            </a:r>
          </a:p>
        </p:txBody>
      </p:sp>
    </p:spTree>
    <p:extLst>
      <p:ext uri="{BB962C8B-B14F-4D97-AF65-F5344CB8AC3E}">
        <p14:creationId xmlns:p14="http://schemas.microsoft.com/office/powerpoint/2010/main" val="97368968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582A77-126D-43C2-B3BC-2CA472FD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588527-5BF8-47D5-A129-A80220E5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Build the orders DataFrame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CCDE45-FBFA-41DB-8B85-9ACA34956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A tiny input teaches the same API used at larger scale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A2227D-3070-4D0A-AB75-41A1A480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9281D-0121-4DAA-B5B0-AB867D13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AZURE DATABRICKS  •  LESSONS 1–2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7ABDE8-28C8-4EFF-B56F-121CF2FA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F381EE-AF3C-4B1F-816E-DF62BE6F5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rPr>
              <a:t>PYTHON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98B79-3937-4379-A1FE-22BEA7CD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6572250" cy="3295650"/>
          </a:xfrm>
          <a:prstGeom xmlns:a="http://schemas.openxmlformats.org/drawingml/2006/main" prst="roundRect">
            <a:avLst>
              <a:gd name="adj" fmla="val 2312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36D97A-E559-46A9-A044-043133C8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43100"/>
            <a:ext cx="622935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orders_df = spark.createDataFrame([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  (1001, 'Keyboard', 2, 45.00),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  (1002, 'Mouse', 1, 25.00),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  (1003, 'Monitor', 2, 220.00)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], ['order_id','product','quantity','unit_price'])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F5054-B610-4C96-88FF-BBB6B629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66875"/>
            <a:ext cx="3524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558EF0-FA6E-4356-A54E-5045B61C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66875"/>
            <a:ext cx="7620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96AE53-5CB4-4B47-802D-6633135F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192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Schema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D804C5-CC28-4F9F-B424-BE1F83BE3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62175"/>
            <a:ext cx="3105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Named columns let Spark plan expressions.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AE1803-E81C-4F48-A62E-D24A6BFC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05125"/>
            <a:ext cx="3524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939A3E-6083-4581-960E-B0370741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05125"/>
            <a:ext cx="7620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928EAE-5E84-4FF6-B60B-3B899ACB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575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Partitions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DB03CE-AA8F-451D-B399-976F8259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00425"/>
            <a:ext cx="3105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Rows can be processed across executor tasks.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F955FC-3B4E-4CE5-BAF8-01E98415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43375"/>
            <a:ext cx="3524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43B2EB-351F-40F3-9B91-5F9363C7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43375"/>
            <a:ext cx="76200" cy="1000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D84209-2CC7-41AA-BFCD-34B022791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2957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Same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A38E6E-8132-4C69-AE5C-30C17392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38675"/>
            <a:ext cx="31051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63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The sample is small; the DataFrame model scales.</a:t>
            </a:r>
          </a:p>
        </p:txBody>
      </p:sp>
    </p:spTree>
    <p:extLst>
      <p:ext uri="{BB962C8B-B14F-4D97-AF65-F5344CB8AC3E}">
        <p14:creationId xmlns:p14="http://schemas.microsoft.com/office/powerpoint/2010/main" val="67288576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2FA487-7C9F-4664-93A3-60D1A96A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78382-A737-463B-ABF9-3EBAAE55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Transformations and actions in code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99F96C-6B7E-465D-A25D-55A19962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Name what is lazy and what triggers execution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04DAC4-943C-4DF9-B94F-87620E84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0CC5A-F695-4FE4-ACD5-8AAF6F1E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AZURE DATABRICKS  •  LESSONS 1–2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06ADEF-87A4-4FF8-861B-EC8BECBF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3BB8DF-D284-4D5D-9305-ED984D1F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rPr>
              <a:t>PYTHON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9C37EB-B343-4BB0-944E-23DAA0E1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0225"/>
            <a:ext cx="7239000" cy="35814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03011A-3760-4412-9874-3CE62C0C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95475"/>
            <a:ext cx="6896100" cy="339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result_df = (orders_df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  .filter(F.col('quantity') &gt; 0)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  .withColumn('order_total',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      F.round(F.col('quantity') * F.col('unit_price'), 2))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  .select('order_id','product','quantity','unit_price','order_total'))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display(result_df)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C56BDE-C1D8-4D9B-8175-09CCD5EC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62125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936082-9EB9-4750-8882-23C916E05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62125"/>
            <a:ext cx="762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333386-BF35-48A3-A2D3-020F8A97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9145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Transformations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BBB75E-951D-4F34-9CA3-E0F5F4FD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257425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2222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filter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withColumn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select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5C8426-C4A9-42E4-9CFA-E85ACE7C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86125"/>
            <a:ext cx="2857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12CA7D-CEF1-4585-AAED-6D1B347D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86125"/>
            <a:ext cx="76200" cy="1143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992828-3EDD-4324-AE0C-E86DC8CC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4385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76DE3F-D71B-4F14-86DD-358AA993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781425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display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EEAF16-D186-4C94-8414-81FE92D5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905375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659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Predict first. Run second. Validate third.</a:t>
            </a:r>
          </a:p>
        </p:txBody>
      </p:sp>
    </p:spTree>
    <p:extLst>
      <p:ext uri="{BB962C8B-B14F-4D97-AF65-F5344CB8AC3E}">
        <p14:creationId xmlns:p14="http://schemas.microsoft.com/office/powerpoint/2010/main" val="32658073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997BBB-C0B9-4588-B75D-0E5B4E12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10570-C36D-4083-8B15-7CFF8B1B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Spark SQL uses the same engine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39B361-FDBE-4FF4-8809-C700F1C9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A temporary view bridges DataFrame code and SQL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85AB7-2FFC-4220-BA65-FF988DF1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EE737A-D0AA-480C-82BD-4323FED8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AZURE DATABRICKS  •  LESSONS 1–2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2FF452-E24B-4C29-BCE3-470A2587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C4F92F-6A6C-4EE1-8AEF-2E5BE3AA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62125"/>
            <a:ext cx="485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rPr>
              <a:t>PYTHON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3D318-1457-4370-957F-28AD33C0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90725"/>
            <a:ext cx="4857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289B5-FC3E-474E-AD11-91E1D08FA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085975"/>
            <a:ext cx="4514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result_df.createOrReplaceTempView('orders_work')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87F2B-BEFA-4FAC-92CC-74D889F4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528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rPr>
              <a:t>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FBEFB1-E271-4154-ACDA-0399F66E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90725"/>
            <a:ext cx="5286375" cy="2009775"/>
          </a:xfrm>
          <a:prstGeom xmlns:a="http://schemas.openxmlformats.org/drawingml/2006/main" prst="roundRect">
            <a:avLst>
              <a:gd name="adj" fmla="val 3791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04B64-DB90-4E06-9FC4-CE95FDAA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85975"/>
            <a:ext cx="4943475" cy="1819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%sql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SELECT product, SUM(quantity) AS units,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       ROUND(SUM(order_total), 2) AS revenue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FROM orders_work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GROUP BY product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ORDER BY revenue DESC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B266B7-EB55-4819-9FAB-55E07DEB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81375"/>
            <a:ext cx="4857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AA6FA4-F843-491C-BD49-C8A33DD1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81375"/>
            <a:ext cx="76200" cy="1428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8B1141-B782-4DDE-ADDF-7D47C98E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53377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Expected leader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E4235A-60D2-49E9-900F-C04CFC5A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876675"/>
            <a:ext cx="4438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Monitor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2 units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440.00 revenue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829871-974A-4FB3-96E0-D8CBFD38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76750"/>
            <a:ext cx="557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81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Temporary view = session-scoped name, not a governed table.</a:t>
            </a:r>
          </a:p>
        </p:txBody>
      </p:sp>
    </p:spTree>
    <p:extLst>
      <p:ext uri="{BB962C8B-B14F-4D97-AF65-F5344CB8AC3E}">
        <p14:creationId xmlns:p14="http://schemas.microsoft.com/office/powerpoint/2010/main" val="122640278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C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DE669A-8741-4AF6-AFE2-1F384C0D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238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700" b="1">
                <a:solidFill>
                  <a:srgbClr val="49C0B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700" b="1">
                <a:solidFill>
                  <a:srgbClr val="49C0B6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5D6277-D5F7-4896-8E9F-9B8C7C55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190625"/>
            <a:ext cx="781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Lesson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342F9-49CB-446B-892C-6D2F5CC6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33625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9D8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C9D8E5"/>
                </a:solidFill>
                <a:latin typeface="Bitstream Charter"/>
                <a:ea typeface="Bitstream Charter"/>
                <a:cs typeface="Bitstream Charter"/>
              </a:rPr>
              <a:t>Unity Catalog governance and Delta publishing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A1DDF-0A67-4091-86AB-89C1F1FF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71850"/>
            <a:ext cx="6191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B3775-4E56-4BBD-BB31-B865511F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3855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Concept → demonstration → guided lab → assessment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8F9764-0384-481D-83B7-6F67971A8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9DB0B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9DB0BF"/>
                </a:solidFill>
                <a:latin typeface="Bitstream Charter"/>
                <a:ea typeface="Bitstream Charter"/>
                <a:cs typeface="Bitstream Charter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86853309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A4F7F6-2BB9-414D-BEB4-786E6E56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37A037-0E61-4DDD-AD35-319C8F19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Unity Catalog hierarchy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C17631-02D1-4B52-A8D3-3B74DF9E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Three levels make the target explicit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CD2BF-D6B6-48FC-A9A2-9EA71AC7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03F93-B110-4A68-8858-93B7E363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AZURE DATABRICKS  •  LESSONS 1–2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B2056C-3AAC-4F8D-AAC4-9FB573EA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F473B1-B808-4F9F-8811-17D4C4FA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05000"/>
            <a:ext cx="10572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344893-2054-4C6E-B39A-8B40F77FB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1455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9C0B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49C0B6"/>
                </a:solidFill>
                <a:latin typeface="Bitstream Charter"/>
                <a:ea typeface="Bitstream Charter"/>
                <a:cs typeface="Bitstream Charter"/>
              </a:rPr>
              <a:t>training_lab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788D0F-2805-40E3-BE01-7661BD2D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047875"/>
            <a:ext cx="42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CB1028-D247-4867-A17B-D2786F70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14550"/>
            <a:ext cx="276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student_01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6EDFBA-BF59-44CD-8276-87990E5E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047875"/>
            <a:ext cx="428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90EC57-9A9F-4C4A-A660-7D1284BB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1455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4B94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F4B942"/>
                </a:solidFill>
                <a:latin typeface="Bitstream Charter"/>
                <a:ea typeface="Bitstream Charter"/>
                <a:cs typeface="Bitstream Charter"/>
              </a:rPr>
              <a:t>orders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FA12EA-1287-4215-A9E5-B6674D6A8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33750"/>
            <a:ext cx="3143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BFF337-ABD6-4916-8074-0C53C88E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33750"/>
            <a:ext cx="76200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720CA5-435B-4ED1-A130-7C4FA4DED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4861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Catalog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ED6BE0-0BC4-4A30-9375-0F5B03562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829050"/>
            <a:ext cx="27241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Training domain or environment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6A64FE-054A-4E89-93F2-608E243BF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33750"/>
            <a:ext cx="3143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1C86BC-B4F2-407C-80CF-0075897C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33750"/>
            <a:ext cx="76200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FFB7A8-6639-49B1-BE31-1D1F19F7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4861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Schema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118860-BA89-4F5B-9D81-23ADA75E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829050"/>
            <a:ext cx="27241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Learner ownership area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716AF7-576A-4BA6-B55A-3D1AEF43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33750"/>
            <a:ext cx="3143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E50C8E-E0EB-4431-A46D-13BFF22B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33750"/>
            <a:ext cx="76200" cy="1381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D7695C-FEEF-4B5A-A6B4-77AD83C8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4861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Table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78EA08-4D65-4C51-B77A-80D5744D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3829050"/>
            <a:ext cx="272415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Governed dataset</a:t>
            </a:r>
          </a:p>
        </p:txBody>
      </p:sp>
    </p:spTree>
    <p:extLst>
      <p:ext uri="{BB962C8B-B14F-4D97-AF65-F5344CB8AC3E}">
        <p14:creationId xmlns:p14="http://schemas.microsoft.com/office/powerpoint/2010/main" val="36324771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A84F8ED-5788-4CC4-84F5-5CFE2404B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90B7C0-81FF-4041-8A8C-0CD50D000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One workspace, fourteen learner schemas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B74DC-440D-4EF9-A9FF-AEFF0169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Isolation without fourteen separate workspaces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CD8FD2-6668-4559-858C-3BFC18DA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6EE97-1601-45C3-AC21-B3BA63F9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AZURE DATABRICKS  •  LESSONS 1–2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83C6BA-60C8-47F7-A7F3-87ABDB7D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371B3-8E60-4F7C-BE43-718091B9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10763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FB9BB-9AF8-4F9C-BD0D-443D7F1AF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476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Premium Azure Databricks workspace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2CB0ED-66DB-46FF-BBBC-BF8ADAC2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09875"/>
            <a:ext cx="1333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CD7451-A0E8-4C58-B6E9-172C09DF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09875"/>
            <a:ext cx="66675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9253B7-CCD3-4908-8BCA-EF6DF5033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student_01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00D93E-2B8F-4EF3-80C8-E72EDE8B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CREATE TABLE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59C7A3-A6A5-4F17-855E-DE7462A1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09875"/>
            <a:ext cx="1333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0B612C-9EFC-4B61-82F7-0A0AFC58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09875"/>
            <a:ext cx="66675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F154C6-E1A2-43C6-8274-EF3C12DA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5275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student_02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CD4036-DCB5-4A35-B9A5-2D5C86E6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CREATE TABLE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195174-3737-4689-AB57-F08DFEAB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09875"/>
            <a:ext cx="1333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9CFA4D-7702-4F10-A641-78C70FB2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09875"/>
            <a:ext cx="66675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5662FC-5403-4DA4-83C9-F01CA6C3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5275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student_03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82AC18-74ED-45D5-94CF-B02625114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3337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CREATE TABLE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146080-E083-405B-BC1C-E6FC02742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809875"/>
            <a:ext cx="1333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AC79B9-4473-469D-98C6-8A25A985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809875"/>
            <a:ext cx="66675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EB5853-B83D-49B0-98D4-934C46D4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student_04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C603AE-C1DE-411C-A93C-87BB66D3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337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CREATE TABLE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90A005-2750-44D3-8988-74AEED18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09875"/>
            <a:ext cx="1333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FA56A6-260B-4E05-A882-EEE909CB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09875"/>
            <a:ext cx="66675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ABA601-0B30-4746-B136-96009851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5275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student_05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8107C1-4648-401E-9B21-0F66CE84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CREATE TABLE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4C7E25-4394-478F-B2EA-B7874B67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09875"/>
            <a:ext cx="1333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7833DE-F9A1-4418-A592-3BD834B5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09875"/>
            <a:ext cx="66675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EDA75F-4335-46F3-9FD9-01F7B599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5275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student_06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574827-D824-433A-9E8C-9B15F6CE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337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CREATE TABLE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CE24FD-F83E-457C-A347-6FF01689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09875"/>
            <a:ext cx="1333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0964A20-4AD3-49F5-9CD0-93CD60F9E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809875"/>
            <a:ext cx="66675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7CC100E-C75F-43DA-B9D2-3BEFA796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5275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student_07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F95350-2154-4CED-8D31-9D413056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337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CREATE TABLE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C0B75E-1187-42E9-9A50-757F4582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48125"/>
            <a:ext cx="1333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11A1DB-6415-4DCE-A6B0-0A89837E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48125"/>
            <a:ext cx="66675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366E205-3791-4C8F-BCB1-F49652EC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student_08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CC367F-CBA0-4B27-8E1F-24839396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CREATE TABLE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93EEE5-7DB9-4727-A213-3A1AFA72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048125"/>
            <a:ext cx="1333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27E177-4DB6-4D50-974B-3CDD5FD6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048125"/>
            <a:ext cx="66675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A2BE5AB-4E4B-43E4-8080-2BBA05D19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19100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student_09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8CA652E-B61C-4926-9A64-549BA017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720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CREATE TABLE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23169F-75AF-4CBF-9E82-5112F1A7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48125"/>
            <a:ext cx="1333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46750EF-29A6-41DC-8C0A-B22848D6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48125"/>
            <a:ext cx="66675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E52CE5-8ED7-4A63-BD13-80622346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9100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student_10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2414437-2774-4E28-9A69-E31CDBEA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720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CREATE TABLE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6145F3F-A53D-4EDC-9D7A-6393694E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48125"/>
            <a:ext cx="1333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485B4A6-398C-4F4F-931E-29F539FC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48125"/>
            <a:ext cx="66675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9F23D65-A1A5-4E51-8CDA-B662C3D1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19100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student_11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ED2E895-0AF9-497E-A48B-F74C304A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720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CREATE TABLE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03ABF74-640A-4E01-9E3B-AFB46206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48125"/>
            <a:ext cx="1333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DB50BB2-0981-4C88-81F6-9B282981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48125"/>
            <a:ext cx="66675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61CF94D-29D4-465F-9D52-78E1F53F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9100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student_12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503D12E-5686-4656-B3F9-2F04A302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720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CREATE TABLE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726EC57-55AF-4D7F-A4B0-8F8F945A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48125"/>
            <a:ext cx="1333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970F713-93E5-48A7-B448-3ED75783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48125"/>
            <a:ext cx="66675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37AC4F1-02CD-4B0C-9E5C-A6EB9B2D0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9100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student_13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73955A9-69CE-4BE9-8C83-13C67366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720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CREATE TABLE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62797C2-ADF6-45D6-9B95-D6CDB3AD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048125"/>
            <a:ext cx="1333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C2A70F1-0784-4E9B-A516-F69CF28B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048125"/>
            <a:ext cx="66675" cy="952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B0068EA-62A4-4D16-8A93-AB36AA51D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91000"/>
            <a:ext cx="109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student_14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B4BAE50-8589-421B-A849-467E02CF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57200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CREATE TABLE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519A4F2-070D-4474-B8D4-F3163AA4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81625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Shared group entitlement + narrow schema privileges + assigned names</a:t>
            </a:r>
          </a:p>
        </p:txBody>
      </p:sp>
    </p:spTree>
    <p:extLst>
      <p:ext uri="{BB962C8B-B14F-4D97-AF65-F5344CB8AC3E}">
        <p14:creationId xmlns:p14="http://schemas.microsoft.com/office/powerpoint/2010/main" val="193044430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996DBD-0C05-4C0F-9EDE-EBF08DBA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05E56-EE2C-4592-9D55-184EFACEA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Why Delta is more than a format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52E67-99D4-4E3D-B561-80EF329F1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Parquet data plus a transaction log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C44827-181C-477F-9798-74410818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087F6D-340E-4A5C-8780-6C966C6A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AZURE DATABRICKS  •  LESSONS 1–2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EA407-BD99-435C-BD7A-FFF4622D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808133-D032-44ED-AD38-2350C0E1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31432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CF53AF-DF8A-4474-9140-241A221E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76200" cy="2333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EDCB1-A0CE-43D6-80D6-88D5DB3C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192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Reliable commits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B1095-AB67-4EAF-A540-C0D5A7D3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62175"/>
            <a:ext cx="272415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ACID transactions expose a consistent table version.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28B671-DC23-4CDA-90E6-1AF8A43F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66875"/>
            <a:ext cx="31432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7BF097-5B1F-4DBB-8156-BBFFC183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66875"/>
            <a:ext cx="76200" cy="2333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CF5AC5-D501-4493-B862-B010FAF5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8192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Controlled structure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D7AE14-4B43-4527-976C-C9503D7F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162175"/>
            <a:ext cx="272415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Schema enforcement catches unexpected changes.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0FE330-0946-4799-9E39-5BCA20CC3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66875"/>
            <a:ext cx="314325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3CFE6C-035B-492C-8597-EAFD52F2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66875"/>
            <a:ext cx="76200" cy="2333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8E213D-3D1C-4A27-9425-F7867BF7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819275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Auditable evolution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C113C6-43E9-464F-94FB-C55D9904C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162175"/>
            <a:ext cx="272415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History and time travel expose prior versions.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7ECA65-7000-41C4-B0B5-FCC25DDC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2437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The log records committed table changes—not just filenames.</a:t>
            </a:r>
          </a:p>
        </p:txBody>
      </p:sp>
    </p:spTree>
    <p:extLst>
      <p:ext uri="{BB962C8B-B14F-4D97-AF65-F5344CB8AC3E}">
        <p14:creationId xmlns:p14="http://schemas.microsoft.com/office/powerpoint/2010/main" val="88904643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7980ED-5E3C-4264-B5B3-0850B20EF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B4C616-5C42-479E-9795-ED6CEAA5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Save the result as a governed Delta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28C0DA-CA5A-422E-95F8-D107C992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The three-level target is the safety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3572E3-3C74-4DB1-83BF-6232E80E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83174C-FEB6-48C7-BA64-7A01620C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AZURE DATABRICKS  •  LESSONS 1–2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DAC4B1-114C-42B5-8484-6AC60D02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C50EB0-63E2-42F5-8AAC-D1F9EBB7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939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rPr>
              <a:t>PYTHON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849A74-7FC5-4BD2-906C-0553FA14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95475"/>
            <a:ext cx="6572250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F9C39B-99F1-418E-AA6D-550CB085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990725"/>
            <a:ext cx="622935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result_df.write \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  .format('delta') \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  .mode('overwrite') \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  .saveAsTable('training_lab.student_01.orders')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BF21DC-F8E6-4525-9FCE-B4FE5A86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714500"/>
            <a:ext cx="3429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055FEA-46AC-443C-AC3A-048E1B0E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714500"/>
            <a:ext cx="76200" cy="904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FA5E58-EE4D-4541-B391-8587E66E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8669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format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085326-E49B-4EA2-ADDD-1131A61D8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209800"/>
            <a:ext cx="3009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Use the Delta table provider.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A4DF3D-7EEA-4C95-8EFB-65FB9F66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09875"/>
            <a:ext cx="3429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337825-8450-4757-8412-70BB2909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809875"/>
            <a:ext cx="76200" cy="904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12F3D0-6CB0-4541-A464-401D3B82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9622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mode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E5FCC2-FA21-40A8-8F29-A1D9D28D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305175"/>
            <a:ext cx="3009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Overwrite makes the isolated lab rerunnable.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38623C-031D-420B-B919-F07485716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905250"/>
            <a:ext cx="3429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0AFEF4-8A6E-4A9B-B36C-ACCBE4D5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905250"/>
            <a:ext cx="76200" cy="9048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41ACD6-CDC6-4985-93F2-70918A312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0576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saveAsTable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1FF68C-8899-4E4E-89B6-6CDB8B11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400550"/>
            <a:ext cx="30099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Persist and register the governed name.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5140D5-8A0D-4488-AF66-DBC9D906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23875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03C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A03C3C"/>
                </a:solidFill>
                <a:latin typeface="Bitstream Charter"/>
                <a:ea typeface="Bitstream Charter"/>
                <a:cs typeface="Bitstream Charter"/>
              </a:rPr>
              <a:t>Before overwrite, say the full object name out loud.</a:t>
            </a:r>
          </a:p>
        </p:txBody>
      </p:sp>
    </p:spTree>
    <p:extLst>
      <p:ext uri="{BB962C8B-B14F-4D97-AF65-F5344CB8AC3E}">
        <p14:creationId xmlns:p14="http://schemas.microsoft.com/office/powerpoint/2010/main" val="136466154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4696F1-FB9F-4384-A898-330A703E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1D717F-44BD-44AC-B159-73B537AA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Write modes, MERGE and reruns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A0D9D4-E612-42EE-8B3B-903DEA79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Choose behavior deliberately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CC6E1A-12CA-4463-AF5E-CB1D0BA2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F4817-5E76-4BBA-86BC-C5F9CFCE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AZURE DATABRICKS  •  LESSONS 1–2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8C1EE3-0815-44E5-B17A-4F9A7585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61763-004F-4422-B032-34A417D5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476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C550D5-0070-4206-9CB5-AF4BE0D6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03C3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FF80A-FB6C-4449-A904-348B5911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66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overwrite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D46207-CC4C-46AC-BED3-ABFC649F1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20574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Replace lab contents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Good for isolated reruns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Risky on shared targets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8AB7B7-EC46-444F-81D2-BC2B6D8A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14500"/>
            <a:ext cx="2476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682709-5DF3-44B2-89AC-FE4D210C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1450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56665E-1883-4E77-B7A5-C484FB19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1866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append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9B0560-52F8-4D09-8657-101B632F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209800"/>
            <a:ext cx="20574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Add every input row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Simple event ingestion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Can duplicate reruns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6CB598-7E5C-401D-8F06-FBA97686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2476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1DCC9F-295D-4FAB-8BD6-F4D42F515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FD0054-4B7D-4AC8-A138-D2BDA72D1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866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MERGE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7DADCF-9368-4C8B-BF75-ED9F266F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209800"/>
            <a:ext cx="20574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Match on business key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Update and insert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Validate source uniqueness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433EFF-F0C8-4BD7-8FB5-2CAFCE1B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714500"/>
            <a:ext cx="2476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14DB58-407B-4E12-A530-426F8C3C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71450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C7127C-AF4E-431A-A121-1DD17AA6E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1866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error if exists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38D528-9417-47CF-A7F1-B20E4886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209800"/>
            <a:ext cx="20574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Fail safely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Protect accidental replacement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Useful creation default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251563-EB01-4FEA-9814-76DB8AE43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667250"/>
            <a:ext cx="847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Mode is a business decision encoded in one method call.</a:t>
            </a:r>
          </a:p>
        </p:txBody>
      </p:sp>
    </p:spTree>
    <p:extLst>
      <p:ext uri="{BB962C8B-B14F-4D97-AF65-F5344CB8AC3E}">
        <p14:creationId xmlns:p14="http://schemas.microsoft.com/office/powerpoint/2010/main" val="188857117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4CD694-CF06-4310-BF06-D6A7DAA4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7E75A3-F1C4-4654-9CB3-BF186EF5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End-to-end learner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F41C16-61A9-4830-A46F-11C78F0C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From notebook to evidence in five checkpoints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69841-53AB-4F4F-AC06-CF04AF119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0A600E-60D3-4973-84E1-C377EAA0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AZURE DATABRICKS  •  LESSONS 1–2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1CEBC3-9EC5-4E3C-B177-582AD041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28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0a776f22504bc7"/>
          <a:stretch xmlns:a="http://schemas.openxmlformats.org/drawingml/2006/main"/>
        </p:blipFill>
        <p:spPr>
          <a:xfrm xmlns:a="http://schemas.openxmlformats.org/drawingml/2006/main">
            <a:off x="677504" y="1666875"/>
            <a:ext cx="3978992" cy="3333750"/>
          </a:xfrm>
          <a:prstGeom xmlns:a="http://schemas.openxmlformats.org/drawingml/2006/main" prst="roundRect">
            <a:avLst>
              <a:gd name="adj" fmla="val 342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B22770-89D8-41B9-8C11-2F8A6A6F8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571625"/>
            <a:ext cx="514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C7D92D-AD8C-416A-94BC-C1416AAD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906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7BA07E-B453-4F5F-A29F-8CC7FF47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57162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Connect and verify compute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53A4A-B7FE-4847-900A-5CDC95D8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52675"/>
            <a:ext cx="514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E1CCCD-300F-44F8-800C-192DEA6F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717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5B68A0-9391-49C1-BCE1-09146B3E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5267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Create and transform orders_df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52CDD1-D8B7-40CE-B51A-A5A40292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33725"/>
            <a:ext cx="514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C49922-D22C-41BE-ABA2-6CE4C90D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527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FF595E-168B-42FC-BD88-F4198919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13372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Query orders_work with SQL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45E993-F122-4FC9-B503-67647CFA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14775"/>
            <a:ext cx="514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A42653-90FD-46CB-8D21-02F3BA93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3382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BA7EC0-C1CA-41D9-963E-946A20C0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91477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Write training_lab.student_XX.orders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EC9D57-48B9-40CB-9110-75D5A2CD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95825"/>
            <a:ext cx="5143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F7D5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B53B62-73C3-43E8-ACC3-6D3F49BF6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14875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12130B-2BBB-4A9E-8FED-9689DCDE2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69582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1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Validate data, detail and history</a:t>
            </a:r>
          </a:p>
        </p:txBody>
      </p:sp>
    </p:spTree>
    <p:extLst>
      <p:ext uri="{BB962C8B-B14F-4D97-AF65-F5344CB8AC3E}">
        <p14:creationId xmlns:p14="http://schemas.microsoft.com/office/powerpoint/2010/main" val="78358044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4CD25F-EA3A-4DD5-83C4-F77BDAEB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18085F-4108-4307-BB33-14DE0A06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Troubleshooting by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34754-7579-4D69-B743-1C09C5C6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Read the exact error before changing permissions or code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8D6A6-047D-44B2-9923-B42D0F71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B19D80-2D75-4CC7-838C-258A02D5A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AZURE DATABRICKS  •  LESSONS 1–2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28ECD-82B0-4F16-9923-DD2129E5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106A3-15F3-44DD-A938-F8875D35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11E772-F521-4C65-949D-5BE53A06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478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Detached notebook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E81D2-5614-431F-9264-5197C5C6F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478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6013AC-96B9-4E25-8E2F-D3EA2D55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71625"/>
            <a:ext cx="6429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06BACA-3916-413C-8C06-AC31FDD1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647825"/>
            <a:ext cx="595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Compute selector and policy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9AB617-7268-4389-B00A-2B7487E9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62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ECEC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814BC1-7E65-4510-84F1-BF88BBB2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384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A03C3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A03C3C"/>
                </a:solidFill>
                <a:latin typeface="Bitstream Charter"/>
                <a:ea typeface="Bitstream Charter"/>
                <a:cs typeface="Bitstream Charter"/>
              </a:rPr>
              <a:t>PERMISSION_DENIED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2FC456-0AFD-4FD2-BB9C-DBD33A93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3840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8859B7-54C9-4B1C-ADC1-D7155CE9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6429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781A9A-3D3D-4173-84FC-23F4A7FD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38400"/>
            <a:ext cx="595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Identity, object name and SHOW GRANTS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6146AD-1277-4962-8B64-465ED997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52775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1B6B8C-667D-4698-AEC4-A6033275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2897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TABLE_OR_VIEW_NOT_FOUND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0D55F0-44E8-46BC-BBC0-FF77BC8AD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2897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14E2EB-F547-4F11-B8E8-1E1D84F8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52775"/>
            <a:ext cx="6429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AD527E-7FCE-48A6-9360-C898D544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228975"/>
            <a:ext cx="595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Catalog, schema and spelling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7B0A84-B628-4148-ACBB-8DE859CD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433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4D976E-F88A-4805-B063-AE2260EF0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195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COLUMN_NOT_FOUND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429F2C-2152-4CC9-8325-7A8B52C4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19550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1F43CF-218E-4A77-A390-5B7063E4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43350"/>
            <a:ext cx="6429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2A981B-1CA0-4449-A7F5-28508752F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019550"/>
            <a:ext cx="595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printSchema and input sample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54C487-B78D-469D-80D9-F8C4307E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33925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666A4E-18C2-45DE-84D3-0840BF64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10125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Unexpected duplicates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5C4413-8799-47DD-A1A9-B6BE8A45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10125"/>
            <a:ext cx="57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2E74B5"/>
                </a:solidFill>
                <a:latin typeface="Bitstream Charter"/>
                <a:ea typeface="Bitstream Charter"/>
                <a:cs typeface="Bitstream Charter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9DF61B-033F-4C1E-A128-71824A65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33925"/>
            <a:ext cx="64293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5900F1-0095-4641-B20C-25AC2208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810125"/>
            <a:ext cx="5953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History and business-key counts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651F53-4F90-421B-B49C-77839943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15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Narrow fix &gt; broad admin access</a:t>
            </a:r>
          </a:p>
        </p:txBody>
      </p:sp>
    </p:spTree>
    <p:extLst>
      <p:ext uri="{BB962C8B-B14F-4D97-AF65-F5344CB8AC3E}">
        <p14:creationId xmlns:p14="http://schemas.microsoft.com/office/powerpoint/2010/main" val="183180579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0E252F-9BF1-4C6F-9D54-51D0FCA2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A64CB-DFBC-4A35-A329-CAF97C382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7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Assessment and close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541DC9-FC8F-408E-90EE-63B4EACE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33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A learner passes by explaining and proving the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7212F-E03B-454C-929E-07DEC342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10744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9B90E-83CA-464F-BD6A-8CABEE4C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960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825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AZURE DATABRICKS  •  LESSONS 1–2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E902A-5922-454C-978C-2D25AFD6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67CDE-3847-40D1-88D8-80031E31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9EBC0B-DBB0-4223-B097-4B7CA734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4B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FC0E3A-761C-48D5-B08C-30DC281A0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716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Explain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B7D623-AF54-455A-84E5-3D1E037E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14550"/>
            <a:ext cx="2914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Workspace vs compute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Transformation vs action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catalog.schema.table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7363A1-2B81-4D7D-8161-99B94896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FD673D-D30E-47B0-AFA0-AAE0B643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9C0B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87BED5-1320-4344-8A4B-838F027C3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7716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Demonstrate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7555E-CAA8-416C-8F96-66FF80570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14550"/>
            <a:ext cx="2914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Correct totals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Governed orders table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History and second version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C2F121-9063-4D0F-A37A-63E3F94C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3F7FA"/>
          </a:solidFill>
          <a:ln xmlns:a="http://schemas.openxmlformats.org/drawingml/2006/main" w="9525">
            <a:solidFill>
              <a:srgbClr val="D9E1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76F027-A8C5-453B-9753-35446748D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76200" cy="2381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D5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33F165-84A1-4549-AE08-30DD693F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7716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071C2C"/>
                </a:solidFill>
                <a:latin typeface="Bitstream Charter"/>
                <a:ea typeface="Bitstream Charter"/>
                <a:cs typeface="Bitstream Charter"/>
              </a:rPr>
              <a:t>Judge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CF8BC0-76B3-4FA7-91B7-95869CE0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114550"/>
            <a:ext cx="29146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Overwrite risk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Append vs MERGE</a:t>
            </a:r>
          </a:p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125" b="0">
                <a:solidFill>
                  <a:srgbClr val="17202A"/>
                </a:solidFill>
                <a:latin typeface="Bitstream Charter"/>
                <a:ea typeface="Bitstream Charter"/>
                <a:cs typeface="Bitstream Charter"/>
              </a:rPr>
              <a:t>Least-privilege response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18C706-DC02-4D8E-9B49-A96DFD9A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9625"/>
            <a:ext cx="9715500" cy="714375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071C2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D68353-C23E-4271-AC7B-6B6E28EA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62500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Notebook → Spark → Unity Catalog → Delta table →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1E70DA-838E-4FB3-A81E-8BD5E6B6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619750"/>
            <a:ext cx="771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5B6875"/>
                </a:solidFill>
                <a:latin typeface="Bitstream Charter"/>
                <a:ea typeface="Bitstream Charter"/>
                <a:cs typeface="Bitstream Charter"/>
              </a:rPr>
              <a:t>Next: automate the path with jobs and reliable ingestion patterns.</a:t>
            </a:r>
          </a:p>
        </p:txBody>
      </p:sp>
    </p:spTree>
    <p:extLst>
      <p:ext uri="{BB962C8B-B14F-4D97-AF65-F5344CB8AC3E}">
        <p14:creationId xmlns:p14="http://schemas.microsoft.com/office/powerpoint/2010/main" val="8865776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2026-09-16T19:57:35.3460000Z</dcterms:created>
  <dcterms:modified xsi:type="dcterms:W3CDTF">2026-09-16T19:57:35.3460000Z</dcterms:modified>
</coreProperties>
</file>