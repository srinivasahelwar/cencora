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91685e85144d90" /><Relationship Type="http://schemas.openxmlformats.org/officeDocument/2006/relationships/extended-properties" Target="/docProps/app.xml" Id="Ra2a972d22f7c405a" /><Relationship Type="http://schemas.openxmlformats.org/officeDocument/2006/relationships/officeDocument" Target="/ppt/presentation.xml" Id="R400b0aeaa6bc41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c5612da5c544a8"/>
  </p:sldMasterIdLst>
  <p:notesMasterIdLst>
    <p:notesMasterId xmlns:r="http://schemas.openxmlformats.org/officeDocument/2006/relationships" r:id="R203a2257a7524e3d"/>
  </p:notesMasterIdLst>
  <p:sldIdLst>
    <p:sldId xmlns:r="http://schemas.openxmlformats.org/officeDocument/2006/relationships" id="256" r:id="R6fa9d27681234963"/>
    <p:sldId xmlns:r="http://schemas.openxmlformats.org/officeDocument/2006/relationships" id="257" r:id="Re91c3ba2623949e5"/>
    <p:sldId xmlns:r="http://schemas.openxmlformats.org/officeDocument/2006/relationships" id="258" r:id="R8532a78d61fa49b6"/>
    <p:sldId xmlns:r="http://schemas.openxmlformats.org/officeDocument/2006/relationships" id="259" r:id="R3e279ce57ea0459d"/>
    <p:sldId xmlns:r="http://schemas.openxmlformats.org/officeDocument/2006/relationships" id="260" r:id="R54ca1a93b5034940"/>
    <p:sldId xmlns:r="http://schemas.openxmlformats.org/officeDocument/2006/relationships" id="261" r:id="Rd8daa95e985c4af8"/>
    <p:sldId xmlns:r="http://schemas.openxmlformats.org/officeDocument/2006/relationships" id="262" r:id="R223409ffc51744ae"/>
    <p:sldId xmlns:r="http://schemas.openxmlformats.org/officeDocument/2006/relationships" id="263" r:id="Ra330c9d6a97c4104"/>
    <p:sldId xmlns:r="http://schemas.openxmlformats.org/officeDocument/2006/relationships" id="264" r:id="Rbabdf050082e4502"/>
    <p:sldId xmlns:r="http://schemas.openxmlformats.org/officeDocument/2006/relationships" id="265" r:id="R5116a2696e17427b"/>
    <p:sldId xmlns:r="http://schemas.openxmlformats.org/officeDocument/2006/relationships" id="266" r:id="R16bf9317c4804369"/>
    <p:sldId xmlns:r="http://schemas.openxmlformats.org/officeDocument/2006/relationships" id="267" r:id="R910b6279a2fd42ee"/>
    <p:sldId xmlns:r="http://schemas.openxmlformats.org/officeDocument/2006/relationships" id="268" r:id="R8fc70b6c660646f1"/>
    <p:sldId xmlns:r="http://schemas.openxmlformats.org/officeDocument/2006/relationships" id="269" r:id="Rf70b234e41fc41dd"/>
    <p:sldId xmlns:r="http://schemas.openxmlformats.org/officeDocument/2006/relationships" id="270" r:id="R357f54cc096d42e6"/>
    <p:sldId xmlns:r="http://schemas.openxmlformats.org/officeDocument/2006/relationships" id="271" r:id="R55aee34a25914ec5"/>
    <p:sldId xmlns:r="http://schemas.openxmlformats.org/officeDocument/2006/relationships" id="272" r:id="R0bb1b12b49f7498a"/>
    <p:sldId xmlns:r="http://schemas.openxmlformats.org/officeDocument/2006/relationships" id="273" r:id="Ra916a52a2c9e48d7"/>
    <p:sldId xmlns:r="http://schemas.openxmlformats.org/officeDocument/2006/relationships" id="274" r:id="R272bea65aaf24edf"/>
    <p:sldId xmlns:r="http://schemas.openxmlformats.org/officeDocument/2006/relationships" id="275" r:id="R1a02d412d1d44192"/>
    <p:sldId xmlns:r="http://schemas.openxmlformats.org/officeDocument/2006/relationships" id="276" r:id="Ref0d14cd0d6c43ea"/>
    <p:sldId xmlns:r="http://schemas.openxmlformats.org/officeDocument/2006/relationships" id="277" r:id="Rc6d55c3b353040d1"/>
    <p:sldId xmlns:r="http://schemas.openxmlformats.org/officeDocument/2006/relationships" id="278" r:id="R61005dae09dd464f"/>
    <p:sldId xmlns:r="http://schemas.openxmlformats.org/officeDocument/2006/relationships" id="279" r:id="Raa583692e4b94a01"/>
    <p:sldId xmlns:r="http://schemas.openxmlformats.org/officeDocument/2006/relationships" id="280" r:id="Rd695fdb0ba7948ac"/>
    <p:sldId xmlns:r="http://schemas.openxmlformats.org/officeDocument/2006/relationships" id="281" r:id="R56cad118c029499e"/>
    <p:sldId xmlns:r="http://schemas.openxmlformats.org/officeDocument/2006/relationships" id="282" r:id="R8cd25ace26bc491c"/>
    <p:sldId xmlns:r="http://schemas.openxmlformats.org/officeDocument/2006/relationships" id="283" r:id="R5889b128fa254777"/>
    <p:sldId xmlns:r="http://schemas.openxmlformats.org/officeDocument/2006/relationships" id="284" r:id="Rfb11369288b64143"/>
    <p:sldId xmlns:r="http://schemas.openxmlformats.org/officeDocument/2006/relationships" id="285" r:id="R948d08209b674770"/>
    <p:sldId xmlns:r="http://schemas.openxmlformats.org/officeDocument/2006/relationships" id="286" r:id="R00e943025f434c9b"/>
    <p:sldId xmlns:r="http://schemas.openxmlformats.org/officeDocument/2006/relationships" id="287" r:id="R1e109e432196456a"/>
    <p:sldId xmlns:r="http://schemas.openxmlformats.org/officeDocument/2006/relationships" id="288" r:id="R81dc317b19ec412d"/>
    <p:sldId xmlns:r="http://schemas.openxmlformats.org/officeDocument/2006/relationships" id="289" r:id="Rfeedbf3282ea4861"/>
    <p:sldId xmlns:r="http://schemas.openxmlformats.org/officeDocument/2006/relationships" id="290" r:id="Rab71c1f30c334fd0"/>
    <p:sldId xmlns:r="http://schemas.openxmlformats.org/officeDocument/2006/relationships" id="291" r:id="R146f28c5a09d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c2e3c08b3949ca" /><Relationship Type="http://schemas.openxmlformats.org/officeDocument/2006/relationships/slideMaster" Target="/ppt/slideMasters/slideMaster1.xml" Id="Rd9c5612da5c544a8" /><Relationship Type="http://schemas.openxmlformats.org/officeDocument/2006/relationships/notesMaster" Target="/ppt/notesMasters/notesMaster1.xml" Id="R203a2257a7524e3d" /><Relationship Type="http://schemas.openxmlformats.org/officeDocument/2006/relationships/presProps" Target="/ppt/presProps.xml" Id="R36ca76feb2a04b2e" /><Relationship Type="http://schemas.openxmlformats.org/officeDocument/2006/relationships/tableStyles" Target="/ppt/tableStyles.xml" Id="R6cf3f681751c43e4" /><Relationship Type="http://schemas.openxmlformats.org/officeDocument/2006/relationships/slide" Target="/ppt/slides/slide1.xml" Id="R6fa9d27681234963" /><Relationship Type="http://schemas.openxmlformats.org/officeDocument/2006/relationships/slide" Target="/ppt/slides/slide2.xml" Id="Re91c3ba2623949e5" /><Relationship Type="http://schemas.openxmlformats.org/officeDocument/2006/relationships/slide" Target="/ppt/slides/slide3.xml" Id="R8532a78d61fa49b6" /><Relationship Type="http://schemas.openxmlformats.org/officeDocument/2006/relationships/slide" Target="/ppt/slides/slide4.xml" Id="R3e279ce57ea0459d" /><Relationship Type="http://schemas.openxmlformats.org/officeDocument/2006/relationships/slide" Target="/ppt/slides/slide5.xml" Id="R54ca1a93b5034940" /><Relationship Type="http://schemas.openxmlformats.org/officeDocument/2006/relationships/slide" Target="/ppt/slides/slide6.xml" Id="Rd8daa95e985c4af8" /><Relationship Type="http://schemas.openxmlformats.org/officeDocument/2006/relationships/slide" Target="/ppt/slides/slide7.xml" Id="R223409ffc51744ae" /><Relationship Type="http://schemas.openxmlformats.org/officeDocument/2006/relationships/slide" Target="/ppt/slides/slide8.xml" Id="Ra330c9d6a97c4104" /><Relationship Type="http://schemas.openxmlformats.org/officeDocument/2006/relationships/slide" Target="/ppt/slides/slide9.xml" Id="Rbabdf050082e4502" /><Relationship Type="http://schemas.openxmlformats.org/officeDocument/2006/relationships/slide" Target="/ppt/slides/slide10.xml" Id="R5116a2696e17427b" /><Relationship Type="http://schemas.openxmlformats.org/officeDocument/2006/relationships/slide" Target="/ppt/slides/slide11.xml" Id="R16bf9317c4804369" /><Relationship Type="http://schemas.openxmlformats.org/officeDocument/2006/relationships/slide" Target="/ppt/slides/slide12.xml" Id="R910b6279a2fd42ee" /><Relationship Type="http://schemas.openxmlformats.org/officeDocument/2006/relationships/slide" Target="/ppt/slides/slide13.xml" Id="R8fc70b6c660646f1" /><Relationship Type="http://schemas.openxmlformats.org/officeDocument/2006/relationships/slide" Target="/ppt/slides/slide14.xml" Id="Rf70b234e41fc41dd" /><Relationship Type="http://schemas.openxmlformats.org/officeDocument/2006/relationships/slide" Target="/ppt/slides/slide15.xml" Id="R357f54cc096d42e6" /><Relationship Type="http://schemas.openxmlformats.org/officeDocument/2006/relationships/slide" Target="/ppt/slides/slide16.xml" Id="R55aee34a25914ec5" /><Relationship Type="http://schemas.openxmlformats.org/officeDocument/2006/relationships/slide" Target="/ppt/slides/slide17.xml" Id="R0bb1b12b49f7498a" /><Relationship Type="http://schemas.openxmlformats.org/officeDocument/2006/relationships/slide" Target="/ppt/slides/slide18.xml" Id="Ra916a52a2c9e48d7" /><Relationship Type="http://schemas.openxmlformats.org/officeDocument/2006/relationships/slide" Target="/ppt/slides/slide19.xml" Id="R272bea65aaf24edf" /><Relationship Type="http://schemas.openxmlformats.org/officeDocument/2006/relationships/slide" Target="/ppt/slides/slide20.xml" Id="R1a02d412d1d44192" /><Relationship Type="http://schemas.openxmlformats.org/officeDocument/2006/relationships/slide" Target="/ppt/slides/slide21.xml" Id="Ref0d14cd0d6c43ea" /><Relationship Type="http://schemas.openxmlformats.org/officeDocument/2006/relationships/slide" Target="/ppt/slides/slide22.xml" Id="Rc6d55c3b353040d1" /><Relationship Type="http://schemas.openxmlformats.org/officeDocument/2006/relationships/slide" Target="/ppt/slides/slide23.xml" Id="R61005dae09dd464f" /><Relationship Type="http://schemas.openxmlformats.org/officeDocument/2006/relationships/slide" Target="/ppt/slides/slide24.xml" Id="Raa583692e4b94a01" /><Relationship Type="http://schemas.openxmlformats.org/officeDocument/2006/relationships/slide" Target="/ppt/slides/slide25.xml" Id="Rd695fdb0ba7948ac" /><Relationship Type="http://schemas.openxmlformats.org/officeDocument/2006/relationships/slide" Target="/ppt/slides/slide26.xml" Id="R56cad118c029499e" /><Relationship Type="http://schemas.openxmlformats.org/officeDocument/2006/relationships/slide" Target="/ppt/slides/slide27.xml" Id="R8cd25ace26bc491c" /><Relationship Type="http://schemas.openxmlformats.org/officeDocument/2006/relationships/slide" Target="/ppt/slides/slide28.xml" Id="R5889b128fa254777" /><Relationship Type="http://schemas.openxmlformats.org/officeDocument/2006/relationships/slide" Target="/ppt/slides/slide29.xml" Id="Rfb11369288b64143" /><Relationship Type="http://schemas.openxmlformats.org/officeDocument/2006/relationships/slide" Target="/ppt/slides/slide30.xml" Id="R948d08209b674770" /><Relationship Type="http://schemas.openxmlformats.org/officeDocument/2006/relationships/slide" Target="/ppt/slides/slide31.xml" Id="R00e943025f434c9b" /><Relationship Type="http://schemas.openxmlformats.org/officeDocument/2006/relationships/slide" Target="/ppt/slides/slide32.xml" Id="R1e109e432196456a" /><Relationship Type="http://schemas.openxmlformats.org/officeDocument/2006/relationships/slide" Target="/ppt/slides/slide33.xml" Id="R81dc317b19ec412d" /><Relationship Type="http://schemas.openxmlformats.org/officeDocument/2006/relationships/slide" Target="/ppt/slides/slide34.xml" Id="Rfeedbf3282ea4861" /><Relationship Type="http://schemas.openxmlformats.org/officeDocument/2006/relationships/slide" Target="/ppt/slides/slide35.xml" Id="Rab71c1f30c334fd0" /><Relationship Type="http://schemas.openxmlformats.org/officeDocument/2006/relationships/slide" Target="/ppt/slides/slide36.xml" Id="R146f28c5a09d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a17ef4aca847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c2afbaeb3d46d4" /><Relationship Type="http://schemas.openxmlformats.org/officeDocument/2006/relationships/notesMaster" Target="/ppt/notesMasters/notesMaster1.xml" Id="R009abf8cd6304d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af0115c37f4955" /><Relationship Type="http://schemas.openxmlformats.org/officeDocument/2006/relationships/notesMaster" Target="/ppt/notesMasters/notesMaster1.xml" Id="R137a1a886aa040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000cf2da384d07" /><Relationship Type="http://schemas.openxmlformats.org/officeDocument/2006/relationships/notesMaster" Target="/ppt/notesMasters/notesMaster1.xml" Id="Rac1baab4d976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44e508d2134d9b" /><Relationship Type="http://schemas.openxmlformats.org/officeDocument/2006/relationships/notesMaster" Target="/ppt/notesMasters/notesMaster1.xml" Id="R7933c0875fbd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cbd6aac314cdf" /><Relationship Type="http://schemas.openxmlformats.org/officeDocument/2006/relationships/notesMaster" Target="/ppt/notesMasters/notesMaster1.xml" Id="R38563ec8d6ed4b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57d7d8c8f1462a" /><Relationship Type="http://schemas.openxmlformats.org/officeDocument/2006/relationships/notesMaster" Target="/ppt/notesMasters/notesMaster1.xml" Id="R091d23e2c9a64c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33c31ef26e4103" /><Relationship Type="http://schemas.openxmlformats.org/officeDocument/2006/relationships/notesMaster" Target="/ppt/notesMasters/notesMaster1.xml" Id="Rcffbbae8523345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e9ba836dea452f" /><Relationship Type="http://schemas.openxmlformats.org/officeDocument/2006/relationships/notesMaster" Target="/ppt/notesMasters/notesMaster1.xml" Id="R315c21ea107043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dab961f3c14ee0" /><Relationship Type="http://schemas.openxmlformats.org/officeDocument/2006/relationships/notesMaster" Target="/ppt/notesMasters/notesMaster1.xml" Id="R26d716483cc34f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73406614e24362" /><Relationship Type="http://schemas.openxmlformats.org/officeDocument/2006/relationships/notesMaster" Target="/ppt/notesMasters/notesMaster1.xml" Id="R35f13f28cfb14d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24232b29114f15" /><Relationship Type="http://schemas.openxmlformats.org/officeDocument/2006/relationships/notesMaster" Target="/ppt/notesMasters/notesMaster1.xml" Id="Rc534132c346a42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026a577b544da1" /><Relationship Type="http://schemas.openxmlformats.org/officeDocument/2006/relationships/notesMaster" Target="/ppt/notesMasters/notesMaster1.xml" Id="R0182c9b65a6f4d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aba25740db47b9" /><Relationship Type="http://schemas.openxmlformats.org/officeDocument/2006/relationships/notesMaster" Target="/ppt/notesMasters/notesMaster1.xml" Id="Rc99834fa7eff42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4543aa092a40d8" /><Relationship Type="http://schemas.openxmlformats.org/officeDocument/2006/relationships/notesMaster" Target="/ppt/notesMasters/notesMaster1.xml" Id="Rde13acb823ec49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495d1f9d9a4949" /><Relationship Type="http://schemas.openxmlformats.org/officeDocument/2006/relationships/notesMaster" Target="/ppt/notesMasters/notesMaster1.xml" Id="R62c57213bd2442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88e312822394d59" /><Relationship Type="http://schemas.openxmlformats.org/officeDocument/2006/relationships/notesMaster" Target="/ppt/notesMasters/notesMaster1.xml" Id="R27684e87b79a40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9465732a764a9d" /><Relationship Type="http://schemas.openxmlformats.org/officeDocument/2006/relationships/notesMaster" Target="/ppt/notesMasters/notesMaster1.xml" Id="R71f2e2df795241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86cd8606794363" /><Relationship Type="http://schemas.openxmlformats.org/officeDocument/2006/relationships/notesMaster" Target="/ppt/notesMasters/notesMaster1.xml" Id="R15e5a3a796644c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03092253534394" /><Relationship Type="http://schemas.openxmlformats.org/officeDocument/2006/relationships/notesMaster" Target="/ppt/notesMasters/notesMaster1.xml" Id="R18c85bc92aa147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744d2a9ad54a2d" /><Relationship Type="http://schemas.openxmlformats.org/officeDocument/2006/relationships/notesMaster" Target="/ppt/notesMasters/notesMaster1.xml" Id="R8e5be7a56de84c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e60ce15ec340d2" /><Relationship Type="http://schemas.openxmlformats.org/officeDocument/2006/relationships/notesMaster" Target="/ppt/notesMasters/notesMaster1.xml" Id="R1384768a934948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fc2cebd41842aa" /><Relationship Type="http://schemas.openxmlformats.org/officeDocument/2006/relationships/notesMaster" Target="/ppt/notesMasters/notesMaster1.xml" Id="Rc27defa22fe742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da328f090d45ab" /><Relationship Type="http://schemas.openxmlformats.org/officeDocument/2006/relationships/notesMaster" Target="/ppt/notesMasters/notesMaster1.xml" Id="Rdb4bc589d49044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e25555dc8d4221" /><Relationship Type="http://schemas.openxmlformats.org/officeDocument/2006/relationships/notesMaster" Target="/ppt/notesMasters/notesMaster1.xml" Id="R584f5dba1e454e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55dd745b1a4dbf" /><Relationship Type="http://schemas.openxmlformats.org/officeDocument/2006/relationships/notesMaster" Target="/ppt/notesMasters/notesMaster1.xml" Id="Reeac957bcadc4ea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47dba2b7054851" /><Relationship Type="http://schemas.openxmlformats.org/officeDocument/2006/relationships/notesMaster" Target="/ppt/notesMasters/notesMaster1.xml" Id="R777bd09d2db24e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8d05cebd964a79" /><Relationship Type="http://schemas.openxmlformats.org/officeDocument/2006/relationships/notesMaster" Target="/ppt/notesMasters/notesMaster1.xml" Id="R10fa16fd277748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7be2bb09f5641aa" /><Relationship Type="http://schemas.openxmlformats.org/officeDocument/2006/relationships/notesMaster" Target="/ppt/notesMasters/notesMaster1.xml" Id="Rfea2b5152b724a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daa579662f4415c" /><Relationship Type="http://schemas.openxmlformats.org/officeDocument/2006/relationships/notesMaster" Target="/ppt/notesMasters/notesMaster1.xml" Id="R776d7299ba154c0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184c7ce8b2f4738" /><Relationship Type="http://schemas.openxmlformats.org/officeDocument/2006/relationships/notesMaster" Target="/ppt/notesMasters/notesMaster1.xml" Id="R87946dadb9804c3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32f86c45b3a4586" /><Relationship Type="http://schemas.openxmlformats.org/officeDocument/2006/relationships/notesMaster" Target="/ppt/notesMasters/notesMaster1.xml" Id="Ra6514e8356d54d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bdcb7fb15e48ff" /><Relationship Type="http://schemas.openxmlformats.org/officeDocument/2006/relationships/notesMaster" Target="/ppt/notesMasters/notesMaster1.xml" Id="R536def8742d548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5464cbf5ad34d39" /><Relationship Type="http://schemas.openxmlformats.org/officeDocument/2006/relationships/notesMaster" Target="/ppt/notesMasters/notesMaster1.xml" Id="Ra2f2ed972320433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c8b19f1664b41ea" /><Relationship Type="http://schemas.openxmlformats.org/officeDocument/2006/relationships/notesMaster" Target="/ppt/notesMasters/notesMaster1.xml" Id="R7dfe7e498c4b4f3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398ea8284c2441e" /><Relationship Type="http://schemas.openxmlformats.org/officeDocument/2006/relationships/notesMaster" Target="/ppt/notesMasters/notesMaster1.xml" Id="R353215176fb342b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2ea378d683b4fb9" /><Relationship Type="http://schemas.openxmlformats.org/officeDocument/2006/relationships/notesMaster" Target="/ppt/notesMasters/notesMaster1.xml" Id="R0a63d0ea0ed84d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learners and frame the day: we are connecting systems, not studying isolated products. Ask for one real integration example from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outcomes as observable abilities. Tell learners that every concept maps to a lab artifact or assessment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Adjust times to local breaks. Keep the final 75–90 minutes protected for the integrated challenge and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story throughout the day. The client submits a request through APIM; the workflow coordinates; eventing and messaging decouple downstream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these four verbs visible mentally: orchestrate, govern, event, message. Most architecture questions become easier once the primary verb is clear.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classify three examples: price lookup, audit event, prescription fulfillment. Emphasize that acknowledgement can be synchronous even when processing is asynchronous.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workflow definition is declarative. The runtime owns hosting, retries, and run history; the designer exposes the workflow as a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https://learn.microsoft.com/en-us/azure/logic-apps/logic-apps-overview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designer, then open run history. Point to trigger inputs, action inputs/outputs, duration, and status. Introduce idempotency before learners automate email.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classroom lab, use Consumption because it is quick to provision and pay-per-execution. Discuss Standard when private networking, multiple workflows, or local development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https://learn.microsoft.com/en-us/azure/logic-apps/single-tenant-overview-compare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lab guide. Office 365 Outlook requires a work or school account. If unavailable, substitute an HTTP or Teams action and preserve the same trigger/action/run-history learning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https://learn.microsoft.com/en-us/azure/logic-apps/quickstart-create-example-consumption-workflow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a failure on the board: Outlook temporarily fails after the upstream system already committed. Ask what the safe retry boundary 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APIM from the backend. The gateway exposes a controlled API surface while backend implementation can evolve.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https://learn.microsoft.com/en-us/azure/api-management/api-management-key-concepts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trainer-managed APIM instance for the cohort if provisioning time or quotas are constrained. Assign each learner a unique API suffix and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https://learn.microsoft.com/en-us/azure/api-management/get-started-create-service-instance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 the sample OpenAPI definition or the lab HTTP-trigger Logic App. Show how summary, description, parameter metadata, examples, and response schemas become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https://learn.microsoft.com/en-us/azure/api-management/import-and-publish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rule of thumb: revision for a safe edit within a version; version for a breaking contract; product for packaging and audience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subscription key identifies a subscription; it is not a complete user authentication strategy. Layer controls based on risk and trust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policy inheritance and the base element. A narrow scope overrides less, but repeated policy fragments can become difficult to govern.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https://learn.microsoft.com/en-us/azure/api-management/api-management-policies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Paste at the API inbound scope. Use a unique learner API to avoid shared counters. The rate-limit-by-key policy is not supported in the Consumption tier.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https://learn.microsoft.com/en-us/azure/api-management/rate-limit-by-key-policy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the request live. Put baseUrl and subscriptionKey in an environment. Do not paste secrets into the collection body or screenshots.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https://learning.postman.com/docs/getting-started/overview/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run the collection twice: first to see normal responses, then in a burst to observe policy behavior. Save the collection without credentials.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Language exposes intent. Events state facts, streams preserve a sequence for independent readers, and messages convey work to be handled.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Grid routes discrete events from sources to handlers. Delivery is at least once, so handlers must tolerate duplicates.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https://learn.microsoft.com/en-us/azure/event-grid/overview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one storage account container per learner or use a learner-specific prefix filter. Upload a small JSON file and inspect the event envelope in Logic Apps run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whiteboard analogy: partitions are lanes in an append-only log. Consumer groups are independent bookmarks, not competing queues.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https://learn.microsoft.com/en-us/azure/event-hubs/event-hubs-about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stable partition key keeps related events in the same partition. More partitions increase parallelism, but ordering remains partition-local. Each consumer group maintains its own progress.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Service Bus when delivery semantics and broker features matter. Contrast a queue with Event Hubs: one work item is completed by a receiver; a stream remains available to readers.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https://learn.microsoft.com/en-us/azure/service-bus-messaging/service-bus-messaging-overview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failure case: receive, write to database, crash before complete. The message returns after lock expiry; therefore the handler still needs idempotency.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Queue Storage is a strong default for simple backlog buffering. Move to Service Bus when enterprise broker capabilities are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https://learn.microsoft.com/en-us/azure/storage/queues/storage-queues-introduction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learners justify a choice with a requirement—not with familiarity. Replay points to Event Hubs; rich settlement and transactions point to Service Bus; event routing points to Event Grid.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one request across the architecture. Ask which parts can fail independently and where correlation IDs must be propagated.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Reliability is cross-cutting. Ask each team to name the correlation identifier and duplicate-handling behavior in its practical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Pre-create shared services where practical. Learners must never reuse another student’s key, queue, or API path. The lab guide includes the naming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Time-box to 55 minutes plus 15 minutes for demonstrations. Teams may choose Event Grid, Event Hubs, Service Bus, or Queue Storage, but must justify the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trainer guide rubric. Award reasoning, not just portal screenshots. A learner should be able to explain why the chosen service matches the delivery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Cleanup is part of the practical, not an optional afterthought. Confirm that recurring workflows are disabled and shared trainer resources remain intact.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one sentence from each learner. Close by directing them to the detailed lab guide for repeat practice and the trainer guide for facilitation and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c20c254024d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30729053d84894" /><Relationship Type="http://schemas.openxmlformats.org/officeDocument/2006/relationships/slideLayout" Target="/ppt/slideLayouts/slideLayout1.xml" Id="Rd57ca2b2d9fe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7ca2b2d9fe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753cbba7b4ee8" /><Relationship Type="http://schemas.openxmlformats.org/officeDocument/2006/relationships/notesSlide" Target="/ppt/notesSlides/notesSlide1.xml" Id="Rb2a8abcac215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72832f29e4cbe" /><Relationship Type="http://schemas.openxmlformats.org/officeDocument/2006/relationships/notesSlide" Target="/ppt/notesSlides/notesSlide2.xml" Id="R0f8788641f4647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e2d068cb4a36" /><Relationship Type="http://schemas.openxmlformats.org/officeDocument/2006/relationships/notesSlide" Target="/ppt/notesSlides/notesSlide3.xml" Id="Rff64727ea0864f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ac4d5aeeb4ace" /><Relationship Type="http://schemas.openxmlformats.org/officeDocument/2006/relationships/notesSlide" Target="/ppt/notesSlides/notesSlide4.xml" Id="Rc797637757ef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ded1693264acf" /><Relationship Type="http://schemas.openxmlformats.org/officeDocument/2006/relationships/notesSlide" Target="/ppt/notesSlides/notesSlide5.xml" Id="R60933bf1c8a144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f2b20213b4d01" /><Relationship Type="http://schemas.openxmlformats.org/officeDocument/2006/relationships/notesSlide" Target="/ppt/notesSlides/notesSlide6.xml" Id="Re8d1ec80484240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ce03d99554c4b" /><Relationship Type="http://schemas.openxmlformats.org/officeDocument/2006/relationships/notesSlide" Target="/ppt/notesSlides/notesSlide7.xml" Id="R54ce1e6ae7df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589e7742446ce" /><Relationship Type="http://schemas.openxmlformats.org/officeDocument/2006/relationships/notesSlide" Target="/ppt/notesSlides/notesSlide8.xml" Id="R44c9f703c9234e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6d1e752540bc" /><Relationship Type="http://schemas.openxmlformats.org/officeDocument/2006/relationships/notesSlide" Target="/ppt/notesSlides/notesSlide9.xml" Id="R4ff671b9c9be4e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55714068b40fd" /><Relationship Type="http://schemas.openxmlformats.org/officeDocument/2006/relationships/notesSlide" Target="/ppt/notesSlides/notesSlide10.xml" Id="R49edf54e2f454b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259d6566d4965" /><Relationship Type="http://schemas.openxmlformats.org/officeDocument/2006/relationships/notesSlide" Target="/ppt/notesSlides/notesSlide11.xml" Id="R1fa42506569c43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ec73a7ef94250" /><Relationship Type="http://schemas.openxmlformats.org/officeDocument/2006/relationships/notesSlide" Target="/ppt/notesSlides/notesSlide12.xml" Id="R683b322db1dd43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a275458de4d5b" /><Relationship Type="http://schemas.openxmlformats.org/officeDocument/2006/relationships/notesSlide" Target="/ppt/notesSlides/notesSlide13.xml" Id="R4bdf37bc22ab4c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5f6c8e7d24b39" /><Relationship Type="http://schemas.openxmlformats.org/officeDocument/2006/relationships/notesSlide" Target="/ppt/notesSlides/notesSlide14.xml" Id="R8f317a4006514d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061a450b54e2e" /><Relationship Type="http://schemas.openxmlformats.org/officeDocument/2006/relationships/notesSlide" Target="/ppt/notesSlides/notesSlide15.xml" Id="R8d7c8274f0fb4d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58a1498614ffb" /><Relationship Type="http://schemas.openxmlformats.org/officeDocument/2006/relationships/notesSlide" Target="/ppt/notesSlides/notesSlide16.xml" Id="R3ac87748cf664d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a508c3ece4a61" /><Relationship Type="http://schemas.openxmlformats.org/officeDocument/2006/relationships/notesSlide" Target="/ppt/notesSlides/notesSlide17.xml" Id="Rc4b5969db36f4c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e51cf1b2844f5" /><Relationship Type="http://schemas.openxmlformats.org/officeDocument/2006/relationships/notesSlide" Target="/ppt/notesSlides/notesSlide18.xml" Id="Rca858ee584734e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91e9c4744c09" /><Relationship Type="http://schemas.openxmlformats.org/officeDocument/2006/relationships/notesSlide" Target="/ppt/notesSlides/notesSlide19.xml" Id="R24b954d93b89434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e6e4ee25a4b00" /><Relationship Type="http://schemas.openxmlformats.org/officeDocument/2006/relationships/notesSlide" Target="/ppt/notesSlides/notesSlide20.xml" Id="R7c42bdb5e35a42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aeaf0c80141e0" /><Relationship Type="http://schemas.openxmlformats.org/officeDocument/2006/relationships/notesSlide" Target="/ppt/notesSlides/notesSlide21.xml" Id="R5949c5cd0d4e4fb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eff30fc194e8d" /><Relationship Type="http://schemas.openxmlformats.org/officeDocument/2006/relationships/notesSlide" Target="/ppt/notesSlides/notesSlide22.xml" Id="R4876e972afeb4d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d99439ed441ba" /><Relationship Type="http://schemas.openxmlformats.org/officeDocument/2006/relationships/notesSlide" Target="/ppt/notesSlides/notesSlide23.xml" Id="R828d39dcfe8742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445a045f447ba" /><Relationship Type="http://schemas.openxmlformats.org/officeDocument/2006/relationships/notesSlide" Target="/ppt/notesSlides/notesSlide24.xml" Id="Rd1ed679a56d4462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73da41b5c4478" /><Relationship Type="http://schemas.openxmlformats.org/officeDocument/2006/relationships/notesSlide" Target="/ppt/notesSlides/notesSlide25.xml" Id="R811205dd2a01457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02be6a36b4671" /><Relationship Type="http://schemas.openxmlformats.org/officeDocument/2006/relationships/notesSlide" Target="/ppt/notesSlides/notesSlide26.xml" Id="R4e3a559841d341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bbd82d4954000" /><Relationship Type="http://schemas.openxmlformats.org/officeDocument/2006/relationships/notesSlide" Target="/ppt/notesSlides/notesSlide27.xml" Id="Re699ef90df18413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5d8112bf44019" /><Relationship Type="http://schemas.openxmlformats.org/officeDocument/2006/relationships/notesSlide" Target="/ppt/notesSlides/notesSlide28.xml" Id="Ref84d5ce7bd14ed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34505700544d8" /><Relationship Type="http://schemas.openxmlformats.org/officeDocument/2006/relationships/notesSlide" Target="/ppt/notesSlides/notesSlide29.xml" Id="R7cf1969162dd4bc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f75dd7864b6c" /><Relationship Type="http://schemas.openxmlformats.org/officeDocument/2006/relationships/notesSlide" Target="/ppt/notesSlides/notesSlide30.xml" Id="R713a524a230b414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53e3c428a4fa5" /><Relationship Type="http://schemas.openxmlformats.org/officeDocument/2006/relationships/notesSlide" Target="/ppt/notesSlides/notesSlide31.xml" Id="Rd2225a97f45f4d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ca2c2712a4fea" /><Relationship Type="http://schemas.openxmlformats.org/officeDocument/2006/relationships/notesSlide" Target="/ppt/notesSlides/notesSlide32.xml" Id="Rba4c778d79614b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8df34564c437f" /><Relationship Type="http://schemas.openxmlformats.org/officeDocument/2006/relationships/notesSlide" Target="/ppt/notesSlides/notesSlide33.xml" Id="R5159517898864de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fc9aa6bcd494c" /><Relationship Type="http://schemas.openxmlformats.org/officeDocument/2006/relationships/notesSlide" Target="/ppt/notesSlides/notesSlide34.xml" Id="R3498d25c5d2f460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043a162a34944" /><Relationship Type="http://schemas.openxmlformats.org/officeDocument/2006/relationships/notesSlide" Target="/ppt/notesSlides/notesSlide35.xml" Id="R73312c33a45e4ae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744129a4f4923" /><Relationship Type="http://schemas.openxmlformats.org/officeDocument/2006/relationships/notesSlide" Target="/ppt/notesSlides/notesSlide36.xml" Id="Rb8ea16595a9947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84540-9481-4699-84D1-44178A3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BA2BC-AADE-4C60-AB31-ADEFF6B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BAB3-F4B1-4835-AEB6-FA07F31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INSTRUCTOR DECK · DAY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45468-527C-45E8-AB92-903CF7A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Azure Integration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555FC-E0BE-42BF-91FC-7F1ED6D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DDF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B9DDF6"/>
                </a:solidFill>
                <a:latin typeface="Bitstream Charter"/>
                <a:ea typeface="Bitstream Charter"/>
                <a:cs typeface="Bitstream Charter"/>
              </a:rPr>
              <a:t>Logic Apps · API Management · Postman · Event Grid · Event Hubs · Service Bus · Queue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C3265-87C9-44E3-9CD0-5F62FA6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04900"/>
            <a:ext cx="2571750" cy="4000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3553"/>
          </a:solidFill>
          <a:ln xmlns:a="http://schemas.openxmlformats.org/drawingml/2006/main" w="9525">
            <a:solidFill>
              <a:srgbClr val="2E6B9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F5C43-45B3-414A-B8D0-3ACDB30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04950"/>
            <a:ext cx="1676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FE67A-E58E-4DC6-A105-998FED47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621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7E6EA-6897-47B4-B2D7-8C95AEB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24100"/>
            <a:ext cx="1676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B254-938E-4B6A-A6D1-530E3275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812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0D661-4AA0-4347-B1FA-200D7EFC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43250"/>
            <a:ext cx="1676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E3C05-AC13-49AF-B7DA-EB781B59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0040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1BEA6-D897-424D-B032-DE08C77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62400"/>
            <a:ext cx="1676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2F101-DDA7-488E-838A-E38274FA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195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9F74E-E26E-4CB7-A8C9-1A47364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From request to reliable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94F34-E6DD-46C4-AF3F-AB37C5A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B7C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9CB7CA"/>
                </a:solidFill>
                <a:latin typeface="Bitstream Charter"/>
                <a:ea typeface="Bitstream Charter"/>
                <a:cs typeface="Bitstream Charter"/>
              </a:rPr>
              <a:t>Cloud · Data · GenAI Training | 2026</a:t>
            </a:r>
          </a:p>
        </p:txBody>
      </p:sp>
    </p:spTree>
    <p:extLst>
      <p:ext uri="{BB962C8B-B14F-4D97-AF65-F5344CB8AC3E}">
        <p14:creationId xmlns:p14="http://schemas.microsoft.com/office/powerpoint/2010/main" val="1162925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ED417E-6BCB-44CF-9987-56457CCC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BA1B5-C70F-4B10-84C4-4BB1CA0F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E3D9B-1616-4F83-ACC3-5C7BA5F3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Today’s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55A2D-77D3-4E2E-8047-234643CF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4FAE4-372C-4DBC-807F-27176BC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48568-8595-461E-9331-2EA1D2BC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C0310-7280-47E2-A5D7-7896D94E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048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6CD1A-39CA-43D2-92E2-F1A3C71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E166D-7EBE-4712-A6A2-0FD1A69F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6B4BD-5532-4ED2-A8AB-9964163D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25F1F-07A6-42B5-A788-3EBBE207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19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Build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F2712-40C9-4D65-8C4E-9EF8B16D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Create and deploy a Logic App with observable runs.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40B96-EEAF-4C11-9C1E-153201C6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048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BF6AE-3261-4FF1-A0E3-96769B8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15B98-9BD3-459B-B30D-39706CB6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06684-1545-4B83-B9FD-17C3E2C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5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94E38-4FA1-4859-8766-38AA543C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19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Publish 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40478-378F-4C2A-A85A-5AA04C5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193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Create an APIM instance, import an API, document it, and control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92CA9-9C38-491C-AF30-DA79C055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048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9E9B0-1A4D-4354-BAE2-B9661E8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8F545-AB70-47A3-AC4E-B1A964E3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3CB72-04A0-4583-8F21-A4A61D1A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64416-6F03-4435-BC01-E9DC172D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Test contracts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1EC32-6AEB-4E4D-AEFE-516FC2E4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Use Postman environments, collections, and assertions.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5CF46C-8910-4B5B-86CC-1D6BA875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5048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3D1F4-33A5-4C63-9297-40A776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7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FA94B-7B29-41BE-A9CC-45B44B9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546A4-3909-4DE9-B2B3-A6198CB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1A5F7-7BD3-4DF8-A856-B57E80C7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Choose messaging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DBA58A-F426-43F2-9FA4-4A5FC694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Select Event Grid, Event Hubs, Service Bus, or Queue Storage for the workload.</a:t>
            </a:r>
          </a:p>
        </p:txBody>
      </p:sp>
    </p:spTree>
    <p:extLst>
      <p:ext uri="{BB962C8B-B14F-4D97-AF65-F5344CB8AC3E}">
        <p14:creationId xmlns:p14="http://schemas.microsoft.com/office/powerpoint/2010/main" val="801690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691FDA-85F4-4FD5-9BE4-BC5359A2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70811-1A13-47C2-A4BE-225DDE28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RUN OF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5B1E5-8498-4151-8E8A-72CAA27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Full-day learning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716B7-1D14-4160-8DCC-AD9BDACC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8A6B0-D6EF-4FA4-B6D5-9F4CBF93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2DA4C-0543-455A-A22F-0073CFF1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C552F-3394-4D04-8FE9-4C814B51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D2FD3-B59A-4CF5-8FF4-3998F91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09:00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1D2D0-AEF5-485A-ABEF-B7F87BDF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33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4546F-6077-4D69-8B47-6B075122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335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Integration patterns + Logic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05FAD-0B86-4F84-BB23-89E47EF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8859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3011B-D3A5-4347-963A-10E2B1E6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EF596-C161-4D12-B050-19E0973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10:30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5D99B-252A-4499-B159-2B94ED35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14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API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61779-D580-47DF-B9B4-8A362927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APIM creation, import, access, policies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B7251-B6AD-4593-A201-7526312B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670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0DFB1-888C-4810-B569-181B902C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CAC05-BCA4-4674-83DA-3D45401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12:00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53A2C-16AC-416E-B866-F17B5BB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956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84ED5-B251-4417-A2B4-4991E7D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956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Postman collections and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097D7-3AFD-4069-A1A0-42E76B4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480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A03A1E-0F10-466B-AEBB-333B1086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E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AC4DE-FBFE-4CB8-94B8-A3FC6045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13:30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9C843-071D-417B-9E03-E6E143E5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766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E493E-B62E-4033-810D-02B5C203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76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Event Grid and Event Hubs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DD03A-2D36-4950-8713-82D40475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291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F41D9-1842-4E04-9C7E-E7F5B9EB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E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F00AE-474A-4794-A3BF-70D6015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15:00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A95458-5FF7-495B-835B-23279BEC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57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Messages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279809-C95B-4ADE-B31A-6530406F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Service Bus and Queue 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8F1B9-B0AC-4B9A-9F81-AAD210A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01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B2F40-057A-4B4E-8FF3-D7C8969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28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8E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2CE50B-35D3-4A53-8BB8-044E9E1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16:00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D1A7D-074C-4220-BE1F-8DA0D58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38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Challenge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5E9BA7-ACCD-4776-92A1-7C7914C3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End-to-end practical + Assessment 3</a:t>
            </a:r>
          </a:p>
        </p:txBody>
      </p:sp>
    </p:spTree>
    <p:extLst>
      <p:ext uri="{BB962C8B-B14F-4D97-AF65-F5344CB8AC3E}">
        <p14:creationId xmlns:p14="http://schemas.microsoft.com/office/powerpoint/2010/main" val="52307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629B85-223E-4408-B68A-7A610478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9E326-EAAB-47E0-8904-F3817502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CASE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C2065-298B-4498-ADD4-B22D8F8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Scenario: pharmacy prescription processing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63EB3-AE81-40FB-9779-FD8E6B54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EF21D-BD0E-498D-98B4-851CA183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9F428-ECB8-44C8-83D2-0BEF059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72B11-7115-491F-B377-B9C11148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 prescription arrives. The platform must validate access, record the request, fan out an event, stream telemetry, and notify the pharmacist—without losing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9C906-3E43-4EBC-B332-AB4118A2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CA8BC-D993-46C6-963D-EE45A3E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87EE3-76DF-4598-8100-63090CEF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9090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93BC4-37E1-44D2-B843-B95D516D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C4DE0-BF7F-4D99-B6DC-64B0BC7D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FD2DB-4810-40B0-A59E-1E5CC5B6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56C7A-EC2D-44BC-A70B-3937AD8E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22692-482F-4822-9343-2C848F8B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4074D-5131-4191-9D60-4C52C1FE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C161E-3922-4013-9087-27C5A044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Logic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DCCEA-2B74-4E54-B13C-20F8EAD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C3A6C-A84E-4456-B56E-61685F0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DEBE4A-F6E4-4C91-A6B2-F1426696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BA538-60A7-41F9-90F1-5957F6DF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43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Messaging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5332B-B121-471A-8980-EE841610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5F174-3C78-4E0D-A9F7-7E9EEC35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76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3CE45-7599-4B38-AE78-118EA4E1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D7259-0AF9-4B91-A5CB-4C5BF115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Pharmacist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82936-0A52-4D79-B6EA-91548A56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590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C4B8F-F3E8-455F-BA2F-2B15A729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577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One story · seven Azure services · one shared mental model</a:t>
            </a:r>
          </a:p>
        </p:txBody>
      </p:sp>
    </p:spTree>
    <p:extLst>
      <p:ext uri="{BB962C8B-B14F-4D97-AF65-F5344CB8AC3E}">
        <p14:creationId xmlns:p14="http://schemas.microsoft.com/office/powerpoint/2010/main" val="138658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2948A2-14A2-4DCE-8B17-128A9C0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3DCD2-013F-4C29-B3E1-9BAB203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BIG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FD1E1-51B5-4B8B-AE04-2968076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The integration landscape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7D9B4-7002-455D-B472-FB363D4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11EF7-7D36-4E23-BDA5-0DDD6C08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A4B1F-16CB-42FF-9C72-BD124BD8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2941F-05D1-4224-8699-8D1B4F9C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31A52-333B-44FD-B1D6-37AE68F8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6C40C-1269-4FE0-8C5D-429E3E0B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ORCHESTRATE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B97B8-CB96-4702-8869-4D635F2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Logic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906C2-4634-40A7-AEB6-E04FA8DB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Trigger + actions + connectors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C1842-8F67-47FD-9592-7793CBA7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1A7E2-4D36-47D1-93D2-A99FBF7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657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A63C3-E908-49A1-A4ED-A31B1E4E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672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03F78-F10D-484F-8B5F-72D680DC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43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074BB8-5DE0-40B6-9B90-D94825B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430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01E55-AA55-4727-827C-474C66DA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GOVERN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B9480-3000-4787-92CB-E32C60E8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336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API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244D5-D9B5-47D0-9111-775FBC5F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575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Gateway + portal +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9167C-D1C4-4279-B37E-790A60D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76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Front door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69448-CDAF-4B04-85BB-E23F86A1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57700"/>
            <a:ext cx="1657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A5EDD-320F-422A-9E5B-2044B344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672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Front door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ADDBA-35C7-48CC-A967-ED25860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95B28-BD75-47C6-91E8-D12768C8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0D8E01-47B9-4FDA-855D-514CDD2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DAE78-D55E-4DDE-A55D-98E79DB0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Grid / Hubs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86747-7C6F-481A-AAF0-B7B7BD3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React or stream at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31B71-3DF0-4CAB-985E-CD2BA4F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Signal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9B70C-DB0D-4FA9-BFE6-601E935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657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E81D4-3799-44A6-B59A-781D1573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672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Signal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23AD8-523A-4A25-843C-DAAED79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43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D3D7C-70FD-4FDF-9476-5944989C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430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D0AAA-CC90-40A6-9A16-077FBA3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90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FB900"/>
                </a:solidFill>
                <a:latin typeface="Bitstream Charter"/>
                <a:ea typeface="Bitstream Charter"/>
                <a:cs typeface="Bitstream Charter"/>
              </a:rPr>
              <a:t>MESSAGE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48520-4010-4919-96AB-B9C1549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Service Bus / Queue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5A2B6-1662-43EF-8BE2-8DFD3A6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57550"/>
            <a:ext cx="1924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Buffer reliable work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4E056D-E35B-4761-B7BB-A1675CA4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767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 queue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D5BCF-F196-4823-960D-659D80C0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57700"/>
            <a:ext cx="1657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6F1BD2-3557-4D9A-9FAC-FD894A3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672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Work queue</a:t>
            </a:r>
          </a:p>
        </p:txBody>
      </p:sp>
    </p:spTree>
    <p:extLst>
      <p:ext uri="{BB962C8B-B14F-4D97-AF65-F5344CB8AC3E}">
        <p14:creationId xmlns:p14="http://schemas.microsoft.com/office/powerpoint/2010/main" val="1162937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523B0-ABBC-42B3-A28C-DE5D4ED1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3EE8E-DF5F-4052-AE78-DF26F8F3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DAE84-A5EC-4DD7-815E-8073572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Synchronous and asynchronous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B0402-F231-48CD-8BEF-24031263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34BDF-B6A4-4127-87F9-88A97918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C68A3-67B0-4073-8713-A2A3E940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27565-D7AF-4E2D-899E-9A0D2D6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AF7F4-F5E4-4C35-8895-263CB4AE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9A54-AB64-4447-B1F4-62583824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Synchronous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CC191-5203-4A2E-BE9C-7DF7B3A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5339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Caller waits for a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Best for immediate validation, lookup, or command acknowledgement.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Watch: latency, timeouts, cascading failures.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48057-A7BC-44B3-9830-9055BFAC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7B24F-8496-4CD2-A011-E76CBF0D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76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0070D-9861-454D-9F09-715AA1E1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Asynchronous hand-off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7246C-8D97-463D-B796-AAB2D523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45339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Caller hands off work and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Best for long-running, bursty, or independently scalable 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Watch: duplicates, ordering, poison work, observability.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4D985-0CB6-4D17-91D4-BC976BF6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9750"/>
            <a:ext cx="695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739ED-8923-45DE-8221-9FEAA535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483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APIs optimize interaction · events and queues optimize decoupling</a:t>
            </a:r>
          </a:p>
        </p:txBody>
      </p:sp>
    </p:spTree>
    <p:extLst>
      <p:ext uri="{BB962C8B-B14F-4D97-AF65-F5344CB8AC3E}">
        <p14:creationId xmlns:p14="http://schemas.microsoft.com/office/powerpoint/2010/main" val="2261287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2B361-B552-4021-8702-F29C3959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6A3DE-94AA-4FDD-A68D-6C23315B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LOGIC APPS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51EB3-3606-4050-9036-DABB197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Azure Logic Apps in one sentence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45767-4295-41FE-9AA1-C4423A14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7CCBE-ADB0-4222-8794-B7C283AC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FD2A2-7DE2-4D11-AE5D-6E4AB2D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A3736-8B9F-4C00-9256-F64C8E49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 managed workflow service that connects systems through triggers, actions, and connectors.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EB7CD-F0E3-4083-A6D2-0CFA4CFB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7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3AFBC-96C8-4598-A726-0A6FE9E8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WHEN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2808E-0B3E-4F8E-A09B-CE3E051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099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2CA59-D3CE-4424-A0AD-7F479821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71475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CE953-F569-4772-A952-AD2AA2B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54D2A-7D5F-4FE6-ABD9-1BC4E9E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67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0FD9C-2A2D-41B4-BB83-56B175C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E20D5-9C4A-4B3A-AD32-E0A4B545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6099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58E70-C4BD-4CA2-BAA4-1F154D5C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14750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9AB12-96F9-4B3B-8125-3AF5D669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0A286-828C-4F9E-87BB-6DFB43E6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2571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1A677-9BCB-4E08-997B-B930C30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766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CONNECT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B33FC-184E-4CF5-BEC5-C02D84E2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6099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Connector</a:t>
            </a:r>
          </a:p>
        </p:txBody>
      </p:sp>
    </p:spTree>
    <p:extLst>
      <p:ext uri="{BB962C8B-B14F-4D97-AF65-F5344CB8AC3E}">
        <p14:creationId xmlns:p14="http://schemas.microsoft.com/office/powerpoint/2010/main" val="20680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E8FAF3-2DCC-4BB6-A0D2-24CC9ADA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4BD7C-EDB7-4DC8-9BAC-E9A5FD5D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LOGIC APPS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2896A-8A89-4449-9E6E-012058CC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Trigger → actions → run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ACD86-0D83-4E95-9E4A-AB92C104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A1A3F-3311-4055-B571-0D47474E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148C9-01C8-4A76-870E-FB2E0AE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76E18-92AC-4E48-8D1B-E60F76F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400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69BAC-3A5A-4584-A9BD-5EF4477A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C7E6E-0458-4AA0-AB52-F867FDE1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98413-4FD6-495D-A71B-A86D0C4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84B0F-ABB0-4390-81D3-726BD4E9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145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C8F6E-BAA9-4BC8-A528-A0951A3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14575"/>
            <a:ext cx="1447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Request or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9A588-FF26-46EA-8645-6EE03B03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956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A510C-2AA2-4592-89D0-FA156FCE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6DC2C-895A-45FA-B147-FA6E33CF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400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5676E-F534-4A15-B453-C972595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B8E4E-C450-442B-9B32-50DAB3BF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71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CCE59D-1690-4A8C-B3FE-25FE6398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DBE19-DCA4-4762-A32A-06217BDB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145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Transform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F6458-23DC-462A-ACE9-11D3E8B9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14575"/>
            <a:ext cx="1447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Compose or condition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87C11-19A4-482F-B2E7-DC239466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956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60E95-D8C2-47D4-9F6A-F7C16F2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AC314-848D-484D-BCD2-5004A1DD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400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4649-BAE2-49A0-BD9E-4A161FDF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63AE66-5E5C-4164-94C1-8AD20D46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71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77115-7B67-48FE-814B-8D40267D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5B483-C3B7-47BA-BA87-A53922AD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45A3E-4330-4A82-8069-2AD78C7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14575"/>
            <a:ext cx="1447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Outlook / HTTP / Azure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C77D0-60B6-4D39-BFA4-E1F55DA9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956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D8B93-D9C4-4FC0-8AD1-AA2326CB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AC493-7E28-4DA4-B862-2B7D2DD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62125"/>
            <a:ext cx="24003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FFC76D-ABF4-4521-9BDA-CDC640A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62125"/>
            <a:ext cx="762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4608D4-E903-439B-B245-3829FE9E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71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25F0E-2B97-445D-9B49-D7C02B2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90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B509AD-E6CE-43C5-9ED9-987D2FF0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145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Observe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937BC9-189A-4446-B468-C8E06FE2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14575"/>
            <a:ext cx="1447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Inputs, outputs, status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BD4326-2AF5-4BCD-83A8-E15F395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134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D13438"/>
                </a:solidFill>
                <a:latin typeface="Bitstream Charter"/>
                <a:ea typeface="Bitstream Charter"/>
                <a:cs typeface="Bitstream Charter"/>
              </a:rPr>
              <a:t>Design for replay: a retried action can run more than once.</a:t>
            </a:r>
          </a:p>
        </p:txBody>
      </p:sp>
    </p:spTree>
    <p:extLst>
      <p:ext uri="{BB962C8B-B14F-4D97-AF65-F5344CB8AC3E}">
        <p14:creationId xmlns:p14="http://schemas.microsoft.com/office/powerpoint/2010/main" val="786599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DB77C-2FB4-466D-8940-70120A5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CBFE5-AB6A-475C-96EB-85CBE54E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LOGIC APPS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F147B-9C50-4B2E-89BB-A06BB20B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Consumption or Standard?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9257D-7739-4526-B487-C00CC1FD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2F3DC-7B9F-46E0-BEFB-376C7BE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E7750-F274-47B5-AFCA-1D2F3D85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C44C7-FE81-45E7-A4B9-DD58ADF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C74C-A036-4287-8C20-D8192CAF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144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Dimension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2D41F-3F97-43A3-88DD-9CD2608B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144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Consumption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53564-037C-4870-8F70-B8CBF04D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144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Standard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EA056-8C12-4BF2-B5E8-A7779764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F6230-C668-47C2-B006-E75FCFD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Hosting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93914-460B-4CF8-B281-969C2129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145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Multitenant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A3A98-D9B4-4C7C-8F10-D198928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145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Single-tenant / App Service Environment options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91FAF-D26D-488A-9B59-BCB0A485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F2B71-AED2-4DB6-AACC-52F04C36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Workflow 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B9473-2DC3-4041-BDA9-8ADD409C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146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One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2BEE4-7C1A-4EC6-ABF3-41D8B21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Multiple workflows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C5C35-2159-4065-8A91-C2A53C43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220897-7C20-4DE8-8143-41482B65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Billing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00527-3486-42AC-981D-D367668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Per 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6F4B5-3C4E-47B7-9CF1-04E4108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Reserved capacity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86A79-A7E6-4591-ADC1-7F5294F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AEA2B-9314-4E31-9CDB-40A401D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Best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204B41-2189-4CBD-AD23-75F4D274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14875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Fast start, variable 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AEE3D-6524-4717-A4D0-2152554C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Higher control, local development, private networking</a:t>
            </a:r>
          </a:p>
        </p:txBody>
      </p:sp>
    </p:spTree>
    <p:extLst>
      <p:ext uri="{BB962C8B-B14F-4D97-AF65-F5344CB8AC3E}">
        <p14:creationId xmlns:p14="http://schemas.microsoft.com/office/powerpoint/2010/main" val="781690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C0BBD-1446-4EF2-903C-A8579EB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C85AA-C8E1-4126-8BFC-BB4CA2C4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LOGIC APPS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5F6C9-9890-49F1-9A11-19C11547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Practical: automated email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0B136-27BA-4F23-A844-753DA428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3EFAA-A171-4543-8760-3A872E54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509B9-FABD-4B87-97A7-BB316531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4E482-4146-4711-90D6-4742BC0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1FE06-4304-4EAE-9AA4-8C90CB9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CB25B-4D05-449E-85BE-B4F45D4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57763-3885-4782-B751-707851EE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Recurrence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A07EA-6C43-4C25-9C8A-961696A0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Every 5 minutes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2C409-FCB1-4F6C-AE29-C4E67E0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7AD3B-792C-4188-85B8-A19506DA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76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2EA72-B5A9-4673-A382-B6B7FBA5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29D2D-A3DA-4175-9568-506040D3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20434-41C7-44AB-A551-B16F960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86D02-32ED-4F22-9859-1E8573B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Compose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A4719-0F9E-46E0-A045-A3599CBF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289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Build learner 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15B3D-7A9C-45C7-B182-4FCEFDE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908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97FD0-7E1B-4541-A4D0-8C53D962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AAB0AF-2181-4332-8CCA-76AE4596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A973F9-8C73-4605-8D11-2A74528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D2FBB-63E2-48B5-9150-8DD7720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574CE-5630-4CDD-81C9-4AC51556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Send email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C0603-F03B-48D9-98B1-1ED1909F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Office 365 Outlook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1871B-FE43-4FB3-8B7F-795F75A6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B6EE8-F466-4A1F-9343-1C2FF5C9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0871FE-5A86-405A-8C61-9BF0E860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E90F38-A9D4-454A-90A3-84C3733C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68AF7-557F-45AF-A218-52B51EE2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1D58D-16F9-4BC7-92ED-BA70AD28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38032D-3522-4A7E-8BF9-BDE70598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Run history + inbox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7ACA3-7661-4CB8-8D5F-0404481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Evidence: successful run · action outputs · delivered message</a:t>
            </a:r>
          </a:p>
        </p:txBody>
      </p:sp>
    </p:spTree>
    <p:extLst>
      <p:ext uri="{BB962C8B-B14F-4D97-AF65-F5344CB8AC3E}">
        <p14:creationId xmlns:p14="http://schemas.microsoft.com/office/powerpoint/2010/main" val="6126646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59411-B956-45B0-8554-F9EA8A4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5BC7D-C0EA-4733-ACC4-BB860C44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LOGIC APPS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475B2-786F-45A1-8D42-0C456782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Workflow reliability: configure the unhappy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2E3DB-B2D1-4556-BA12-09BEDB89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6EFBB-6655-4D11-8DF1-A608FC5E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17A6A-A667-4128-BCA5-1886BB42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BA73A-952D-4175-8654-7F4A6FF4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38500" cy="3619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68AF5-7953-4F13-A0DF-61A780E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2D995-78C3-465A-A81C-CC19027B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FDE4B-775D-4966-9BA5-4B2AAD82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194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Use connector retry policies for transient faults. Avoid aggressive retries against rate-limited systems.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F1687-D655-4A06-9099-8D8A1727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38500" cy="3619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6492D-A2DE-4DB3-8019-5FE9BF49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85AF9-33A8-4324-8E53-20276C6E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Run 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E9D72-EED6-434C-901A-2B7222C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28194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Branch on success, failure, skip, or timeout. Create explicit compensation and alert paths.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70B83-7205-49BC-8F2B-72F6FD6D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38500" cy="3619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10BC9-EA67-4B3E-A3AA-50303552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FFCA7-258A-46E1-B615-55C549FD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Idempotency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ABEC3-8BED-452E-8510-701C7979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8194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Use stable business keys and conditional writes so a retry does not create duplicate outcomes.</a:t>
            </a:r>
          </a:p>
        </p:txBody>
      </p:sp>
    </p:spTree>
    <p:extLst>
      <p:ext uri="{BB962C8B-B14F-4D97-AF65-F5344CB8AC3E}">
        <p14:creationId xmlns:p14="http://schemas.microsoft.com/office/powerpoint/2010/main" val="67935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9D8B9-358D-4E71-9D54-435D779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F5256-9A53-4A19-A0F9-2EBD94C4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28E41-F6D9-4362-98A1-4772D1A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API Management is the governed front door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B1F46-D2B4-4B86-BE4F-24138214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50663-506A-42D4-BF77-31CE558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13A3D-09ED-40AE-BBF8-6493A7D3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3242F-A172-4736-A083-62DD3EF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905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6C0DA-7A70-4AD0-BAE9-1640929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Consumers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52849-E5FF-4104-B9D5-30A55C02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Apps ·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D56AD-D899-47D4-837E-892E8B4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0990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1765B-231E-4877-A2F9-4AA2118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1D656-A50A-4563-A875-942AFBA1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905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95054-9A24-43FB-816C-57F5F53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E9700-9D7A-422B-B58A-B1B1B5CE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Policy enforcement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25715-57AD-41B5-90F5-3DC74ED5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0990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75129-5D40-423B-834D-96D4F42C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EE455-ED36-4B37-86D8-33AD403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905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855E9-E808-4AE7-AA2B-B52C3A0A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DA1E2-7FE8-4109-A373-CBEB9113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Logic App /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F7FF9-37E0-4B1E-AC37-E33BF4B7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09900"/>
            <a:ext cx="447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D0257-A00B-46BD-9772-6E5ADB0B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B28835-BA5C-469C-B4AA-C7AC67BA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905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B6816-639F-464C-ACD1-05640CEE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BECDA-50A9-426D-B61B-69540D76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Analytics · portal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D4680-3137-48A1-B4D9-2877B665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86300"/>
            <a:ext cx="638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4E4108-9E86-4B24-8D55-11427914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14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Stable contract outside · changing implementation inside</a:t>
            </a:r>
          </a:p>
        </p:txBody>
      </p:sp>
    </p:spTree>
    <p:extLst>
      <p:ext uri="{BB962C8B-B14F-4D97-AF65-F5344CB8AC3E}">
        <p14:creationId xmlns:p14="http://schemas.microsoft.com/office/powerpoint/2010/main" val="911935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FD715D-4861-497C-9FEB-79C7425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E8BD1-F8DF-4AC4-B002-F7D9A11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EC21C-46E8-4EE7-B73D-57BF5DE6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Create an APIM instance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331EC-9888-41D7-9C28-7DAF1E28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20995-B201-44DF-923B-53BA110A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65C6F-83D5-4B45-8602-D47868BC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E96AC-4901-4701-AF6C-B74C6135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048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E0554-6742-4563-9E74-452837D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4FD8A-C3AE-471D-BADA-CFB8FAD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90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2E980-EC4B-481A-A862-6C9E74A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9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8AD0B-06A6-4970-8A7C-C862A01C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335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B18D4-09EC-4654-8696-24F9AA1E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Resource group · region · organization · admin email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3A168-7019-4BA3-B536-C06C6137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5048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5C237-2F43-4920-91DE-1DCA5265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0E730-B5EC-4DFE-8DDC-AC320EDB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906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42B77-3632-4BE5-B3F6-5C0972CF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0972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46E34-F1CA-4F50-B3A8-1E82A1A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335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Choose 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D20A3-6356-443B-89C4-1E9FD34B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33575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Basic v2 for development/test classroom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045B0-B8EE-476E-9668-E6F50EAD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5048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7B1D8-7D14-4EBE-86E9-8EBCEFC1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5159E-58FB-46EC-A769-CF5B3B32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0253E-414F-4091-9BEF-DC6CA055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62335-11A0-4B50-8F31-9221B80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99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Wait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4751AA-B378-46BE-B77A-67286B43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0025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Provisioning can take several minutes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F13C0-6286-4C56-8FCB-5562B5AB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57575"/>
            <a:ext cx="5048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1C6A7C-13CF-44E0-BBF1-B0C9950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5757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B1F391-F6F0-4E82-9D25-F2496553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036D4-4F08-4852-9661-03CDC2F7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F3180-03B2-48F0-AE06-16D656E9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99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Capture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F7177-6232-4C69-A42D-714AC484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0025"/>
            <a:ext cx="4095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Gateway URL and developer portal URL</a:t>
            </a:r>
          </a:p>
        </p:txBody>
      </p:sp>
    </p:spTree>
    <p:extLst>
      <p:ext uri="{BB962C8B-B14F-4D97-AF65-F5344CB8AC3E}">
        <p14:creationId xmlns:p14="http://schemas.microsoft.com/office/powerpoint/2010/main" val="17349974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35C02-A927-4DC5-87B9-B8BE9549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13B43-2079-48AD-AECA-53CF3A41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DC1FA-999E-48B2-98D4-E505BEA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Import once, document from the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5D2D0-D999-4902-8975-EE78E33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E2340-B89E-4BEB-AFF0-488BA63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BEC1E-6BDF-47DA-B26E-B14B2210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DB4F1-6B84-45EB-B34E-A4F5DD70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8A3AE-B910-44D2-B4A4-87FA7817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14DC1-8EEF-4B3A-9137-33582D15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E7386-798D-44F9-8FD1-C7C09761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ABF66-E782-4682-9ACE-10D6458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76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OpenAPI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5B44A-B5ED-48BD-A4C9-72AF5A90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76450"/>
            <a:ext cx="2190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Operations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Parameters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Schemas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Examples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Responses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45484-5720-4D92-8319-6BD4F268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50E39-C3BA-4B14-8B55-8C34869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0DA09-FD72-45A4-98D0-F6C88D7F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33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7CAB4-FB7C-4AC6-AE9F-34818020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526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0E0B2-546E-473C-AC2D-C4C4B0EC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76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APIM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89A09-4D0D-471B-A966-6A590CEB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2190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Display name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URL suffix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Backend URL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Subscription setting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51D90-533B-41E7-9848-3A5A20B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24000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A7AAF-A3E9-401D-8880-61F9C24D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240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7A6BA-E397-4DC2-8FE2-4AE6AD1D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33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8A26E2-8B5C-4E18-A6E8-521B49B6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5BAD8-396B-4BDF-85D4-8D9783D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76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Consumer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3431A-6C18-40A5-BBC0-F89037D8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1907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Developer portal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Try-it console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Readable operations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Consistent errors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Versioned contract</a:t>
            </a:r>
          </a:p>
        </p:txBody>
      </p:sp>
    </p:spTree>
    <p:extLst>
      <p:ext uri="{BB962C8B-B14F-4D97-AF65-F5344CB8AC3E}">
        <p14:creationId xmlns:p14="http://schemas.microsoft.com/office/powerpoint/2010/main" val="6221708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33FFB-6C51-4848-A277-31BEBECE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42196-4029-4D7C-BC6B-4D0F2EE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AE712-DD85-4C6D-AC2B-C1A939A7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API lifecycle: revisions, versions, products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172E4-F233-4970-86D0-0396583A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D75D7-55CA-43D3-83CA-44BD3C4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0465F-006F-4830-81E7-BD7D06A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834C1-DD52-41BD-96A8-86CD0752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1D567-8C26-45B9-BAFC-DCFAECD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03E16-5C0B-4D07-9B13-00D0AEAD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Change an API safely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1FD8C-1D3F-4119-8060-1D2A196E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Non-breaking implementation or policy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58502-6912-42C9-AF93-444DF6DD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52675"/>
            <a:ext cx="874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F8AF5-A278-4CDB-B53E-2AF4A6AD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C4C18-4E38-402D-82F0-DCD5715F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7BAB7-2987-4935-8E30-43376C6F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38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Expose a distinct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D6598-F53D-47EB-B151-F80AF708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Breaking change for consumers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E36AE-93BC-4044-AA8F-22F81942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71875"/>
            <a:ext cx="874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63A48-45BC-4748-B094-D8C285BA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87323-41FD-4E4E-8FE1-DBBE3DF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807C4-1D54-4D03-A0EB-E60387F0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576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Package APIs for an audience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FF820-AD46-423C-B95D-CDDEFBCC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Starter, partner, or internal access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52678-5E54-4E9A-9028-27C56124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91075"/>
            <a:ext cx="874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364224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2CB03-2847-4EA9-9027-DDD1F7E3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9195A-A2C1-408A-AB93-1044083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72160-C7BF-441A-B904-4AC93892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Configure API access in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94284-E5E7-4BA4-BA9E-45E7D698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134F8-D286-4236-9398-25E0150A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27501-466C-41EA-B5E9-7E50544D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623B4-D137-477C-9AE7-48526B47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5735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F1ABB-DE6B-4AB7-A87A-555FDD00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1.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164BA-FF93-4CCA-97DD-02613663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Public/private endpoint, firewall, VNet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FC0F0-3DD1-42AF-AA06-DC1BC288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62200"/>
            <a:ext cx="8191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A230D-4444-4C85-B968-968F907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8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2. Authentication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501C0-DEA4-4124-BC33-A20CEE44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OAuth 2.0, client certificate, managed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D021B-7056-4A1C-B3E7-A1199F2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6667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9B051-5D06-43DA-A5BC-577C72EB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3. Subscription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26117-FB14-46D8-9DD9-743563AB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Key linked to a product or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5F7A1-4C00-4B67-BDD5-4D41089E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514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86F1F-8D7A-4AD0-AC5E-1345E9E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4. Authorization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E14DD-18B5-4AF2-989E-6B59FD2A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48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Claims and scope checks in policy/backend</a:t>
            </a:r>
          </a:p>
        </p:txBody>
      </p:sp>
    </p:spTree>
    <p:extLst>
      <p:ext uri="{BB962C8B-B14F-4D97-AF65-F5344CB8AC3E}">
        <p14:creationId xmlns:p14="http://schemas.microsoft.com/office/powerpoint/2010/main" val="10736325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571129-9CDC-4042-8C81-8CB8CB6C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DA8C9-F8FA-4BB4-88CD-267356A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CBA31-7535-4BE8-8F77-7F7ACD8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The APIM policy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D70A4-4B84-4F35-ABCB-C6A6EFD8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D64CF-5F63-4238-ABE1-4032968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7FE3E-A3CB-4E67-8DAF-59F04803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3DF3E-3D47-41EC-8F17-B598E2C2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4003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4D4CC-8A33-4886-9C69-83292592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Inbound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CEF81-9BCE-42F6-BBBB-3551CD40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Authenticate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validate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throttle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B8983-DCC8-4F23-BD40-834A234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38475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225B7-73AC-4068-A22D-1E10FAD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241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CBECC-952F-42FE-8D55-F24F3D55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62150"/>
            <a:ext cx="24003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03847-95A0-44A3-B922-A991A49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9BB78-AF8A-4331-BBBA-AC232970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718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Select / rewrite</a:t>
            </a:r>
          </a:p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FCF11-3C94-40AF-ACE6-435DC1C8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38475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14247-8167-4A4A-9099-4235FA0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241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13C83-760B-4356-BA91-B34E79C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4003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E2237-DDE9-429F-82B2-DE303CFD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Outbound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0A7E3-6B82-49E6-BFEB-E72411A2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Transform</a:t>
            </a:r>
          </a:p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mask headers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20900-7897-4B28-B3BC-F6E788CE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38475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3AD9B-4CDA-4507-9AAC-8B0AF72C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241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3B7B4-B0C7-465D-B958-B202BE4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24003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68255-D0D9-45C1-B0D2-EB407F00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On-error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F66F8-B783-4429-9292-EE5BFA8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718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Standardize</a:t>
            </a:r>
          </a:p>
          <a:p xmlns:a="http://schemas.openxmlformats.org/drawingml/2006/main">
            <a:pPr algn="ctr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log / recover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7560E-9E37-44BE-96A7-63718668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62500"/>
            <a:ext cx="773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Scopes: global → workspace → product → API → operation</a:t>
            </a:r>
          </a:p>
        </p:txBody>
      </p:sp>
    </p:spTree>
    <p:extLst>
      <p:ext uri="{BB962C8B-B14F-4D97-AF65-F5344CB8AC3E}">
        <p14:creationId xmlns:p14="http://schemas.microsoft.com/office/powerpoint/2010/main" val="1837509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C393C-0B6A-4A19-B63E-4AB5F618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58479-278A-4956-9D9B-EAFD0106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APIM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84FEF-0E98-4E94-82CE-07A9892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Policy lab: throttle and label each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FC801-6525-4550-9812-1DBD5A4C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D9CFD-C549-4898-A664-3B61C031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79021-65F7-4C3F-8527-EE3C501C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722FB-69E2-4BE6-8F43-5C748418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4E726-9265-4688-B66A-856E5FBD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60960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&lt;policies&gt;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&lt;inbound&gt;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&lt;base /&gt;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&lt;rate-limit-by-key calls="5"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  renewal-period="60"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  counter-key="@(context.Subscription.Id)" /&gt;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&lt;set-header name="x-training-id" exists-action="override"&gt;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  &lt;value&gt;day15&lt;/value&gt;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  &lt;/set-header&gt;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&lt;/inbound&gt;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&lt;backend&gt;&lt;base /&gt;&lt;/backend&gt;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&lt;outbound&gt;&lt;base /&gt;&lt;/outbound&gt;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  &lt;on-error&gt;&lt;base /&gt;&lt;/on-error&gt;</a:t>
            </a:r>
          </a:p>
          <a:p xmlns:a="http://schemas.openxmlformats.org/drawingml/2006/main">
            <a:pPr algn="l">
              <a:def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8F1FF"/>
                </a:solidFill>
                <a:latin typeface="Bitstream Charter"/>
                <a:ea typeface="Bitstream Charter"/>
                <a:cs typeface="Bitstream Charter"/>
              </a:rPr>
              <a:t>&lt;/policies&gt;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29D55-8B3C-4A44-ACD8-91DD2480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ED468-89BB-4271-833B-5129E0BA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9925C-7B9D-4CAA-85FF-B0C159B7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811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8B50D-3FC0-43B8-BE22-298DCEC9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8120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First five calls succeed; later calls return throttling behavior until the renewal window resets.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216F2-48E3-4CB9-9F8E-4760CDCD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3C642-52DE-4DD3-8197-D0A73178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911B1-1D81-466F-95EC-09BE1A5D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Discuss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1B7A4-E48E-40FA-8F63-1585964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914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Scope, key choice, tier support, and why a business quota differs from short-window rate limiting.</a:t>
            </a:r>
          </a:p>
        </p:txBody>
      </p:sp>
    </p:spTree>
    <p:extLst>
      <p:ext uri="{BB962C8B-B14F-4D97-AF65-F5344CB8AC3E}">
        <p14:creationId xmlns:p14="http://schemas.microsoft.com/office/powerpoint/2010/main" val="2422063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D8E3BA-FF99-4C0D-84B5-03F4CB1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CC1D5-8010-411D-AB47-7E594DDC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POSTMAN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D5224-3725-4629-A2C8-F294F4FF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Postman: the anatomy of an API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83658-A1E9-4387-82CE-E69583A1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64CD5-15CF-4C2C-B04A-6C1FA51E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2C663-9FAC-4A19-B231-7685D622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19B07-C1CC-4797-A5AA-67250ABF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0B5EA-487A-4E65-B54B-EC646CB2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95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8871D-7DA0-4652-85D0-F272725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764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4AB2B-26E2-4FB0-A96D-B6F127E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47850"/>
            <a:ext cx="7905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65AFB-2044-4DCB-B702-365F558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{{baseUrl}}/prescriptions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A00A5-1E67-4F1B-A515-697CA367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47850"/>
            <a:ext cx="971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411E9-85F1-493B-B9BE-D71B5F65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85950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5E63F-9DB3-4D57-8587-0A76848E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D18AE-79C4-4DB1-AADF-D475A3A4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Params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238A5-1CE2-4C83-8D4B-2750BD0D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14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2ED02-2978-4C1A-AC3C-FF04FA3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43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Authorization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4D8AD-6FBA-43E2-B21B-A79D126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0F6AA-8345-4B2B-ACAD-ED8ED9AE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43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Headers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88343-4882-4782-8856-10871FBB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14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82802-0427-4980-A027-FD19DC05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43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Body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FBE57-63B5-476A-B288-4035CE40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14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2708F-6DD9-43D2-8770-3FDFE1DB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0A6A6-8575-4AC0-AC7E-1F731614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4762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  "prescriptionId": "RX-1042",</a:t>
            </a:r>
          </a:p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  "priority": "normal"</a:t>
            </a:r>
          </a:p>
          <a:p xmlns:a="http://schemas.openxmlformats.org/drawingml/2006/main">
            <a:pPr algn="l">
              <a:def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03EB55-DA35-4927-A938-0B7F4FB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Environment variables keep URLs and keys out of duplicated requests.</a:t>
            </a:r>
          </a:p>
        </p:txBody>
      </p:sp>
    </p:spTree>
    <p:extLst>
      <p:ext uri="{BB962C8B-B14F-4D97-AF65-F5344CB8AC3E}">
        <p14:creationId xmlns:p14="http://schemas.microsoft.com/office/powerpoint/2010/main" val="14517499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B93CE-BCA9-4A6A-9CA5-981CD5AB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9A919-8CDD-47B2-876A-1E5D526F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POSTMAN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4B43C-1891-4675-A9DE-0BF6764B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Turn requests into a repeatable test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4568B-02BD-4F17-B4F2-A65A0B7E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411B-343E-4DD7-8D87-5BD14854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E32B0-A14F-43E4-8A80-95F7492D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A082F-872C-43B9-A3A3-6F31C60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38500" cy="3524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7C8E1-E545-4355-957C-75F78888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B270F-FE88-43B5-8C1A-0BD1AE1E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F42E7-D1E7-4640-884D-618BDF5B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DED3F-DDCC-4E80-A533-67642EBC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FA538-8864-4407-A8CD-1A36760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57400"/>
            <a:ext cx="2286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baseUrl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subscriptionKey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learnerId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Use current values for secrets and avoid exporting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1B0A5-BA73-4D20-B54C-40FC23BC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238500" cy="3524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56CE-5CFC-4F0A-95EF-C4660830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175B1-46ED-468D-A235-282396A7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29580-1709-4074-AC05-4A21DC0B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B1D62-FC59-4E7F-8E5F-C9AA8640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Collection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75626-AA89-4B46-AB8F-3B39E482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2286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Happy path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Missing key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Invalid payload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Rate-limit burst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Name requests by intent.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C346C-1D6B-4360-8CF1-C5701C7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238500" cy="3524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8EB6F-1EBD-4FDC-83E6-FB421153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431E6-1C2A-4A4B-987A-67BC6400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44FE1-3E19-4DB2-9890-4BC1B4F2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267B0-F75F-4D31-9B34-0ECCF304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57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35106-4A6B-4C14-9559-FF8875B7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57400"/>
            <a:ext cx="2286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Status code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Response time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Header present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JSON property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Make evidence executable.</a:t>
            </a:r>
          </a:p>
        </p:txBody>
      </p:sp>
    </p:spTree>
    <p:extLst>
      <p:ext uri="{BB962C8B-B14F-4D97-AF65-F5344CB8AC3E}">
        <p14:creationId xmlns:p14="http://schemas.microsoft.com/office/powerpoint/2010/main" val="8189188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2B342E-C85B-46E2-A450-EB7D9DE0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29025-2104-4CE6-9C28-7D02D048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ASYNCHRONOUS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CB60B-2EAB-40FA-B3F4-6588B4D5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Event, stream, or message?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9FF19-23BB-42AF-B13B-95367BC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0DDEE-9680-476A-826B-341F9A31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36870-56F8-4940-83E8-16B8309B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C235E-003E-4289-8CEB-A0548A12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66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A3E02-000B-4B3E-8188-0023BA3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AA0B9-DF48-4632-A7BD-630AB1E9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95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AF149-1C85-4FF1-B55F-58C5EF9E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 fact happened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E9982-2893-4436-B327-276398C9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57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Route a BlobCreated notification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925B8-3BC8-4869-AF45-70B35B7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BD107-5925-4DAF-A5FF-DE763D4F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66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DDF7F-B344-4596-A9BB-A05F7D28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D59D8-AB87-400C-AFB4-99B5B2F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7C791-4B79-40F4-8A39-20529407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718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Many ordered observations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8C281-FF71-478C-AED8-9E7DC9A8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09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Ingest device 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05A1F-E794-4630-9C60-F8E02A5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Hubs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BDF5AB-908B-4411-95E3-E273B0F1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66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ECC98-5A12-4503-8BC7-21FD7B4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8DA20-CB83-418C-8770-726AABDF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005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Message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1A20A-061F-4099-A5DE-FAC1E1C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243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Please perform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74083-0EB5-47D1-9548-61B303FD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62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Process a prescription command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24E35D-AC26-4DFB-B638-DDB67932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Service Bus / Queue</a:t>
            </a:r>
          </a:p>
        </p:txBody>
      </p:sp>
    </p:spTree>
    <p:extLst>
      <p:ext uri="{BB962C8B-B14F-4D97-AF65-F5344CB8AC3E}">
        <p14:creationId xmlns:p14="http://schemas.microsoft.com/office/powerpoint/2010/main" val="16112773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E7562-3FD3-4CA9-A6D6-D033FED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BBA1E-BD54-465A-8E3E-B8376C9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EVENT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39AAE-8044-45D5-9CC0-BBA32292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Grid: react to discrete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1D306-233A-4767-BBC7-C8CF8762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F86A2-4C95-4EFD-A4A6-E478446B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27F04-49FC-40E2-923C-AEAB2026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EB82E-98CF-4AFF-9E40-B8C6746B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44E1A-C8CE-4BF7-BCF2-A1932A9A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36845-CFA9-40C8-9703-F0468389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Storage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D34BB-CA2F-4525-AC6B-DF07571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61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7A6E1-EB6A-416A-B8CF-2BB5381B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C3B99-BE0C-4477-9B11-4038F4E1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1D410-23B5-4308-9A12-AF6B337E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Topic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2F93A-1636-4F57-9B8C-6B771663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Grid system topic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91211-8ADC-45AF-BB29-2A938D35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90850"/>
            <a:ext cx="161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82EFC-77D8-486F-ACC5-C674A86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7E4EA-FF99-4F6A-9AAB-0EA0184E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AB621-E687-4A42-841F-DA3A1A5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Subscription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C0E7E-A47A-4A67-BB31-C6310AFD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Filter + delivery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38C1D-179C-41E9-8C71-343E41AB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161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9F394-63E6-4D32-8366-D803CC83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83360-9593-484B-8B26-7ADAB56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86000"/>
            <a:ext cx="24003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9298B-E7B3-423B-B927-41B92649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Handler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8A2C3-7556-430E-B53D-1BC74DB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Logic App / Function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87D57-AA7D-4B1F-AB6B-894E273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571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69133-B5A2-4E1B-83E8-B2D7926D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053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Filter early to reduce noise and downstream cost</a:t>
            </a:r>
          </a:p>
        </p:txBody>
      </p:sp>
    </p:spTree>
    <p:extLst>
      <p:ext uri="{BB962C8B-B14F-4D97-AF65-F5344CB8AC3E}">
        <p14:creationId xmlns:p14="http://schemas.microsoft.com/office/powerpoint/2010/main" val="21341658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87C52E-AD13-46D8-9118-50C649C9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2E9CD-0AFD-425B-93A8-CC0A7697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EVENT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694DE-AF83-42AD-8408-A638A5FC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Grid lab: BlobCreated → Logic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69D06-0BFA-4414-A7E1-B66AAD71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825F3-6F02-488B-8C74-A7FB1634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B5CA0-6F17-46BC-9C49-7F8E7A38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3D8E6-00A5-4C60-88F0-D36453B3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00300" cy="28575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51902-9E76-43DB-BE72-A6B5D67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F57F7-3A2A-406C-A2C4-96F7070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C998-79E8-4B90-A80A-6747A91B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86D4A-80A8-4BCB-8F73-0C0FF5A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1A4C8-6030-4B97-AA0D-DC658A13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447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rx-1042.json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0D3CE-38CF-48C8-A412-4C0545DE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24200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4C5F0-0C55-4EA3-B694-5EB6DCB9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09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B1D54-47FA-4362-9445-AD5EF57A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400300" cy="28575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6165-6903-41FB-8FB4-025E96F6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1C3C1-8078-4D27-8F8B-5673EA3E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22938A-64DA-4708-8B7C-FB008F60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A50A6-93A7-48AE-83D7-216E40BB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163A2-DD79-4AB5-B2E3-689F0406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1447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Subject begins /rx-inbox/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613D1-D1BA-413E-B0D5-68182EF9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24200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86164-AFD4-4523-9611-6A572515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09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38006-68A8-4BA2-9C6B-8A84BB13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00300" cy="28575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81E94-EDA4-4C85-84AE-0D8580B9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D8F9F3-6BB9-46BA-ADA9-E3494F7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C9A52-6BB3-4244-A51E-29E7E224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43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599CF-BDE2-493C-91B0-0DA1B4D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Route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28367-9E68-4F22-9767-AC31177F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447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Event subscription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EBDC70-788E-4941-997F-3896A79E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24200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528AD3-A5F4-4A3A-8C4C-E21758AB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09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521F8-D73F-4609-80F3-1E87EA4B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2400300" cy="28575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E78BE2-CE12-4682-ADF9-4EBB8973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B32199-9142-422D-ACC4-137239A1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240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5CE00B-F87E-4228-A9E7-AE311DF4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43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639D6-0D00-4893-9D20-73E7FBF9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669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Handle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FA5F95-3F6B-4989-BD31-A6B39A9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4478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Logic App records event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91E6AC-063C-4DC3-A56F-F327B113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863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07C10"/>
                </a:solidFill>
                <a:latin typeface="Bitstream Charter"/>
                <a:ea typeface="Bitstream Charter"/>
                <a:cs typeface="Bitstream Charter"/>
              </a:rPr>
              <a:t>Evidence: event type · subject · event ID · successful workflow run</a:t>
            </a:r>
          </a:p>
        </p:txBody>
      </p:sp>
    </p:spTree>
    <p:extLst>
      <p:ext uri="{BB962C8B-B14F-4D97-AF65-F5344CB8AC3E}">
        <p14:creationId xmlns:p14="http://schemas.microsoft.com/office/powerpoint/2010/main" val="7315167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4F29C-CFC8-4CC0-AA31-1619081D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58D9F-B47E-46E9-8C95-A0DE5973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EVENT HUBS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4213F-B479-4D96-B593-D206C3AC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Hubs: ingest and retain an event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264D2-CA36-45D9-8E2E-D8E0F4C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067F8-149E-4A69-B720-A497CEFA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CCC4C-811E-4E88-85BC-614AED91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579F9-E5BE-414A-8D75-98D54BD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457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89A32-33EE-4AA6-8F82-9D3CBFCA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Producers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CC7C0-FF0A-4215-9C67-A6170C6F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Apps · devices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875FD-322A-4D5B-9242-ACB4948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64699-CAD5-4A38-87C6-C02B304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00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C40C6-6E0E-487B-AC59-CBCA114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33600"/>
            <a:ext cx="2457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20E0E-742D-4B4E-9D1A-1E4E6CCB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Partitions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68DCB-1C18-40E0-930D-FA145AF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480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Ordered append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51D26-CEA9-4948-B8A3-1C4E9B05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68AB5-F488-49A0-B43F-5E79A5C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52650-6005-42DB-8740-49BE1CB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457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4BD97-3A25-47AC-89BE-97CF1568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Consumer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8CEFD-DEB1-4A03-BCA5-E65C13C3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Independent 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CDEF3-EB08-49DF-AFC7-14C0C34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180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D9A0C-3439-44FF-BC7D-34A45E6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7FD6D-7A47-4264-BDE9-544B548E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4574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7476A8-67A2-4C38-828A-01AF3E5D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Processors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19984-B472-4827-8B7A-965AC4A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Analytics · storage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BB893-249A-44BA-9ECE-F9D40071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7658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FF316-9ECF-4B5E-80A2-B300070E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62475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Readers track offsets; the stream is not deleted when one reader consumes it</a:t>
            </a:r>
          </a:p>
        </p:txBody>
      </p:sp>
    </p:spTree>
    <p:extLst>
      <p:ext uri="{BB962C8B-B14F-4D97-AF65-F5344CB8AC3E}">
        <p14:creationId xmlns:p14="http://schemas.microsoft.com/office/powerpoint/2010/main" val="13655352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1620EA-94BA-4ABD-819C-025BBC41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BE1A5-A64B-40EE-9242-81D0D324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EVENT HUBS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EDF47-83E5-48FE-B18A-2F86D7CF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Partitioning and consumer groups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32A52-98AC-4785-8CDF-AC077589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41944-3C9A-4526-812F-D21981E3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F1D31-578C-4A71-9226-3B8B4BD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BBA5-5D16-43D7-B6AE-270E4633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Partition key: patient-42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7DB90-063B-45A5-9ACA-0BD8AFF6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3B92F-95CF-471D-B238-75DDC17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Partition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4C434-217E-4F08-A632-2B1353EA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E6EA6-F389-4C89-8F9B-647902D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0.0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5D9ED-090B-4389-9B87-74DDC17A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BFCB8-B08F-463A-B5FA-E8813007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0.1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5A0FA-652F-4D58-B73E-C5D223C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BC595-7B1B-48AC-A078-0B101CB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0.2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93421-823B-4EFE-933C-94D76017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CED9D-4FF6-49D4-B15E-0E36608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0.3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4F512-206C-48BF-B887-F00A4D5A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955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15C3F-6C94-4427-9992-720126E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0.4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FAC7B-B200-4691-9D22-1E81AB4E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3E785-6FB2-4D42-BD34-6CB4F70B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Partition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59B2B-3E89-433F-A128-EEF4F4CA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623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80BAB-58DC-4607-A6E3-1877FAFE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94F22-7BEF-4A14-B8D7-7D51CF7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623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F3AAF-C3F7-4923-ABE4-DB2AB494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1.1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F53EE-872C-4755-B028-2BA0ADB7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623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0E34DA-3352-41B2-B021-422CB5FC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1.2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22512-20DA-43EB-B597-73B758DA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623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0739E2-2A09-4757-A4AF-98E40D0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D05D9-C304-4168-9788-2EB96131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623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5E35D-98C3-46C9-AD7B-74745540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1.4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737B2C-8930-4CEE-B30A-59A31CEC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EFA62-5534-40D6-B938-4F26270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Partition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2B53F-8023-4E1D-85F2-DED4482C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291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981126-470C-4869-946A-B702479B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38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38180C-0C66-4B5C-9EF1-A6FB9CE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291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BD666-5A89-429E-B4DD-F4F9F725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38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2.1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AF0DE-D80A-4FDC-9A6B-1FEED7E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291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FFF420-37F6-4E4F-9A74-5C239CD3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38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2.2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78840-5ACF-44D9-9934-9A601DD8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AE9A9A-8FE9-4C02-B7D0-7827A08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38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2.3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178FF0-882C-4CDE-BBBA-395513BE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29100"/>
            <a:ext cx="666750" cy="7429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5496E0-ACB9-4F9E-8D42-475D61FC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2.4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5ECFB3-6365-4919-9201-CF270919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905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5E6764-5B11-437D-9D1C-A992B19A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88E4D4-7753-47C2-8A15-81C54637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383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Consumer group: analytics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352B90-4F24-4809-A749-9E2606C5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3840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Offset at event 1.3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316595-CEFF-448B-A135-BB177DED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905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FF9F4B-8FA4-4411-853C-79CB717F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AEF349-BCF5-4FAD-8568-6CF3BFED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Consumer group: archive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52D0BF-905B-4B2E-9375-F7704C6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Offset at event 1.1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3A261E-89BF-4CA7-8462-2B81D1C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34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D13438"/>
                </a:solidFill>
                <a:latin typeface="Bitstream Charter"/>
                <a:ea typeface="Bitstream Charter"/>
                <a:cs typeface="Bitstream Charter"/>
              </a:rPr>
              <a:t>Ordering is guaranteed only within a partition.</a:t>
            </a:r>
          </a:p>
        </p:txBody>
      </p:sp>
    </p:spTree>
    <p:extLst>
      <p:ext uri="{BB962C8B-B14F-4D97-AF65-F5344CB8AC3E}">
        <p14:creationId xmlns:p14="http://schemas.microsoft.com/office/powerpoint/2010/main" val="1124917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AE713-1387-42AE-BF7E-E2E1ECC2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9ABEC-B7D6-4A9E-9B7B-CA367B9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SERVICE 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E7733-280D-4B1D-BBC3-DDBA11F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Service Bus: brokered enterprise messaging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B1EF-BEC2-4EC5-A310-15213584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4AF72-0A3F-4011-91C7-F0D083D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EBFEC-1F87-40AB-9C7F-2E052CEA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209BE-C80E-49CD-B914-E24B0EF7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22FF6-0C66-4D2C-82A7-99AE67C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CCBDA-EF28-443E-BE5B-C01899B1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Queue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8EC88-6E84-4DA7-95EB-17589AE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Competing consumers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One message → one processing path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Load leveling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Peek-lock 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D95DA-6643-4776-BA27-521F8E50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5155A-B77B-42D6-983A-77FBF4C9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B54F4-11CA-4495-9DE1-E5C46C03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Topic + subscriptions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2EA44-FE71-4813-8685-43E20BB9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Publish once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Independent subscribers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SQL/correlation filters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Fan-out commands or notifications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02D7-39C8-4B9D-8E24-3739E52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9D839-1730-4B6D-B0BE-1663B17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3BB94-6133-4ED3-AC75-84C6F881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Broker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6385D-F7E5-4671-87FD-BCC6716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Dead-letter queue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Duplicate detection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Sessions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Scheduling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Transactions</a:t>
            </a:r>
          </a:p>
        </p:txBody>
      </p:sp>
    </p:spTree>
    <p:extLst>
      <p:ext uri="{BB962C8B-B14F-4D97-AF65-F5344CB8AC3E}">
        <p14:creationId xmlns:p14="http://schemas.microsoft.com/office/powerpoint/2010/main" val="1942135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2606B6-B1C2-473B-9FD1-B8AC184C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E5D43-11C9-4B93-B24D-53AC38F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SERVICE 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4ACD9-353F-48E1-8004-1D7323EB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Peek-lock, complete, abandon, dead-letter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2A9AB-138B-4E00-8643-3D69140A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590D2-07B0-42A5-9317-3B87662F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30FE2-3E7F-43B7-835C-3A66AC3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EAEDB-50E7-4077-BD63-CA78B39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19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AE836-699E-4C45-B422-4F613264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5417D-56D6-4CD4-85B6-D4A4F437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6FB56-B0C4-4603-8E63-3CA4D610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Receive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1F4F4-80DD-471F-B0AF-1D56DF3F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Lock—not delete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773C3-8008-418B-A33C-94E45C47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F2CFD-6BAD-481B-BC55-0A5DCAF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5ABAC-E7D6-4FBA-9253-B12C7D75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2419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A8820-A269-418C-A9D1-1A2655A8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685EE-8E77-4D72-8F8B-D59BD34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34C5F-DA60-40D0-9D31-EF821E49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Process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F5C67-2A62-416B-AC84-3869EFC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Do the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CEDFB-0FF2-42D0-A06B-1898BB32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258AF-F4D7-48B2-A2E7-B0FC392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9F6F2-ABF3-4EE3-BA86-46C198D8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419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154D8-C2BC-4B08-8A30-F96CD344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5AD60-AEC7-4E17-8796-755640F5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274B9-7233-44AF-B504-CE2B7F26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Settle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C2AC7-CB60-4D0B-9B68-A59C08A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Complete / abandon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FEECB-E17F-4B60-A1D3-7F1E8979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219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A631B-32E6-4F85-A976-B6A95D57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3B471-AFB6-4148-BA56-80DAD991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4193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1343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AA60D3-9549-4C34-BE26-6C16C013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526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1343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42CC3-8539-49E1-B6EA-36CE00C5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811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E65B2-625D-40E7-88EC-F104D7B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Investigate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7BAC3-A8D7-4E3F-B225-E4DCFFC3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Dead-letter poison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EE0DB-0C47-407E-8E3D-AD7588E6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590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3560D-CDB9-423E-B2FE-5BD936B2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958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Complete only after the business side effect succeeds</a:t>
            </a:r>
          </a:p>
        </p:txBody>
      </p:sp>
    </p:spTree>
    <p:extLst>
      <p:ext uri="{BB962C8B-B14F-4D97-AF65-F5344CB8AC3E}">
        <p14:creationId xmlns:p14="http://schemas.microsoft.com/office/powerpoint/2010/main" val="1614051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7DE40-C3C2-424E-AA59-B2680FAF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CF502-10D7-483D-9F75-EFE74C5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QUEUE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C385C-DC8C-41D7-9F87-93745B3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Queue Storage: simple, durable work buffering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CD4D5-7506-4E71-AA38-8693D1B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FCEB5-F90D-4FF3-9693-FD5577F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AD496-D851-41CD-AFB0-A18849C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7DC47-F76E-4BEE-88BF-50E888D3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857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0658D-B7A2-446D-87EA-081AB77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79F92-3663-44A6-8AA9-F84C2AD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Strengths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265B6-A0ED-4F5B-B2C7-F7253C12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4386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Low-cost, large backlog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Simple HTTP-accessible queue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Broad Storage integration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Good for straightforward background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3294C-DF0F-4598-8283-3025495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4857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3EBAF-37AE-40F0-B23B-8D5A256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C48CB-3691-4C98-BFAA-EA2EF489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Trade-offs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D631E-5919-4D40-84BD-9F16739D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44386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No topics or subscriptions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No transactions or sessions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Ordering is not guaranteed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Application manages poison-message 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26785-1D1F-4C40-9DB8-BEF0E3B1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6858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6F547-70BB-4049-9DF9-22ABCB0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959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Choose the simplest broker that meets the reliability contract</a:t>
            </a:r>
          </a:p>
        </p:txBody>
      </p:sp>
    </p:spTree>
    <p:extLst>
      <p:ext uri="{BB962C8B-B14F-4D97-AF65-F5344CB8AC3E}">
        <p14:creationId xmlns:p14="http://schemas.microsoft.com/office/powerpoint/2010/main" val="15703507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954928-3F3C-4F1B-81F8-F15F62C9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2D22D-731A-4E8D-AD97-4FEAA146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0A05C-4C27-4557-BE37-7BEC902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Messaging service decision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A45BB-4423-46BA-9923-A861426A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1C37-BFAA-44C0-97D0-9D469A26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45A50-921B-4C54-A16A-0DED66F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26CCB-ABCA-4103-98E8-2EEB11D4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A422C-8000-499E-943E-C64F1EC0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9A772-7C6F-4E0F-A915-2EB445FD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3144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3D920-68F5-430F-A469-3FEEA40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811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Event Grid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D07D9-87C9-41BF-9326-03351CCA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144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6CC7E-B3B4-4788-8E33-9E9D4421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Event Hubs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A0C3B-CAB3-434E-80CA-EF8100E2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144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30A35-441D-483A-B9CB-DE390F75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Service Bus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27509-DA20-40C4-9899-A13CBF94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144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43E5E-2834-43B3-B045-836762FA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811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Queue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0EC6B-7442-445E-BCB4-068955CF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0A90B-4633-4914-8289-398EE2F8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Primary job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47749-E9BE-4724-9759-1FABFC70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574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A0A43-E321-4CE9-B416-C56EEF86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Route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0C567-DFA6-46D3-B82B-589AC33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574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625BE-49D0-4AE7-8E84-7B1E3461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Ingest stream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EFE33-7AC6-456C-852C-03D32465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79D17-C359-420F-A6F2-7E630013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240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Broker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2C680-2A4A-4F9F-BBC7-DBD35B1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C3E9A3-4EA3-4B4C-9B75-8685E8FD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2407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Buffer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54308-2FB3-44DA-9459-7113B0E8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A55BE9-5461-48B5-87A9-9D52B19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Delivery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41AFF-A1A4-439F-8BB3-1BF72DE0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70E6C4-4182-4B16-A5A8-CE3F5B91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670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Push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FC12D-5324-4385-B8E1-A2F8110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03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6012BF-610E-4775-83FF-4E304D8C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670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Pull/read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506F4-18D4-4B43-B8E0-47ED9A21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03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B16280-AB9E-415B-A53A-E3A73D0A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670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Pull/receive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083D64-516E-438A-A2E5-89D2DD2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C7BC8-D6C9-4BBA-BDC9-3CE84EA8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670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Pull/receive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905787-7082-40CF-ABFA-E7132C61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5D3D63-B0D9-41CD-BF0C-CCFE0039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Fan-out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DB88C1-0119-432C-8366-A5DCF611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169028-3B3E-46E1-93F1-2D60C24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99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Subscriptions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A0F6ED-5308-41B6-BF7B-3B6F73F7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F0BD42-806A-4D58-8F62-7754B075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99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Consumer groups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2594F5-B56C-496A-A39C-424292B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4218A-517B-48C8-9B51-8DAFC8AF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Topics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A2E821-744F-4647-8C59-3573A7C9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553C0A-7EE5-41D8-A037-58AC98CB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997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Multiple queues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5A4F7F-8CB0-4D1B-B101-4BD3F340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CBD022-3207-4864-8A90-88141A2C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529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Ordering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9A1305-04B1-4CE6-94D2-C9EC54EC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DA01AB-3A21-4DE1-9E73-CE109768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529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No global order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C9A2AD-5551-404E-B3EC-FF13E56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86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BFCF95-CE26-4B0B-AD9C-5D4CCAE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529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Per partition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7A5E5F-4E02-48DA-AF8B-40CA2931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862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16DF2B-0B27-40AB-A0E8-305FE521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5292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Sessions / FIFO patterns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5358E6-9298-47CE-9A04-73C73BCB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2B5F69-6CA8-4E63-8BC5-53F853C7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529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Not guaranteed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26C5EF-BE74-4E76-98D6-B5753EEF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998365-1231-4C6F-8F26-49D48AC0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Choose when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1655CF-89A1-4AD2-B58F-E7AA016F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29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48EE45A-28D7-4401-B168-2620F8B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React quickly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D9AB48-30EA-4DA2-977F-A8E7687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29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241BB7-02F5-49FE-81F3-D50B30D7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958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Replay telemetry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B57290-5056-4CAE-A3F9-8C28241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292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B725B4-0856-412A-ABF7-CD0BE7B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Rich semantics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0EA43B-F939-4269-A5B6-6AEC7B6A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292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0AE996-51F7-4F42-86FA-9CE0555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9587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Simple + economical</a:t>
            </a:r>
          </a:p>
        </p:txBody>
      </p:sp>
    </p:spTree>
    <p:extLst>
      <p:ext uri="{BB962C8B-B14F-4D97-AF65-F5344CB8AC3E}">
        <p14:creationId xmlns:p14="http://schemas.microsoft.com/office/powerpoint/2010/main" val="14329579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E60C01-D2C9-45C8-8D44-0EC29895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FEEE5-F096-48FF-BDBC-5952BA5D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62857-A707-4BC0-8CF7-04849BCA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End-to-end reference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BF420-0F39-4D79-B958-0F422A4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A22D1-1CE9-4842-B27C-1F49CBF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E1B1A-9750-4B64-A65F-14BAC38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B520B-2D28-4AB6-BD57-C830FDB6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FAD2D-EF8B-493C-90FE-9D3EAF73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Postman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453DE-993C-4761-9B53-8C534FD6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5B4C4-E82E-4AA1-B386-854B4F5B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8633D-E921-4E47-A6F1-6CE948DE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9B191-E885-4B2D-A7F6-CE3826F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9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APIM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35FBF-128B-4897-8346-EAEDFB38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D549A-BEE0-4AB1-9069-2E156F0C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9CEE8-6AF2-440B-8F2D-08B4ECC1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91028-4BD3-4C4E-A058-139DD270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9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Logic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4B3A5-3AE1-4902-AC07-194E1812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390A4B-11EB-4436-BE85-BE7B77B1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5DC02D-B8CC-4877-A974-838A7FF2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DBE5D-A680-4C3D-B199-EBC1795C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9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Service 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484DC-A80D-49FF-A799-F423A4DB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6FD88-91AD-4DE5-9FC9-B3D28FD3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F7721-906D-47C2-99B8-486A3C19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3D4F3-F6B0-4E3D-A2B0-D4EA9476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97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7E620-82CD-487A-ADD2-5072D51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340D6-74D3-4244-9BCE-10AE3B09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Grid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2C97C-1E6B-432A-BC3F-F250AC28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B4DEA-2771-4A24-9E91-ACA69C1C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718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Event Hubs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08EAFB-7D1C-46DE-8B96-12E64D0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19375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C25A6-F334-466D-89A3-5A80643A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43325"/>
            <a:ext cx="257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21D76-4125-4642-AF39-B11E64B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290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8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95CC66-7958-4E59-8AD9-FAAD6BE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47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299378-EC89-4589-A16B-74D99B64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03EDD2-4CE1-479A-BD5B-A740FA13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Design intent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DBD2C3-7127-4098-8E3D-572854A3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6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APIM governs the synchronous contract. Logic Apps orchestrates. Service Bus buffers required work. Event Grid fans out facts. Event Hubs captures high-volume operational telemetry.</a:t>
            </a:r>
          </a:p>
        </p:txBody>
      </p:sp>
    </p:spTree>
    <p:extLst>
      <p:ext uri="{BB962C8B-B14F-4D97-AF65-F5344CB8AC3E}">
        <p14:creationId xmlns:p14="http://schemas.microsoft.com/office/powerpoint/2010/main" val="176176685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18C4A-78FA-42EC-B297-7711050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2F6F9-5B50-48FF-8027-14C6A308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68992-F7B0-4649-B29E-1D2A91DF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Reliability checklist across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53C92-C473-459B-964D-630DF692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F8B54-3DF1-4AD3-A5BC-EF2E4B3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8636D-8ED4-4013-BE98-B7CE8D32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D8ED34-4F1B-462D-A40B-6F922969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04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39732-3D5B-4683-9E39-59F4EEFC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BB79-CABB-4FAD-BA6A-BD260EA6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Correlation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4AFB6-51F6-4208-9D91-17E5745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One ID in API, workflow, event, and message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64609-C7C5-49EE-879D-2256E106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52550"/>
            <a:ext cx="504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66560-9F58-495C-AD0E-F6AC0A28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525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12B30-F1DB-4F71-9C2C-22442ACE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049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Idempotency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43178-7091-458E-A7B6-D1176AD1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Stable business key; safe replay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9E5BF-9120-48F1-AF97-AB2A4303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04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88467-BF1B-40A6-A148-A566337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F96E8-A53A-4BE8-B8C4-D5B01FB1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Retries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64F72-0F5D-4EB1-9E1A-4E242861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Bounded exponential backoff for transient faults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07D6D-9B48-41E7-BC73-CCE4137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504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09FA0-6083-4294-A218-EC3553C2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43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4AA944-6B3E-44AF-A03B-F713B662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Poison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E5A23-B8A5-419D-BF77-E9162AD6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Dead-letter or quarantine with alerting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511C4-9F35-4AD3-9921-6C491B26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04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F9460-79FD-4DE5-B459-2F57579B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44C67-4BBF-4277-B9DB-42D77E5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Observability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EF42B-93FD-4198-A83C-06044387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Metrics, logs, run history, and actionable alarms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3EF01-07CD-4B4A-8A57-5775CD63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504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EDE089-9A43-41FF-8F8C-595265DE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3D8AA7-25B3-4C84-BCD7-4D3A7ABF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Secrets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9712CF-A8CC-4371-A3C9-4A80B913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62500"/>
            <a:ext cx="462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Managed identities / Key Vault; never exported collections</a:t>
            </a:r>
          </a:p>
        </p:txBody>
      </p:sp>
    </p:spTree>
    <p:extLst>
      <p:ext uri="{BB962C8B-B14F-4D97-AF65-F5344CB8AC3E}">
        <p14:creationId xmlns:p14="http://schemas.microsoft.com/office/powerpoint/2010/main" val="3664064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5340F-5B35-43D1-A863-7DF78368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03328-6851-4C15-9E43-E56EDD32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LAB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36BD8-E41D-4ADA-A994-4CD891B2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Classroom topology for 14 learners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15E5E-1076-4873-BC2C-5B3D052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1C7E5-A4F6-43D3-8C3E-95039C19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6A369-ECFA-4309-9027-25D1A499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FD4A2-A8C6-414F-8A25-C6FC35F5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E9EA3-93E1-4FAE-ADA8-9F28F0EA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ACE16-22BC-439F-9B29-AC40616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Shared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934B6-F06D-4C06-B4D4-75E5543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Trainer-managed APIM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Event Hubs namespace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Service Bus namespace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Reduces provisioning time and quota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7CA07-49A3-432A-8430-370BC3A9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68681-DC62-4A93-AC03-CC9D53F9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AAC07-47AC-4106-AEDF-7D948A4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Per-learner isolation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F19E1-3B8B-4C84-A50A-905577B2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Unique API suffix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Unique product/key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Unique hub or partition key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Unique queue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Unique storage prefix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32315-5F95-4B1C-BDD9-4EDB4808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01FC3-F194-4668-B8B0-A98A8AB0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20924-7292-4D77-ADEA-12389141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Naming pattern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A61D1-A97B-4627-8B5B-64EBA3EC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d15-&lt;initials&gt;-&lt;nn&gt;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Example: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d15-ak-07-api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d15-ak-07-queue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Tag owner + expiry date.</a:t>
            </a:r>
          </a:p>
        </p:txBody>
      </p:sp>
    </p:spTree>
    <p:extLst>
      <p:ext uri="{BB962C8B-B14F-4D97-AF65-F5344CB8AC3E}">
        <p14:creationId xmlns:p14="http://schemas.microsoft.com/office/powerpoint/2010/main" val="3946203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44AD7-8818-4B20-8F97-1A783A50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D4FE1-8C73-4D66-8B7A-BC9DCE6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8D822-5BEF-40D2-9392-C32EDD2C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Integrated practical: prescription intake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7D8C7-9565-4B8A-9352-1551E0F2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1646D-6261-4B23-BF99-B51993A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87B47-EDDB-46A2-8A34-43256359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32B93-0DEE-4D0E-AB2B-7DC2765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E3003-B6CD-4002-A8AB-90EB1245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57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E6797-5503-4059-AD26-54412AB3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144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FC026-EE78-407D-A1AE-A2E80CF4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144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HTTP Logic App validates and records the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F1627-706D-4AFC-BA07-BD261550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E5397-CCA8-4693-B4EC-373B11A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EE590-D81A-4190-8975-2DAD664C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A576D-266E-4906-AFD1-5478DF64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Govern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668E6-6601-4F83-B05B-19D6659D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Import to APIM; require subscription; add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AC442-2A9F-4D3E-BC4E-29AD1DA2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D693A-4243-4BE9-8E41-398C5C4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A9CF8-18E5-4942-9B3A-5C61A88B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93A8C-6BCD-4C04-98BA-31DFFFE8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F9E16-DEA4-4CAB-873F-65FBA0E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Postman collection proves happy and failure paths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7F08B-EEE1-4F8A-9175-94DEDBA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61276-3E87-4A78-88FA-B02BB34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AA7C9-72F4-48E2-86E5-9BD84E6D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10C10-6498-48F7-814B-45E5A3F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Decouple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0E93F-DBAE-44A4-9FD4-51548113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Route a fact or command to the correct messaging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AD6D7-9586-4768-B4B9-7E56C27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670FE-FA61-476C-A486-4FC89ADD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28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B6368-9CC5-4677-A5B7-CC9BD2C9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6C3DC-39C3-4074-8128-8AC7EAC2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Operate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8AD126-8A7B-41D8-ABDE-29A43544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434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Show run evidence, correlation, retry, and cleanup</a:t>
            </a:r>
          </a:p>
        </p:txBody>
      </p:sp>
    </p:spTree>
    <p:extLst>
      <p:ext uri="{BB962C8B-B14F-4D97-AF65-F5344CB8AC3E}">
        <p14:creationId xmlns:p14="http://schemas.microsoft.com/office/powerpoint/2010/main" val="21276902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19587-5997-4DB9-86D2-29DBD2E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A6382-664E-4B18-B9B5-47457CD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KNOWLEDGE + CODE + PRACTICAL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7C492-2F60-44C2-87C0-37B89164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Assessment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B4791-BA02-42E7-808C-D5961F0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B1FB3-B1DF-430E-8142-79A5CBDD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7B0AA-DA1E-44F8-BE5C-C5DE719E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D072B-32A0-4CD4-8F10-C2A40882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38DC2-548B-4556-831D-81DE6590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B19DD-491D-42E0-924D-4625E6FB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MCQ ·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50BA5-F6E5-473F-9E66-753D7774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Service selection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Trigger vs action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APIM policy scope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Consumer groups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Lock settlement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B1606-F8DF-4A47-94F2-D3390E4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AB707-C702-4CCC-8937-033CAF25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287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B5CB0-45C8-4317-A51B-E211592F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Code · 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04586-9135-44E5-8E26-488D0EED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Postman test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Policy fragment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Sender/receiver snippet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Error-handling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87DE8-EA48-4AD8-9CAF-82FF7F5E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3238500" cy="3714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64B24-5DC5-4FD7-BF42-B2D02520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287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9ECE0-CDA2-4E83-B5D7-6BC45538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Practical · 45%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34185-135C-4F53-9DC9-1617BE3F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8194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Working workflow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Governed API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Evidence of messaging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Operational reasoning</a:t>
            </a:r>
          </a:p>
          <a:p xmlns:a="http://schemas.openxmlformats.org/drawingml/2006/main">
            <a:pPr algn="l">
              <a:def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Clean handoff</a:t>
            </a:r>
          </a:p>
        </p:txBody>
      </p:sp>
    </p:spTree>
    <p:extLst>
      <p:ext uri="{BB962C8B-B14F-4D97-AF65-F5344CB8AC3E}">
        <p14:creationId xmlns:p14="http://schemas.microsoft.com/office/powerpoint/2010/main" val="13335803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AA49A6-9F01-49C6-8BE7-ACF718EC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6F4FD-4E5D-4CB0-A77B-175D7CD0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0078D4"/>
                </a:solidFill>
                <a:latin typeface="Bitstream Charter"/>
                <a:ea typeface="Bitstream Charter"/>
                <a:cs typeface="Bitstream Charter"/>
              </a:rPr>
              <a:t>CLEANUP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551B6-3B99-49DD-BAAF-4BBEE99F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Close the lab safely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89076-1303-4249-85F2-99138CE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42351-CE67-4567-8EFA-1D8696EC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DAY 15 · AZURE INTEGRATION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5CAC3-F3C4-4DF2-B2AF-C6B032AA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436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4B6170"/>
                </a:solidFill>
                <a:latin typeface="Bitstream Charter"/>
                <a:ea typeface="Bitstream Charter"/>
                <a:cs typeface="Bitstream Charter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233F3-B211-4BEE-85AD-6C13991C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8CA0B-83D4-4408-A8DF-C90C470C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BFA5E-7C25-4357-86EA-C9675E1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FED8A-1C69-4EEC-95E8-4DA93014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6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Disable recurrence triggers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54EA1-257F-41A4-95ED-C8850DB9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335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8DC76-B56E-462B-9DE3-65E9CCEB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C7AC4-FB68-4F9E-B2C9-13D317FB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E1141-E783-48FD-8EEE-A4A5D1E8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6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Delete learner queues and hubs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B5B66-B9CC-42BE-B44F-2E46099D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4D469-FC1A-4C6D-A475-F64AB6C8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4EEE9-C4F2-4A72-8B50-F358ABD1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9DECE-0A5F-4EBC-B5DA-F263EC78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33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Remove subscriptions and keys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85896-E110-4004-9175-9E0B5C2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53C91-F628-40C3-805E-9BECD605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AB66C-B955-491D-B8D2-84035BC0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0F191-D4D5-4447-95E7-4046BFC9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Delete temporary storage objects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1F222-A006-4797-BCC7-3B1FA8F2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48D1C7-C9A2-463A-8731-6BAB45B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AFE213-ABA5-47F7-901F-AA522270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2F691-E586-467E-8E15-F37E4B44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Remove test products/APIs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D08C34-0589-41BE-964C-F32E4695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671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D481B-625A-4456-A2DC-092758A9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D0041-F0A0-429E-ADCB-2CA32E8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BE104-D6F5-4A82-96CA-B2D7D2D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Verify no exported secrets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2065F-AD2F-4EA8-89E1-04D850AA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31216-570E-436C-8C95-05BBDDFF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62A7B-E669-4B32-8986-9D414B41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85EEEB-A978-4ECE-970D-55E471A0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Delete disposable resource groups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0918C-808A-4319-B52E-885C9B0F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C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CEF0E-50C5-4613-8A33-E1D861A9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F15557-E96D-4D1D-B4E7-987E8B2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8A14CE-553A-45F8-B03E-C329B7B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Capture evidence before cleanup</a:t>
            </a:r>
          </a:p>
        </p:txBody>
      </p:sp>
    </p:spTree>
    <p:extLst>
      <p:ext uri="{BB962C8B-B14F-4D97-AF65-F5344CB8AC3E}">
        <p14:creationId xmlns:p14="http://schemas.microsoft.com/office/powerpoint/2010/main" val="18164842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82DCD-13A4-4488-8632-0E1BA405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EE808-D57F-4BBB-B6CC-D7DEB0F2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Day 15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4160E-4DC6-4C2E-B67F-90387F0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DDF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B9DDF6"/>
                </a:solidFill>
                <a:latin typeface="Bitstream Charter"/>
                <a:ea typeface="Bitstream Charter"/>
                <a:cs typeface="Bitstream Charter"/>
              </a:rPr>
              <a:t>You can now orchestrate, govern, test, route, stream, and queue cloud integration workloads.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A1260-EEBA-4F12-850D-DB1E7EDB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37DC6-CBC5-431B-BBE1-1811E5C3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ORCHESTRATE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03A97-BC14-4159-8C8F-574247A0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F8905-DFF5-4DCC-AB1F-E182EEB4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57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GOVERN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FB5A2-23A0-42CA-B59A-1D5AD531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28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3CA09-7BAA-42E6-88FB-F5911C8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57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1AAC6-5F40-4608-A5DE-744A5910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7C1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8DDE8-72F9-4BCB-9897-8E29D612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57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587FE-5CB7-440A-96F5-71D48814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D2503-7B23-4E10-B211-8988651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575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MESSAGE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CBC4C-03D1-4D6F-85C0-19287172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0A4EF"/>
                </a:solidFill>
                <a:latin typeface="Bitstream Charter"/>
                <a:ea typeface="Bitstream Charter"/>
                <a:cs typeface="Bitstream Charter"/>
              </a:rPr>
              <a:t>Final question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47B77-C62D-4961-B810-E4B3AC4C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Which reliability decision will you make differently in your next integration?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E4BC8-FF70-43F6-BC04-74424616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CB7C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9CB7CA"/>
                </a:solidFill>
                <a:latin typeface="Bitstream Charter"/>
                <a:ea typeface="Bitstream Charter"/>
                <a:cs typeface="Bitstream Charter"/>
              </a:rPr>
              <a:t>Use the lab guide for step-by-step execution and the trainer guide for prompts, timing, and assessment.</a:t>
            </a:r>
          </a:p>
        </p:txBody>
      </p:sp>
    </p:spTree>
    <p:extLst>
      <p:ext uri="{BB962C8B-B14F-4D97-AF65-F5344CB8AC3E}">
        <p14:creationId xmlns:p14="http://schemas.microsoft.com/office/powerpoint/2010/main" val="97097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2026-09-15T19:15:44.8320000Z</dcterms:created>
  <dcterms:modified xsi:type="dcterms:W3CDTF">2026-09-15T19:15:44.8320000Z</dcterms:modified>
</coreProperties>
</file>