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209f678c014a82" /><Relationship Type="http://schemas.openxmlformats.org/officeDocument/2006/relationships/extended-properties" Target="/docProps/app.xml" Id="Rd449deb9f3d9443e" /><Relationship Type="http://schemas.openxmlformats.org/officeDocument/2006/relationships/officeDocument" Target="/ppt/presentation.xml" Id="Ra5a9bd91f52f4f71" /></Relationships>
</file>

<file path=ppt/presentation.xml><?xml version="1.0" encoding="utf-8"?>
<p:presentation xmlns:p="http://schemas.openxmlformats.org/presentationml/2006/main">
  <p:sldMasterIdLst>
    <p:sldMasterId xmlns:r="http://schemas.openxmlformats.org/officeDocument/2006/relationships" id="2147483648" r:id="Rc03a93f7bf3f47ed"/>
  </p:sldMasterIdLst>
  <p:notesMasterIdLst>
    <p:notesMasterId xmlns:r="http://schemas.openxmlformats.org/officeDocument/2006/relationships" r:id="Rf2069dd5500143c7"/>
  </p:notesMasterIdLst>
  <p:sldIdLst>
    <p:sldId xmlns:r="http://schemas.openxmlformats.org/officeDocument/2006/relationships" id="256" r:id="R45926dd9abd4447e"/>
    <p:sldId xmlns:r="http://schemas.openxmlformats.org/officeDocument/2006/relationships" id="257" r:id="R8e90f2ffe9a04279"/>
    <p:sldId xmlns:r="http://schemas.openxmlformats.org/officeDocument/2006/relationships" id="258" r:id="Rf362f0e25bae458b"/>
    <p:sldId xmlns:r="http://schemas.openxmlformats.org/officeDocument/2006/relationships" id="259" r:id="Ra7bb1939d87d429a"/>
    <p:sldId xmlns:r="http://schemas.openxmlformats.org/officeDocument/2006/relationships" id="260" r:id="Re708ef09273e4c7c"/>
    <p:sldId xmlns:r="http://schemas.openxmlformats.org/officeDocument/2006/relationships" id="261" r:id="R863b6d0677b147f2"/>
    <p:sldId xmlns:r="http://schemas.openxmlformats.org/officeDocument/2006/relationships" id="262" r:id="R0e27bc09c12a487e"/>
    <p:sldId xmlns:r="http://schemas.openxmlformats.org/officeDocument/2006/relationships" id="263" r:id="Rd23aba6c5aca4084"/>
    <p:sldId xmlns:r="http://schemas.openxmlformats.org/officeDocument/2006/relationships" id="264" r:id="R37354d7c9e0a4047"/>
    <p:sldId xmlns:r="http://schemas.openxmlformats.org/officeDocument/2006/relationships" id="265" r:id="R1587ec0f40b546b1"/>
    <p:sldId xmlns:r="http://schemas.openxmlformats.org/officeDocument/2006/relationships" id="266" r:id="Red2361fc76e540c3"/>
    <p:sldId xmlns:r="http://schemas.openxmlformats.org/officeDocument/2006/relationships" id="267" r:id="R22012449b9644dc5"/>
    <p:sldId xmlns:r="http://schemas.openxmlformats.org/officeDocument/2006/relationships" id="268" r:id="Re132d9da8cf04655"/>
    <p:sldId xmlns:r="http://schemas.openxmlformats.org/officeDocument/2006/relationships" id="269" r:id="Rbb2640e863f1496b"/>
    <p:sldId xmlns:r="http://schemas.openxmlformats.org/officeDocument/2006/relationships" id="270" r:id="R5837672fd86242b4"/>
    <p:sldId xmlns:r="http://schemas.openxmlformats.org/officeDocument/2006/relationships" id="271" r:id="R43a1fdbb1de344a5"/>
    <p:sldId xmlns:r="http://schemas.openxmlformats.org/officeDocument/2006/relationships" id="272" r:id="R9394811f813141d6"/>
    <p:sldId xmlns:r="http://schemas.openxmlformats.org/officeDocument/2006/relationships" id="273" r:id="R93d97268cc2a4731"/>
    <p:sldId xmlns:r="http://schemas.openxmlformats.org/officeDocument/2006/relationships" id="274" r:id="Rd26db02a6c5b48d3"/>
    <p:sldId xmlns:r="http://schemas.openxmlformats.org/officeDocument/2006/relationships" id="275" r:id="R3b826738c14041cd"/>
    <p:sldId xmlns:r="http://schemas.openxmlformats.org/officeDocument/2006/relationships" id="276" r:id="Rc6c8bdac3ae44199"/>
    <p:sldId xmlns:r="http://schemas.openxmlformats.org/officeDocument/2006/relationships" id="277" r:id="R23b75d3de5fd40c7"/>
    <p:sldId xmlns:r="http://schemas.openxmlformats.org/officeDocument/2006/relationships" id="278" r:id="R33d8f59f00134bec"/>
    <p:sldId xmlns:r="http://schemas.openxmlformats.org/officeDocument/2006/relationships" id="279" r:id="R326191df7df64eef"/>
    <p:sldId xmlns:r="http://schemas.openxmlformats.org/officeDocument/2006/relationships" id="280" r:id="Rfd0c58147e3e4aa3"/>
    <p:sldId xmlns:r="http://schemas.openxmlformats.org/officeDocument/2006/relationships" id="281" r:id="R72ffb8b7d83e4609"/>
    <p:sldId xmlns:r="http://schemas.openxmlformats.org/officeDocument/2006/relationships" id="282" r:id="Rc326429af7da4d74"/>
    <p:sldId xmlns:r="http://schemas.openxmlformats.org/officeDocument/2006/relationships" id="283" r:id="Rbc012c7d106c4240"/>
    <p:sldId xmlns:r="http://schemas.openxmlformats.org/officeDocument/2006/relationships" id="284" r:id="Re954b957288e4045"/>
    <p:sldId xmlns:r="http://schemas.openxmlformats.org/officeDocument/2006/relationships" id="285" r:id="Rea5719e2f0fa494c"/>
    <p:sldId xmlns:r="http://schemas.openxmlformats.org/officeDocument/2006/relationships" id="286" r:id="R7df139385c3c4657"/>
    <p:sldId xmlns:r="http://schemas.openxmlformats.org/officeDocument/2006/relationships" id="287" r:id="R3618bd401fa449b3"/>
    <p:sldId xmlns:r="http://schemas.openxmlformats.org/officeDocument/2006/relationships" id="288" r:id="R02ede4bbe5054062"/>
    <p:sldId xmlns:r="http://schemas.openxmlformats.org/officeDocument/2006/relationships" id="289" r:id="R02d30b5d2cdc476f"/>
    <p:sldId xmlns:r="http://schemas.openxmlformats.org/officeDocument/2006/relationships" id="290" r:id="R259f1a14c7fe4a84"/>
    <p:sldId xmlns:r="http://schemas.openxmlformats.org/officeDocument/2006/relationships" id="291" r:id="R09a794b68f0a4764"/>
    <p:sldId xmlns:r="http://schemas.openxmlformats.org/officeDocument/2006/relationships" id="292" r:id="R073b0034e2514023"/>
    <p:sldId xmlns:r="http://schemas.openxmlformats.org/officeDocument/2006/relationships" id="293" r:id="R16c81f5c235e44fe"/>
    <p:sldId xmlns:r="http://schemas.openxmlformats.org/officeDocument/2006/relationships" id="294" r:id="Rf505340a382f4e31"/>
    <p:sldId xmlns:r="http://schemas.openxmlformats.org/officeDocument/2006/relationships" id="295" r:id="Re00cfa276f514b39"/>
    <p:sldId xmlns:r="http://schemas.openxmlformats.org/officeDocument/2006/relationships" id="296" r:id="Rd0f5dbb8723c4f70"/>
    <p:sldId xmlns:r="http://schemas.openxmlformats.org/officeDocument/2006/relationships" id="297" r:id="Rc0dbecfcb2dd48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25e2bb7a424ff2" /><Relationship Type="http://schemas.openxmlformats.org/officeDocument/2006/relationships/slideMaster" Target="/ppt/slideMasters/slideMaster1.xml" Id="Rc03a93f7bf3f47ed" /><Relationship Type="http://schemas.openxmlformats.org/officeDocument/2006/relationships/notesMaster" Target="/ppt/notesMasters/notesMaster1.xml" Id="Rf2069dd5500143c7" /><Relationship Type="http://schemas.openxmlformats.org/officeDocument/2006/relationships/presProps" Target="/ppt/presProps.xml" Id="R657a46f06d5241a5" /><Relationship Type="http://schemas.openxmlformats.org/officeDocument/2006/relationships/tableStyles" Target="/ppt/tableStyles.xml" Id="R35a0bae217c745bb" /><Relationship Type="http://schemas.openxmlformats.org/officeDocument/2006/relationships/slide" Target="/ppt/slides/slide1.xml" Id="R45926dd9abd4447e" /><Relationship Type="http://schemas.openxmlformats.org/officeDocument/2006/relationships/slide" Target="/ppt/slides/slide2.xml" Id="R8e90f2ffe9a04279" /><Relationship Type="http://schemas.openxmlformats.org/officeDocument/2006/relationships/slide" Target="/ppt/slides/slide3.xml" Id="Rf362f0e25bae458b" /><Relationship Type="http://schemas.openxmlformats.org/officeDocument/2006/relationships/slide" Target="/ppt/slides/slide4.xml" Id="Ra7bb1939d87d429a" /><Relationship Type="http://schemas.openxmlformats.org/officeDocument/2006/relationships/slide" Target="/ppt/slides/slide5.xml" Id="Re708ef09273e4c7c" /><Relationship Type="http://schemas.openxmlformats.org/officeDocument/2006/relationships/slide" Target="/ppt/slides/slide6.xml" Id="R863b6d0677b147f2" /><Relationship Type="http://schemas.openxmlformats.org/officeDocument/2006/relationships/slide" Target="/ppt/slides/slide7.xml" Id="R0e27bc09c12a487e" /><Relationship Type="http://schemas.openxmlformats.org/officeDocument/2006/relationships/slide" Target="/ppt/slides/slide8.xml" Id="Rd23aba6c5aca4084" /><Relationship Type="http://schemas.openxmlformats.org/officeDocument/2006/relationships/slide" Target="/ppt/slides/slide9.xml" Id="R37354d7c9e0a4047" /><Relationship Type="http://schemas.openxmlformats.org/officeDocument/2006/relationships/slide" Target="/ppt/slides/slide10.xml" Id="R1587ec0f40b546b1" /><Relationship Type="http://schemas.openxmlformats.org/officeDocument/2006/relationships/slide" Target="/ppt/slides/slide11.xml" Id="Red2361fc76e540c3" /><Relationship Type="http://schemas.openxmlformats.org/officeDocument/2006/relationships/slide" Target="/ppt/slides/slide12.xml" Id="R22012449b9644dc5" /><Relationship Type="http://schemas.openxmlformats.org/officeDocument/2006/relationships/slide" Target="/ppt/slides/slide13.xml" Id="Re132d9da8cf04655" /><Relationship Type="http://schemas.openxmlformats.org/officeDocument/2006/relationships/slide" Target="/ppt/slides/slide14.xml" Id="Rbb2640e863f1496b" /><Relationship Type="http://schemas.openxmlformats.org/officeDocument/2006/relationships/slide" Target="/ppt/slides/slide15.xml" Id="R5837672fd86242b4" /><Relationship Type="http://schemas.openxmlformats.org/officeDocument/2006/relationships/slide" Target="/ppt/slides/slide16.xml" Id="R43a1fdbb1de344a5" /><Relationship Type="http://schemas.openxmlformats.org/officeDocument/2006/relationships/slide" Target="/ppt/slides/slide17.xml" Id="R9394811f813141d6" /><Relationship Type="http://schemas.openxmlformats.org/officeDocument/2006/relationships/slide" Target="/ppt/slides/slide18.xml" Id="R93d97268cc2a4731" /><Relationship Type="http://schemas.openxmlformats.org/officeDocument/2006/relationships/slide" Target="/ppt/slides/slide19.xml" Id="Rd26db02a6c5b48d3" /><Relationship Type="http://schemas.openxmlformats.org/officeDocument/2006/relationships/slide" Target="/ppt/slides/slide20.xml" Id="R3b826738c14041cd" /><Relationship Type="http://schemas.openxmlformats.org/officeDocument/2006/relationships/slide" Target="/ppt/slides/slide21.xml" Id="Rc6c8bdac3ae44199" /><Relationship Type="http://schemas.openxmlformats.org/officeDocument/2006/relationships/slide" Target="/ppt/slides/slide22.xml" Id="R23b75d3de5fd40c7" /><Relationship Type="http://schemas.openxmlformats.org/officeDocument/2006/relationships/slide" Target="/ppt/slides/slide23.xml" Id="R33d8f59f00134bec" /><Relationship Type="http://schemas.openxmlformats.org/officeDocument/2006/relationships/slide" Target="/ppt/slides/slide24.xml" Id="R326191df7df64eef" /><Relationship Type="http://schemas.openxmlformats.org/officeDocument/2006/relationships/slide" Target="/ppt/slides/slide25.xml" Id="Rfd0c58147e3e4aa3" /><Relationship Type="http://schemas.openxmlformats.org/officeDocument/2006/relationships/slide" Target="/ppt/slides/slide26.xml" Id="R72ffb8b7d83e4609" /><Relationship Type="http://schemas.openxmlformats.org/officeDocument/2006/relationships/slide" Target="/ppt/slides/slide27.xml" Id="Rc326429af7da4d74" /><Relationship Type="http://schemas.openxmlformats.org/officeDocument/2006/relationships/slide" Target="/ppt/slides/slide28.xml" Id="Rbc012c7d106c4240" /><Relationship Type="http://schemas.openxmlformats.org/officeDocument/2006/relationships/slide" Target="/ppt/slides/slide29.xml" Id="Re954b957288e4045" /><Relationship Type="http://schemas.openxmlformats.org/officeDocument/2006/relationships/slide" Target="/ppt/slides/slide30.xml" Id="Rea5719e2f0fa494c" /><Relationship Type="http://schemas.openxmlformats.org/officeDocument/2006/relationships/slide" Target="/ppt/slides/slide31.xml" Id="R7df139385c3c4657" /><Relationship Type="http://schemas.openxmlformats.org/officeDocument/2006/relationships/slide" Target="/ppt/slides/slide32.xml" Id="R3618bd401fa449b3" /><Relationship Type="http://schemas.openxmlformats.org/officeDocument/2006/relationships/slide" Target="/ppt/slides/slide33.xml" Id="R02ede4bbe5054062" /><Relationship Type="http://schemas.openxmlformats.org/officeDocument/2006/relationships/slide" Target="/ppt/slides/slide34.xml" Id="R02d30b5d2cdc476f" /><Relationship Type="http://schemas.openxmlformats.org/officeDocument/2006/relationships/slide" Target="/ppt/slides/slide35.xml" Id="R259f1a14c7fe4a84" /><Relationship Type="http://schemas.openxmlformats.org/officeDocument/2006/relationships/slide" Target="/ppt/slides/slide36.xml" Id="R09a794b68f0a4764" /><Relationship Type="http://schemas.openxmlformats.org/officeDocument/2006/relationships/slide" Target="/ppt/slides/slide37.xml" Id="R073b0034e2514023" /><Relationship Type="http://schemas.openxmlformats.org/officeDocument/2006/relationships/slide" Target="/ppt/slides/slide38.xml" Id="R16c81f5c235e44fe" /><Relationship Type="http://schemas.openxmlformats.org/officeDocument/2006/relationships/slide" Target="/ppt/slides/slide39.xml" Id="Rf505340a382f4e31" /><Relationship Type="http://schemas.openxmlformats.org/officeDocument/2006/relationships/slide" Target="/ppt/slides/slide40.xml" Id="Re00cfa276f514b39" /><Relationship Type="http://schemas.openxmlformats.org/officeDocument/2006/relationships/slide" Target="/ppt/slides/slide41.xml" Id="Rd0f5dbb8723c4f70" /><Relationship Type="http://schemas.openxmlformats.org/officeDocument/2006/relationships/slide" Target="/ppt/slides/slide42.xml" Id="Rc0dbecfcb2dd48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fdad447bb4c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65eb23877c403b" /><Relationship Type="http://schemas.openxmlformats.org/officeDocument/2006/relationships/notesMaster" Target="/ppt/notesMasters/notesMaster1.xml" Id="Rd359a89ef3f340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663f3f0e474ba6" /><Relationship Type="http://schemas.openxmlformats.org/officeDocument/2006/relationships/notesMaster" Target="/ppt/notesMasters/notesMaster1.xml" Id="R9e7483b8282143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f6b9ee06924cee" /><Relationship Type="http://schemas.openxmlformats.org/officeDocument/2006/relationships/notesMaster" Target="/ppt/notesMasters/notesMaster1.xml" Id="Rd945e9de4c6b42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1b46640595440c" /><Relationship Type="http://schemas.openxmlformats.org/officeDocument/2006/relationships/notesMaster" Target="/ppt/notesMasters/notesMaster1.xml" Id="R4d3f1ddbb75b4b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568320ed884be6" /><Relationship Type="http://schemas.openxmlformats.org/officeDocument/2006/relationships/notesMaster" Target="/ppt/notesMasters/notesMaster1.xml" Id="R698fbd9a9e8c45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2878d9645f4a01" /><Relationship Type="http://schemas.openxmlformats.org/officeDocument/2006/relationships/notesMaster" Target="/ppt/notesMasters/notesMaster1.xml" Id="R676817c76cf045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805be5ee494af3" /><Relationship Type="http://schemas.openxmlformats.org/officeDocument/2006/relationships/notesMaster" Target="/ppt/notesMasters/notesMaster1.xml" Id="Rf4a5a682c43f4f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f790b7f649442e" /><Relationship Type="http://schemas.openxmlformats.org/officeDocument/2006/relationships/notesMaster" Target="/ppt/notesMasters/notesMaster1.xml" Id="R268b1c99708b4d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544849bea04361" /><Relationship Type="http://schemas.openxmlformats.org/officeDocument/2006/relationships/notesMaster" Target="/ppt/notesMasters/notesMaster1.xml" Id="R40921d3b98fa42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3317b3a4954a5f" /><Relationship Type="http://schemas.openxmlformats.org/officeDocument/2006/relationships/notesMaster" Target="/ppt/notesMasters/notesMaster1.xml" Id="R45ed7d5ea5df42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f08b71374c482d" /><Relationship Type="http://schemas.openxmlformats.org/officeDocument/2006/relationships/notesMaster" Target="/ppt/notesMasters/notesMaster1.xml" Id="R62d5241894214e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c08ce981cf4d87" /><Relationship Type="http://schemas.openxmlformats.org/officeDocument/2006/relationships/notesMaster" Target="/ppt/notesMasters/notesMaster1.xml" Id="Rd08dcf4f34334b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f7eea620d44a92" /><Relationship Type="http://schemas.openxmlformats.org/officeDocument/2006/relationships/notesMaster" Target="/ppt/notesMasters/notesMaster1.xml" Id="Red8ea6f380a44e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af10a0c2904da6" /><Relationship Type="http://schemas.openxmlformats.org/officeDocument/2006/relationships/notesMaster" Target="/ppt/notesMasters/notesMaster1.xml" Id="Rb7ec89ebb3864a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b44b9d64fb4705" /><Relationship Type="http://schemas.openxmlformats.org/officeDocument/2006/relationships/notesMaster" Target="/ppt/notesMasters/notesMaster1.xml" Id="Re6bd74fa09154e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0c620714384d96" /><Relationship Type="http://schemas.openxmlformats.org/officeDocument/2006/relationships/notesMaster" Target="/ppt/notesMasters/notesMaster1.xml" Id="Rbb5ad7e23e4e46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f418e687fb4d1f" /><Relationship Type="http://schemas.openxmlformats.org/officeDocument/2006/relationships/notesMaster" Target="/ppt/notesMasters/notesMaster1.xml" Id="R6ecf066d745c4e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69aedbf91b410c" /><Relationship Type="http://schemas.openxmlformats.org/officeDocument/2006/relationships/notesMaster" Target="/ppt/notesMasters/notesMaster1.xml" Id="R6d4ccf876bb84e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2bf482d1b5486d" /><Relationship Type="http://schemas.openxmlformats.org/officeDocument/2006/relationships/notesMaster" Target="/ppt/notesMasters/notesMaster1.xml" Id="Rdbb3ad275a494e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f994f3ca824f96" /><Relationship Type="http://schemas.openxmlformats.org/officeDocument/2006/relationships/notesMaster" Target="/ppt/notesMasters/notesMaster1.xml" Id="R01ba8f7440934c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f8f841c8fe0480f" /><Relationship Type="http://schemas.openxmlformats.org/officeDocument/2006/relationships/notesMaster" Target="/ppt/notesMasters/notesMaster1.xml" Id="R07dec463800a40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e5fa7c4be6480e" /><Relationship Type="http://schemas.openxmlformats.org/officeDocument/2006/relationships/notesMaster" Target="/ppt/notesMasters/notesMaster1.xml" Id="R27313c01ca004b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4795b97b204739" /><Relationship Type="http://schemas.openxmlformats.org/officeDocument/2006/relationships/notesMaster" Target="/ppt/notesMasters/notesMaster1.xml" Id="R9f3e5339aca043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175d70266a146af" /><Relationship Type="http://schemas.openxmlformats.org/officeDocument/2006/relationships/notesMaster" Target="/ppt/notesMasters/notesMaster1.xml" Id="R0a90a9c4db2c47b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35e69210a84d7f" /><Relationship Type="http://schemas.openxmlformats.org/officeDocument/2006/relationships/notesMaster" Target="/ppt/notesMasters/notesMaster1.xml" Id="Rdcb797e7e3bb4b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806df83b0248f9" /><Relationship Type="http://schemas.openxmlformats.org/officeDocument/2006/relationships/notesMaster" Target="/ppt/notesMasters/notesMaster1.xml" Id="Rc892d2a5fd8c45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42ecbf61db4faf" /><Relationship Type="http://schemas.openxmlformats.org/officeDocument/2006/relationships/notesMaster" Target="/ppt/notesMasters/notesMaster1.xml" Id="R93b85db5fb7444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c2a6cdf68ce4459" /><Relationship Type="http://schemas.openxmlformats.org/officeDocument/2006/relationships/notesMaster" Target="/ppt/notesMasters/notesMaster1.xml" Id="R15d8f989a7274b1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baccf0c7bf4ac0" /><Relationship Type="http://schemas.openxmlformats.org/officeDocument/2006/relationships/notesMaster" Target="/ppt/notesMasters/notesMaster1.xml" Id="Rc8f6811f87b84fb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10ebcb544724331" /><Relationship Type="http://schemas.openxmlformats.org/officeDocument/2006/relationships/notesMaster" Target="/ppt/notesMasters/notesMaster1.xml" Id="R814c31e0528c429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a65c0ea71e44be" /><Relationship Type="http://schemas.openxmlformats.org/officeDocument/2006/relationships/notesMaster" Target="/ppt/notesMasters/notesMaster1.xml" Id="R024178ab3e9d427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7a81dec37084eec" /><Relationship Type="http://schemas.openxmlformats.org/officeDocument/2006/relationships/notesMaster" Target="/ppt/notesMasters/notesMaster1.xml" Id="R50f6d6eef3404b8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7eb6a2bf8d74b6f" /><Relationship Type="http://schemas.openxmlformats.org/officeDocument/2006/relationships/notesMaster" Target="/ppt/notesMasters/notesMaster1.xml" Id="R2dc4062a495747e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21b363a13e746dd" /><Relationship Type="http://schemas.openxmlformats.org/officeDocument/2006/relationships/notesMaster" Target="/ppt/notesMasters/notesMaster1.xml" Id="R999d4db85f76408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7f0947f4838438e" /><Relationship Type="http://schemas.openxmlformats.org/officeDocument/2006/relationships/notesMaster" Target="/ppt/notesMasters/notesMaster1.xml" Id="R93a201577e01492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2f94ba62934be6" /><Relationship Type="http://schemas.openxmlformats.org/officeDocument/2006/relationships/notesMaster" Target="/ppt/notesMasters/notesMaster1.xml" Id="R20251d44aaee4b7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7ad8ed357524d95" /><Relationship Type="http://schemas.openxmlformats.org/officeDocument/2006/relationships/notesMaster" Target="/ppt/notesMasters/notesMaster1.xml" Id="Rdec27e977fd64f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473b57b75574cd0" /><Relationship Type="http://schemas.openxmlformats.org/officeDocument/2006/relationships/notesMaster" Target="/ppt/notesMasters/notesMaster1.xml" Id="R9affb3c1ba33439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1aed04071e341ed" /><Relationship Type="http://schemas.openxmlformats.org/officeDocument/2006/relationships/notesMaster" Target="/ppt/notesMasters/notesMaster1.xml" Id="Rb9478e68e0ef48f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d1e737b5e664a39" /><Relationship Type="http://schemas.openxmlformats.org/officeDocument/2006/relationships/notesMaster" Target="/ppt/notesMasters/notesMaster1.xml" Id="Rdce1fcd04d5241c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0ac683f7960469b" /><Relationship Type="http://schemas.openxmlformats.org/officeDocument/2006/relationships/notesMaster" Target="/ppt/notesMasters/notesMaster1.xml" Id="Rb971c449dd9f467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ab3c27f80d54233" /><Relationship Type="http://schemas.openxmlformats.org/officeDocument/2006/relationships/notesMaster" Target="/ppt/notesMasters/notesMaster1.xml" Id="Rb99087b2769b40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notes alongside the slide deck and lab guide. Students already know how to transform data. Today they test whether that work is efficient, affordable and appropriately restricted.</a:t>
            </a:r>
          </a:p>
          <a:p xmlns:a="http://schemas.openxmlformats.org/drawingml/2006/main">
            <a:r>
              <a:t/>
            </a:r>
          </a:p>
          <a:p xmlns:a="http://schemas.openxmlformats.org/drawingml/2006/main">
            <a:r>
              <a:t>Teach with the same four-order sales example first. Introduce synthetic rows only when measurement requires more data. Keep security enforcement separate from merely hiding a field in displayed output.</a:t>
            </a:r>
          </a:p>
          <a:p xmlns:a="http://schemas.openxmlformats.org/drawingml/2006/main">
            <a:r>
              <a:t/>
            </a:r>
          </a:p>
          <a:p xmlns:a="http://schemas.openxmlformats.org/drawingml/2006/main">
            <a:r>
              <a:t>Suggested delivery: six teaching hours plus breaks. Use the coverage table in the lab guide to adjust the pace. All people, money rates and timing examples below are fictional unless students measure them.</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21 connects services and runs the workflow. Day 22 examines the behavior of that workflow under load, its cost and its access boundaries.</a:t>
            </a:r>
          </a:p>
          <a:p xmlns:a="http://schemas.openxmlformats.org/drawingml/2006/main">
            <a:r>
              <a:t/>
            </a:r>
          </a:p>
          <a:p xmlns:a="http://schemas.openxmlformats.org/drawingml/2006/main">
            <a:r>
              <a:t>Simple example: A car can reach a destination but still waste fuel or leave its doors unlocked. We now measure fuel use and test the locks.</a:t>
            </a:r>
          </a:p>
          <a:p xmlns:a="http://schemas.openxmlformats.org/drawingml/2006/main">
            <a:r>
              <a:t/>
            </a:r>
          </a:p>
          <a:p xmlns:a="http://schemas.openxmlformats.org/drawingml/2006/main">
            <a:r>
              <a:t>Demonstration: Show the previous pipeline, then identify the notebook, compute, storage and identities we will inspect.</a:t>
            </a:r>
          </a:p>
          <a:p xmlns:a="http://schemas.openxmlformats.org/drawingml/2006/main">
            <a:r>
              <a:t/>
            </a:r>
          </a:p>
          <a:p xmlns:a="http://schemas.openxmlformats.org/drawingml/2006/main">
            <a:r>
              <a:t>Ask students: Must the business total change after tuning?</a:t>
            </a:r>
          </a:p>
          <a:p xmlns:a="http://schemas.openxmlformats.org/drawingml/2006/main">
            <a:r>
              <a:t/>
            </a:r>
          </a:p>
          <a:p xmlns:a="http://schemas.openxmlformats.org/drawingml/2006/main">
            <a:r>
              <a:t>Expected explanation: No. Valid sales must remain 600 in the supplied fixture.</a:t>
            </a:r>
          </a:p>
          <a:p xmlns:a="http://schemas.openxmlformats.org/drawingml/2006/main">
            <a:r>
              <a:t/>
            </a:r>
          </a:p>
          <a:p xmlns:a="http://schemas.openxmlformats.org/drawingml/2006/main">
            <a:r>
              <a:t>Teaching point: A faster incorrect result is a regression.</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21 connects services and runs the workflow. Day 22 examines the behavior of that workflow under load, its cost and its access boundaries.</a:t>
            </a:r>
          </a:p>
          <a:p xmlns:a="http://schemas.openxmlformats.org/drawingml/2006/main">
            <a:r>
              <a:t/>
            </a:r>
          </a:p>
          <a:p xmlns:a="http://schemas.openxmlformats.org/drawingml/2006/main">
            <a:r>
              <a:t>Simple example: A car can reach a destination but still waste fuel or leave its doors unlocked. We now measure fuel use and test the locks.</a:t>
            </a:r>
          </a:p>
          <a:p xmlns:a="http://schemas.openxmlformats.org/drawingml/2006/main">
            <a:r>
              <a:t/>
            </a:r>
          </a:p>
          <a:p xmlns:a="http://schemas.openxmlformats.org/drawingml/2006/main">
            <a:r>
              <a:t>Demonstration: Show the previous pipeline, then identify the notebook, compute, storage and identities we will inspect.</a:t>
            </a:r>
          </a:p>
          <a:p xmlns:a="http://schemas.openxmlformats.org/drawingml/2006/main">
            <a:r>
              <a:t/>
            </a:r>
          </a:p>
          <a:p xmlns:a="http://schemas.openxmlformats.org/drawingml/2006/main">
            <a:r>
              <a:t>Ask students: Must the business total change after tuning?</a:t>
            </a:r>
          </a:p>
          <a:p xmlns:a="http://schemas.openxmlformats.org/drawingml/2006/main">
            <a:r>
              <a:t/>
            </a:r>
          </a:p>
          <a:p xmlns:a="http://schemas.openxmlformats.org/drawingml/2006/main">
            <a:r>
              <a:t>Expected explanation: No. Valid sales must remain 600 in the supplied fixture.</a:t>
            </a:r>
          </a:p>
          <a:p xmlns:a="http://schemas.openxmlformats.org/drawingml/2006/main">
            <a:r>
              <a:t/>
            </a:r>
          </a:p>
          <a:p xmlns:a="http://schemas.openxmlformats.org/drawingml/2006/main">
            <a:r>
              <a:t>Teaching point: A faster incorrect result is a regression.</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Verify business results before publishing outputs. Reruns should have an explicit behavior that prevents accidental duplicates.</a:t>
            </a:r>
          </a:p>
          <a:p xmlns:a="http://schemas.openxmlformats.org/drawingml/2006/main">
            <a:r>
              <a:t/>
            </a:r>
          </a:p>
          <a:p xmlns:a="http://schemas.openxmlformats.org/drawingml/2006/main">
            <a:r>
              <a:t>Simple example: Running the four-order fixture twice should still leave three valid rows in our full-refresh table.</a:t>
            </a:r>
          </a:p>
          <a:p xmlns:a="http://schemas.openxmlformats.org/drawingml/2006/main">
            <a:r>
              <a:t/>
            </a:r>
          </a:p>
          <a:p xmlns:a="http://schemas.openxmlformats.org/drawingml/2006/main">
            <a:r>
              <a:t>Demonstration: Show quarantine and rerun the overwrite-based exercise.</a:t>
            </a:r>
          </a:p>
          <a:p xmlns:a="http://schemas.openxmlformats.org/drawingml/2006/main">
            <a:r>
              <a:t/>
            </a:r>
          </a:p>
          <a:p xmlns:a="http://schemas.openxmlformats.org/drawingml/2006/main">
            <a:r>
              <a:t>Ask students: Are all five table writes one transaction?</a:t>
            </a:r>
          </a:p>
          <a:p xmlns:a="http://schemas.openxmlformats.org/drawingml/2006/main">
            <a:r>
              <a:t/>
            </a:r>
          </a:p>
          <a:p xmlns:a="http://schemas.openxmlformats.org/drawingml/2006/main">
            <a:r>
              <a:t>Expected explanation: No. Each Delta write has its own transaction.</a:t>
            </a:r>
          </a:p>
          <a:p xmlns:a="http://schemas.openxmlformats.org/drawingml/2006/main">
            <a:r>
              <a:t/>
            </a:r>
          </a:p>
          <a:p xmlns:a="http://schemas.openxmlformats.org/drawingml/2006/main">
            <a:r>
              <a:t>Teaching point: A production pipeline needs a publication strategy for partial failure.</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driver coordinates Spark work. Workers execute distributed tasks. Some operations overload the driver even while workers are idle.</a:t>
            </a:r>
          </a:p>
          <a:p xmlns:a="http://schemas.openxmlformats.org/drawingml/2006/main">
            <a:r>
              <a:t/>
            </a:r>
          </a:p>
          <a:p xmlns:a="http://schemas.openxmlformats.org/drawingml/2006/main">
            <a:r>
              <a:t>Simple example: A supervisor assigns parcels to delivery teams. Bringing every parcel to the supervisor desk can become a bottleneck.</a:t>
            </a:r>
          </a:p>
          <a:p xmlns:a="http://schemas.openxmlformats.org/drawingml/2006/main">
            <a:r>
              <a:t/>
            </a:r>
          </a:p>
          <a:p xmlns:a="http://schemas.openxmlformats.org/drawingml/2006/main">
            <a:r>
              <a:t>Demonstration: Count both driver and worker cores in the existing configuration.</a:t>
            </a:r>
          </a:p>
          <a:p xmlns:a="http://schemas.openxmlformats.org/drawingml/2006/main">
            <a:r>
              <a:t/>
            </a:r>
          </a:p>
          <a:p xmlns:a="http://schemas.openxmlformats.org/drawingml/2006/main">
            <a:r>
              <a:t>Ask students: Does one four-core worker always mean four allocated cores?</a:t>
            </a:r>
          </a:p>
          <a:p xmlns:a="http://schemas.openxmlformats.org/drawingml/2006/main">
            <a:r>
              <a:t/>
            </a:r>
          </a:p>
          <a:p xmlns:a="http://schemas.openxmlformats.org/drawingml/2006/main">
            <a:r>
              <a:t>Expected explanation: No. A separate four-core driver makes eight in that example.</a:t>
            </a:r>
          </a:p>
          <a:p xmlns:a="http://schemas.openxmlformats.org/drawingml/2006/main">
            <a:r>
              <a:t/>
            </a:r>
          </a:p>
          <a:p xmlns:a="http://schemas.openxmlformats.org/drawingml/2006/main">
            <a:r>
              <a:t>Teaching point: A UI worker summary may not represent total Azure quota demand.</a:t>
            </a:r>
          </a:p>
          <a:p xmlns:a="http://schemas.openxmlformats.org/drawingml/2006/main">
            <a:r>
              <a:t/>
            </a:r>
          </a:p>
          <a:p xmlns:a="http://schemas.openxmlformats.org/drawingml/2006/main">
            <a:r>
              <a:t>Reference: https://learn.microsoft.com/en-us/azure/databricks/compute/cluster-config-best-practices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compute to workload, permissions and operating requirements. Interactive, jobs, SQL and serverless options have different lifecycle and configuration behavior.</a:t>
            </a:r>
          </a:p>
          <a:p xmlns:a="http://schemas.openxmlformats.org/drawingml/2006/main">
            <a:r>
              <a:t/>
            </a:r>
          </a:p>
          <a:p xmlns:a="http://schemas.openxmlformats.org/drawingml/2006/main">
            <a:r>
              <a:t>Simple example: A scheduled nightly job may finish and release compute. A class uses a shared interactive session.</a:t>
            </a:r>
          </a:p>
          <a:p xmlns:a="http://schemas.openxmlformats.org/drawingml/2006/main">
            <a:r>
              <a:t/>
            </a:r>
          </a:p>
          <a:p xmlns:a="http://schemas.openxmlformats.org/drawingml/2006/main">
            <a:r>
              <a:t>Demonstration: Inspect Standard mode, runtime, workers, driver and termination without changing the class cluster.</a:t>
            </a:r>
          </a:p>
          <a:p xmlns:a="http://schemas.openxmlformats.org/drawingml/2006/main">
            <a:r>
              <a:t/>
            </a:r>
          </a:p>
          <a:p xmlns:a="http://schemas.openxmlformats.org/drawingml/2006/main">
            <a:r>
              <a:t>Ask students: Will more workers always help a four-row CSV?</a:t>
            </a:r>
          </a:p>
          <a:p xmlns:a="http://schemas.openxmlformats.org/drawingml/2006/main">
            <a:r>
              <a:t/>
            </a:r>
          </a:p>
          <a:p xmlns:a="http://schemas.openxmlformats.org/drawingml/2006/main">
            <a:r>
              <a:t>Expected explanation: Startup and coordination overhead can outweigh any benefit.</a:t>
            </a:r>
          </a:p>
          <a:p xmlns:a="http://schemas.openxmlformats.org/drawingml/2006/main">
            <a:r>
              <a:t/>
            </a:r>
          </a:p>
          <a:p xmlns:a="http://schemas.openxmlformats.org/drawingml/2006/main">
            <a:r>
              <a:t>Teaching point: Use measurements before resizing. Current workspace availability controls the options.</a:t>
            </a:r>
          </a:p>
          <a:p xmlns:a="http://schemas.openxmlformats.org/drawingml/2006/main">
            <a:r>
              <a:t/>
            </a:r>
          </a:p>
          <a:p xmlns:a="http://schemas.openxmlformats.org/drawingml/2006/main">
            <a:r>
              <a:t>Reference: https://learn.microsoft.com/en-us/azure/databricks/compute/cluster-config-best-practices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compute to workload, permissions and operating requirements. Interactive, jobs, SQL and serverless options have different lifecycle and configuration behavior.</a:t>
            </a:r>
          </a:p>
          <a:p xmlns:a="http://schemas.openxmlformats.org/drawingml/2006/main">
            <a:r>
              <a:t/>
            </a:r>
          </a:p>
          <a:p xmlns:a="http://schemas.openxmlformats.org/drawingml/2006/main">
            <a:r>
              <a:t>Simple example: A scheduled nightly job may finish and release compute. A class uses a shared interactive session.</a:t>
            </a:r>
          </a:p>
          <a:p xmlns:a="http://schemas.openxmlformats.org/drawingml/2006/main">
            <a:r>
              <a:t/>
            </a:r>
          </a:p>
          <a:p xmlns:a="http://schemas.openxmlformats.org/drawingml/2006/main">
            <a:r>
              <a:t>Demonstration: Inspect Standard mode, runtime, workers, driver and termination without changing the class cluster.</a:t>
            </a:r>
          </a:p>
          <a:p xmlns:a="http://schemas.openxmlformats.org/drawingml/2006/main">
            <a:r>
              <a:t/>
            </a:r>
          </a:p>
          <a:p xmlns:a="http://schemas.openxmlformats.org/drawingml/2006/main">
            <a:r>
              <a:t>Ask students: Will more workers always help a four-row CSV?</a:t>
            </a:r>
          </a:p>
          <a:p xmlns:a="http://schemas.openxmlformats.org/drawingml/2006/main">
            <a:r>
              <a:t/>
            </a:r>
          </a:p>
          <a:p xmlns:a="http://schemas.openxmlformats.org/drawingml/2006/main">
            <a:r>
              <a:t>Expected explanation: Startup and coordination overhead can outweigh any benefit.</a:t>
            </a:r>
          </a:p>
          <a:p xmlns:a="http://schemas.openxmlformats.org/drawingml/2006/main">
            <a:r>
              <a:t/>
            </a:r>
          </a:p>
          <a:p xmlns:a="http://schemas.openxmlformats.org/drawingml/2006/main">
            <a:r>
              <a:t>Teaching point: Use measurements before resizing. Current workspace availability controls the options.</a:t>
            </a:r>
          </a:p>
          <a:p xmlns:a="http://schemas.openxmlformats.org/drawingml/2006/main">
            <a:r>
              <a:t/>
            </a:r>
          </a:p>
          <a:p xmlns:a="http://schemas.openxmlformats.org/drawingml/2006/main">
            <a:r>
              <a:t>Reference: https://learn.microsoft.com/en-us/azure/databricks/compute/cluster-config-best-practices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same input, result and environment before comparing runs. Warm-up, caches, concurrency and startup influence timings.</a:t>
            </a:r>
          </a:p>
          <a:p xmlns:a="http://schemas.openxmlformats.org/drawingml/2006/main">
            <a:r>
              <a:t/>
            </a:r>
          </a:p>
          <a:p xmlns:a="http://schemas.openxmlformats.org/drawingml/2006/main">
            <a:r>
              <a:t>Simple example: Two runners should cover the same distance before comparing their times.</a:t>
            </a:r>
          </a:p>
          <a:p xmlns:a="http://schemas.openxmlformats.org/drawingml/2006/main">
            <a:r>
              <a:t/>
            </a:r>
          </a:p>
          <a:p xmlns:a="http://schemas.openxmlformats.org/drawingml/2006/main">
            <a:r>
              <a:t>Demonstration: Record three alternating trials after a warm-up and compare medians.</a:t>
            </a:r>
          </a:p>
          <a:p xmlns:a="http://schemas.openxmlformats.org/drawingml/2006/main">
            <a:r>
              <a:t/>
            </a:r>
          </a:p>
          <a:p xmlns:a="http://schemas.openxmlformats.org/drawingml/2006/main">
            <a:r>
              <a:t>Ask students: Can we compare a cold first run to a cached second run and call it query tuning?</a:t>
            </a:r>
          </a:p>
          <a:p xmlns:a="http://schemas.openxmlformats.org/drawingml/2006/main">
            <a:r>
              <a:t/>
            </a:r>
          </a:p>
          <a:p xmlns:a="http://schemas.openxmlformats.org/drawingml/2006/main">
            <a:r>
              <a:t>Expected explanation: That changes two things at once and does not isolate the query change.</a:t>
            </a:r>
          </a:p>
          <a:p xmlns:a="http://schemas.openxmlformats.org/drawingml/2006/main">
            <a:r>
              <a:t/>
            </a:r>
          </a:p>
          <a:p xmlns:a="http://schemas.openxmlformats.org/drawingml/2006/main">
            <a:r>
              <a:t>Teaching point: Record conditions. An observed speedup is not a guarantee for another dataset.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builds transformations until an action requires results. Measuring only DataFrame construction misses execution time.</a:t>
            </a:r>
          </a:p>
          <a:p xmlns:a="http://schemas.openxmlformats.org/drawingml/2006/main">
            <a:r>
              <a:t/>
            </a:r>
          </a:p>
          <a:p xmlns:a="http://schemas.openxmlformats.org/drawingml/2006/main">
            <a:r>
              <a:t>Simple example: Writing a recipe does not cook the meal. collect, count or write asks the kitchen to execute.</a:t>
            </a:r>
          </a:p>
          <a:p xmlns:a="http://schemas.openxmlformats.org/drawingml/2006/main">
            <a:r>
              <a:t/>
            </a:r>
          </a:p>
          <a:p xmlns:a="http://schemas.openxmlformats.org/drawingml/2006/main">
            <a:r>
              <a:t>Demonstration: Time a small grouped result with collect and inspect the corresponding execution.</a:t>
            </a:r>
          </a:p>
          <a:p xmlns:a="http://schemas.openxmlformats.org/drawingml/2006/main">
            <a:r>
              <a:t/>
            </a:r>
          </a:p>
          <a:p xmlns:a="http://schemas.openxmlformats.org/drawingml/2006/main">
            <a:r>
              <a:t>Ask students: Why is collect acceptable here?</a:t>
            </a:r>
          </a:p>
          <a:p xmlns:a="http://schemas.openxmlformats.org/drawingml/2006/main">
            <a:r>
              <a:t/>
            </a:r>
          </a:p>
          <a:p xmlns:a="http://schemas.openxmlformats.org/drawingml/2006/main">
            <a:r>
              <a:t>Expected explanation: The aggregation returns only four rows.</a:t>
            </a:r>
          </a:p>
          <a:p xmlns:a="http://schemas.openxmlformats.org/drawingml/2006/main">
            <a:r>
              <a:t/>
            </a:r>
          </a:p>
          <a:p xmlns:a="http://schemas.openxmlformats.org/drawingml/2006/main">
            <a:r>
              <a:t>Teaching point: Collecting the full large source can exhaust driver memory.</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what the result requires. Filters and selected columns can reduce data processed, although the optimizer and file layout determine actual savings.</a:t>
            </a:r>
          </a:p>
          <a:p xmlns:a="http://schemas.openxmlformats.org/drawingml/2006/main">
            <a:r>
              <a:t/>
            </a:r>
          </a:p>
          <a:p xmlns:a="http://schemas.openxmlformats.org/drawingml/2006/main">
            <a:r>
              <a:t>Simple example: A report needs city and amount, so names and emails need not travel through its calculation.</a:t>
            </a:r>
          </a:p>
          <a:p xmlns:a="http://schemas.openxmlformats.org/drawingml/2006/main">
            <a:r>
              <a:t/>
            </a:r>
          </a:p>
          <a:p xmlns:a="http://schemas.openxmlformats.org/drawingml/2006/main">
            <a:r>
              <a:t>Demonstration: Point to select and filter before the join, then inspect the scan plan.</a:t>
            </a:r>
          </a:p>
          <a:p xmlns:a="http://schemas.openxmlformats.org/drawingml/2006/main">
            <a:r>
              <a:t/>
            </a:r>
          </a:p>
          <a:p xmlns:a="http://schemas.openxmlformats.org/drawingml/2006/main">
            <a:r>
              <a:t>Ask students: Does moving a filter earlier in source code always change the plan?</a:t>
            </a:r>
          </a:p>
          <a:p xmlns:a="http://schemas.openxmlformats.org/drawingml/2006/main">
            <a:r>
              <a:t/>
            </a:r>
          </a:p>
          <a:p xmlns:a="http://schemas.openxmlformats.org/drawingml/2006/main">
            <a:r>
              <a:t>Expected explanation: No. The optimizer may already push it down.</a:t>
            </a:r>
          </a:p>
          <a:p xmlns:a="http://schemas.openxmlformats.org/drawingml/2006/main">
            <a:r>
              <a:t/>
            </a:r>
          </a:p>
          <a:p xmlns:a="http://schemas.openxmlformats.org/drawingml/2006/main">
            <a:r>
              <a:t>Teaching point: Use the plan and runtime evidence rather than code appearance.</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shuffle redistributes data between executors. A heavily skewed key can leave one task with much more work than the others.</a:t>
            </a:r>
          </a:p>
          <a:p xmlns:a="http://schemas.openxmlformats.org/drawingml/2006/main">
            <a:r>
              <a:t/>
            </a:r>
          </a:p>
          <a:p xmlns:a="http://schemas.openxmlformats.org/drawingml/2006/main">
            <a:r>
              <a:t>Simple example: If 90 percent of parcels go to one district, one delivery team may stay busy after the rest finish.</a:t>
            </a:r>
          </a:p>
          <a:p xmlns:a="http://schemas.openxmlformats.org/drawingml/2006/main">
            <a:r>
              <a:t/>
            </a:r>
          </a:p>
          <a:p xmlns:a="http://schemas.openxmlformats.org/drawingml/2006/main">
            <a:r>
              <a:t>Demonstration: Show Exchange in the plan and compare task durations in Spark UI.</a:t>
            </a:r>
          </a:p>
          <a:p xmlns:a="http://schemas.openxmlformats.org/drawingml/2006/main">
            <a:r>
              <a:t/>
            </a:r>
          </a:p>
          <a:p xmlns:a="http://schemas.openxmlformats.org/drawingml/2006/main">
            <a:r>
              <a:t>Ask students: Will doubling workers automatically split one troublesome key evenly?</a:t>
            </a:r>
          </a:p>
          <a:p xmlns:a="http://schemas.openxmlformats.org/drawingml/2006/main">
            <a:r>
              <a:t/>
            </a:r>
          </a:p>
          <a:p xmlns:a="http://schemas.openxmlformats.org/drawingml/2006/main">
            <a:r>
              <a:t>Expected explanation: Not necessarily. The data and join or aggregation strategy matter.</a:t>
            </a:r>
          </a:p>
          <a:p xmlns:a="http://schemas.openxmlformats.org/drawingml/2006/main">
            <a:r>
              <a:t/>
            </a:r>
          </a:p>
          <a:p xmlns:a="http://schemas.openxmlformats.org/drawingml/2006/main">
            <a:r>
              <a:t>Teaching point: Investigate skew and memory spill before treating worker count as the answer.</a:t>
            </a:r>
          </a:p>
          <a:p xmlns:a="http://schemas.openxmlformats.org/drawingml/2006/main">
            <a:r>
              <a:t/>
            </a:r>
          </a:p>
          <a:p xmlns:a="http://schemas.openxmlformats.org/drawingml/2006/main">
            <a:r>
              <a:t>Reference: https://learn.microsoft.com/en-us/azure/databricks/optimizations/aqe</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broadcast join sends a small lookup table to executors so they can join locally. Adaptive query execution can revise choices using runtime statistics.</a:t>
            </a:r>
          </a:p>
          <a:p xmlns:a="http://schemas.openxmlformats.org/drawingml/2006/main">
            <a:r>
              <a:t/>
            </a:r>
          </a:p>
          <a:p xmlns:a="http://schemas.openxmlformats.org/drawingml/2006/main">
            <a:r>
              <a:t>Simple example: Give every cashier a four-city lookup sheet instead of sending every sale to one lookup desk.</a:t>
            </a:r>
          </a:p>
          <a:p xmlns:a="http://schemas.openxmlformats.org/drawingml/2006/main">
            <a:r>
              <a:t/>
            </a:r>
          </a:p>
          <a:p xmlns:a="http://schemas.openxmlformats.org/drawingml/2006/main">
            <a:r>
              <a:t>Demonstration: Compare automatic and explicit broadcast plans and run both variants.</a:t>
            </a:r>
          </a:p>
          <a:p xmlns:a="http://schemas.openxmlformats.org/drawingml/2006/main">
            <a:r>
              <a:t/>
            </a:r>
          </a:p>
          <a:p xmlns:a="http://schemas.openxmlformats.org/drawingml/2006/main">
            <a:r>
              <a:t>Ask students: What if both variants already use broadcast?</a:t>
            </a:r>
          </a:p>
          <a:p xmlns:a="http://schemas.openxmlformats.org/drawingml/2006/main">
            <a:r>
              <a:t/>
            </a:r>
          </a:p>
          <a:p xmlns:a="http://schemas.openxmlformats.org/drawingml/2006/main">
            <a:r>
              <a:t>Expected explanation: Similar performance is a valid observation.</a:t>
            </a:r>
          </a:p>
          <a:p xmlns:a="http://schemas.openxmlformats.org/drawingml/2006/main">
            <a:r>
              <a:t/>
            </a:r>
          </a:p>
          <a:p xmlns:a="http://schemas.openxmlformats.org/drawingml/2006/main">
            <a:r>
              <a:t>Teaching point: Never broadcast a large table merely because a small example worked.</a:t>
            </a:r>
          </a:p>
          <a:p xmlns:a="http://schemas.openxmlformats.org/drawingml/2006/main">
            <a:r>
              <a:t/>
            </a:r>
          </a:p>
          <a:p xmlns:a="http://schemas.openxmlformats.org/drawingml/2006/main">
            <a:r>
              <a:t>Reference: https://learn.microsoft.com/en-us/azure/databricks/transform/optimize-joins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broadcast join sends a small lookup table to executors so they can join locally. Adaptive query execution can revise choices using runtime statistics.</a:t>
            </a:r>
          </a:p>
          <a:p xmlns:a="http://schemas.openxmlformats.org/drawingml/2006/main">
            <a:r>
              <a:t/>
            </a:r>
          </a:p>
          <a:p xmlns:a="http://schemas.openxmlformats.org/drawingml/2006/main">
            <a:r>
              <a:t>Simple example: Give every cashier a four-city lookup sheet instead of sending every sale to one lookup desk.</a:t>
            </a:r>
          </a:p>
          <a:p xmlns:a="http://schemas.openxmlformats.org/drawingml/2006/main">
            <a:r>
              <a:t/>
            </a:r>
          </a:p>
          <a:p xmlns:a="http://schemas.openxmlformats.org/drawingml/2006/main">
            <a:r>
              <a:t>Demonstration: Compare automatic and explicit broadcast plans and run both variants.</a:t>
            </a:r>
          </a:p>
          <a:p xmlns:a="http://schemas.openxmlformats.org/drawingml/2006/main">
            <a:r>
              <a:t/>
            </a:r>
          </a:p>
          <a:p xmlns:a="http://schemas.openxmlformats.org/drawingml/2006/main">
            <a:r>
              <a:t>Ask students: What if both variants already use broadcast?</a:t>
            </a:r>
          </a:p>
          <a:p xmlns:a="http://schemas.openxmlformats.org/drawingml/2006/main">
            <a:r>
              <a:t/>
            </a:r>
          </a:p>
          <a:p xmlns:a="http://schemas.openxmlformats.org/drawingml/2006/main">
            <a:r>
              <a:t>Expected explanation: Similar performance is a valid observation.</a:t>
            </a:r>
          </a:p>
          <a:p xmlns:a="http://schemas.openxmlformats.org/drawingml/2006/main">
            <a:r>
              <a:t/>
            </a:r>
          </a:p>
          <a:p xmlns:a="http://schemas.openxmlformats.org/drawingml/2006/main">
            <a:r>
              <a:t>Teaching point: Never broadcast a large table merely because a small example worked.</a:t>
            </a:r>
          </a:p>
          <a:p xmlns:a="http://schemas.openxmlformats.org/drawingml/2006/main">
            <a:r>
              <a:t/>
            </a:r>
          </a:p>
          <a:p xmlns:a="http://schemas.openxmlformats.org/drawingml/2006/main">
            <a:r>
              <a:t>Reference: https://learn.microsoft.com/en-us/azure/databricks/transform/optimize-joins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same input, result and environment before comparing runs. Warm-up, caches, concurrency and startup influence timings.</a:t>
            </a:r>
          </a:p>
          <a:p xmlns:a="http://schemas.openxmlformats.org/drawingml/2006/main">
            <a:r>
              <a:t/>
            </a:r>
          </a:p>
          <a:p xmlns:a="http://schemas.openxmlformats.org/drawingml/2006/main">
            <a:r>
              <a:t>Simple example: Two runners should cover the same distance before comparing their times.</a:t>
            </a:r>
          </a:p>
          <a:p xmlns:a="http://schemas.openxmlformats.org/drawingml/2006/main">
            <a:r>
              <a:t/>
            </a:r>
          </a:p>
          <a:p xmlns:a="http://schemas.openxmlformats.org/drawingml/2006/main">
            <a:r>
              <a:t>Demonstration: Record three alternating trials after a warm-up and compare medians.</a:t>
            </a:r>
          </a:p>
          <a:p xmlns:a="http://schemas.openxmlformats.org/drawingml/2006/main">
            <a:r>
              <a:t/>
            </a:r>
          </a:p>
          <a:p xmlns:a="http://schemas.openxmlformats.org/drawingml/2006/main">
            <a:r>
              <a:t>Ask students: Can we compare a cold first run to a cached second run and call it query tuning?</a:t>
            </a:r>
          </a:p>
          <a:p xmlns:a="http://schemas.openxmlformats.org/drawingml/2006/main">
            <a:r>
              <a:t/>
            </a:r>
          </a:p>
          <a:p xmlns:a="http://schemas.openxmlformats.org/drawingml/2006/main">
            <a:r>
              <a:t>Expected explanation: That changes two things at once and does not isolate the query change.</a:t>
            </a:r>
          </a:p>
          <a:p xmlns:a="http://schemas.openxmlformats.org/drawingml/2006/main">
            <a:r>
              <a:t/>
            </a:r>
          </a:p>
          <a:p xmlns:a="http://schemas.openxmlformats.org/drawingml/2006/main">
            <a:r>
              <a:t>Teaching point: Record conditions. An observed speedup is not a guarantee for another dataset.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Caching retains a computed dataset for reuse and consumes memory. First materialization and later reuse have different costs.</a:t>
            </a:r>
          </a:p>
          <a:p xmlns:a="http://schemas.openxmlformats.org/drawingml/2006/main">
            <a:r>
              <a:t/>
            </a:r>
          </a:p>
          <a:p xmlns:a="http://schemas.openxmlformats.org/drawingml/2006/main">
            <a:r>
              <a:t>Simple example: Prepare a small frequently used reference list once, then reuse it. Preparing it once for a single lookup may waste effort.</a:t>
            </a:r>
          </a:p>
          <a:p xmlns:a="http://schemas.openxmlformats.org/drawingml/2006/main">
            <a:r>
              <a:t/>
            </a:r>
          </a:p>
          <a:p xmlns:a="http://schemas.openxmlformats.org/drawingml/2006/main">
            <a:r>
              <a:t>Demonstration: Populate the cache, query it, then unpersist inside finally.</a:t>
            </a:r>
          </a:p>
          <a:p xmlns:a="http://schemas.openxmlformats.org/drawingml/2006/main">
            <a:r>
              <a:t/>
            </a:r>
          </a:p>
          <a:p xmlns:a="http://schemas.openxmlformats.org/drawingml/2006/main">
            <a:r>
              <a:t>Ask students: Should we cache every DataFrame?</a:t>
            </a:r>
          </a:p>
          <a:p xmlns:a="http://schemas.openxmlformats.org/drawingml/2006/main">
            <a:r>
              <a:t/>
            </a:r>
          </a:p>
          <a:p xmlns:a="http://schemas.openxmlformats.org/drawingml/2006/main">
            <a:r>
              <a:t>Expected explanation: No. Reuse and available memory determine whether it helps.</a:t>
            </a:r>
          </a:p>
          <a:p xmlns:a="http://schemas.openxmlformats.org/drawingml/2006/main">
            <a:r>
              <a:t/>
            </a:r>
          </a:p>
          <a:p xmlns:a="http://schemas.openxmlformats.org/drawingml/2006/main">
            <a:r>
              <a:t>Teaching point: The two notebook timing lines perform different work and are not a speedup comparison.</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tiny files increase overhead. Compaction and useful statistics can help, but layout must fit the workload and scale.</a:t>
            </a:r>
          </a:p>
          <a:p xmlns:a="http://schemas.openxmlformats.org/drawingml/2006/main">
            <a:r>
              <a:t/>
            </a:r>
          </a:p>
          <a:p xmlns:a="http://schemas.openxmlformats.org/drawingml/2006/main">
            <a:r>
              <a:t>Simple example: Reading 1000 small envelopes can take longer than reading a few organized folders.</a:t>
            </a:r>
          </a:p>
          <a:p xmlns:a="http://schemas.openxmlformats.org/drawingml/2006/main">
            <a:r>
              <a:t/>
            </a:r>
          </a:p>
          <a:p xmlns:a="http://schemas.openxmlformats.org/drawingml/2006/main">
            <a:r>
              <a:t>Demonstration: Compare DESCRIBE DETAIL around optional OPTIMIZE on the dedicated lab table.</a:t>
            </a:r>
          </a:p>
          <a:p xmlns:a="http://schemas.openxmlformats.org/drawingml/2006/main">
            <a:r>
              <a:t/>
            </a:r>
          </a:p>
          <a:p xmlns:a="http://schemas.openxmlformats.org/drawingml/2006/main">
            <a:r>
              <a:t>Ask students: Why might numFiles stay unchanged?</a:t>
            </a:r>
          </a:p>
          <a:p xmlns:a="http://schemas.openxmlformats.org/drawingml/2006/main">
            <a:r>
              <a:t/>
            </a:r>
          </a:p>
          <a:p xmlns:a="http://schemas.openxmlformats.org/drawingml/2006/main">
            <a:r>
              <a:t>Expected explanation: The table may already be compact or too small to benefit.</a:t>
            </a:r>
          </a:p>
          <a:p xmlns:a="http://schemas.openxmlformats.org/drawingml/2006/main">
            <a:r>
              <a:t/>
            </a:r>
          </a:p>
          <a:p xmlns:a="http://schemas.openxmlformats.org/drawingml/2006/main">
            <a:r>
              <a:t>Teaching point: Do not manually move or remove managed-table files. Day 23 develops layout tuning further.</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distinction depends on when transformation happens relative to loading the target. The wider solution may contain both patterns.</a:t>
            </a:r>
          </a:p>
          <a:p xmlns:a="http://schemas.openxmlformats.org/drawingml/2006/main">
            <a:r>
              <a:t/>
            </a:r>
          </a:p>
          <a:p xmlns:a="http://schemas.openxmlformats.org/drawingml/2006/main">
            <a:r>
              <a:t>Simple example: Clean a CSV before loading Silver, or load raw Bronze and derive a SQL summary afterward.</a:t>
            </a:r>
          </a:p>
          <a:p xmlns:a="http://schemas.openxmlformats.org/drawingml/2006/main">
            <a:r>
              <a:t/>
            </a:r>
          </a:p>
          <a:p xmlns:a="http://schemas.openxmlformats.org/drawingml/2006/main">
            <a:r>
              <a:t>Demonstration: Run the two Gold implementations and their equality checks.</a:t>
            </a:r>
          </a:p>
          <a:p xmlns:a="http://schemas.openxmlformats.org/drawingml/2006/main">
            <a:r>
              <a:t/>
            </a:r>
          </a:p>
          <a:p xmlns:a="http://schemas.openxmlformats.org/drawingml/2006/main">
            <a:r>
              <a:t>Ask students: Is ELT automatically faster than ETL?</a:t>
            </a:r>
          </a:p>
          <a:p xmlns:a="http://schemas.openxmlformats.org/drawingml/2006/main">
            <a:r>
              <a:t/>
            </a:r>
          </a:p>
          <a:p xmlns:a="http://schemas.openxmlformats.org/drawingml/2006/main">
            <a:r>
              <a:t>Expected explanation: No. The systems, operations and data determine performance.</a:t>
            </a:r>
          </a:p>
          <a:p xmlns:a="http://schemas.openxmlformats.org/drawingml/2006/main">
            <a:r>
              <a:t/>
            </a:r>
          </a:p>
          <a:p xmlns:a="http://schemas.openxmlformats.org/drawingml/2006/main">
            <a:r>
              <a:t>Teaching point: The order of steps is a design description, not a quality ranking.</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Verify business results before publishing outputs. Reruns should have an explicit behavior that prevents accidental duplicates.</a:t>
            </a:r>
          </a:p>
          <a:p xmlns:a="http://schemas.openxmlformats.org/drawingml/2006/main">
            <a:r>
              <a:t/>
            </a:r>
          </a:p>
          <a:p xmlns:a="http://schemas.openxmlformats.org/drawingml/2006/main">
            <a:r>
              <a:t>Simple example: Running the four-order fixture twice should still leave three valid rows in our full-refresh table.</a:t>
            </a:r>
          </a:p>
          <a:p xmlns:a="http://schemas.openxmlformats.org/drawingml/2006/main">
            <a:r>
              <a:t/>
            </a:r>
          </a:p>
          <a:p xmlns:a="http://schemas.openxmlformats.org/drawingml/2006/main">
            <a:r>
              <a:t>Demonstration: Show quarantine and rerun the overwrite-based exercise.</a:t>
            </a:r>
          </a:p>
          <a:p xmlns:a="http://schemas.openxmlformats.org/drawingml/2006/main">
            <a:r>
              <a:t/>
            </a:r>
          </a:p>
          <a:p xmlns:a="http://schemas.openxmlformats.org/drawingml/2006/main">
            <a:r>
              <a:t>Ask students: Are all five table writes one transaction?</a:t>
            </a:r>
          </a:p>
          <a:p xmlns:a="http://schemas.openxmlformats.org/drawingml/2006/main">
            <a:r>
              <a:t/>
            </a:r>
          </a:p>
          <a:p xmlns:a="http://schemas.openxmlformats.org/drawingml/2006/main">
            <a:r>
              <a:t>Expected explanation: No. Each Delta write has its own transaction.</a:t>
            </a:r>
          </a:p>
          <a:p xmlns:a="http://schemas.openxmlformats.org/drawingml/2006/main">
            <a:r>
              <a:t/>
            </a:r>
          </a:p>
          <a:p xmlns:a="http://schemas.openxmlformats.org/drawingml/2006/main">
            <a:r>
              <a:t>Teaching point: A production pipeline needs a publication strategy for partial failure.</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Verify business results before publishing outputs. Reruns should have an explicit behavior that prevents accidental duplicates.</a:t>
            </a:r>
          </a:p>
          <a:p xmlns:a="http://schemas.openxmlformats.org/drawingml/2006/main">
            <a:r>
              <a:t/>
            </a:r>
          </a:p>
          <a:p xmlns:a="http://schemas.openxmlformats.org/drawingml/2006/main">
            <a:r>
              <a:t>Simple example: Running the four-order fixture twice should still leave three valid rows in our full-refresh table.</a:t>
            </a:r>
          </a:p>
          <a:p xmlns:a="http://schemas.openxmlformats.org/drawingml/2006/main">
            <a:r>
              <a:t/>
            </a:r>
          </a:p>
          <a:p xmlns:a="http://schemas.openxmlformats.org/drawingml/2006/main">
            <a:r>
              <a:t>Demonstration: Show quarantine and rerun the overwrite-based exercise.</a:t>
            </a:r>
          </a:p>
          <a:p xmlns:a="http://schemas.openxmlformats.org/drawingml/2006/main">
            <a:r>
              <a:t/>
            </a:r>
          </a:p>
          <a:p xmlns:a="http://schemas.openxmlformats.org/drawingml/2006/main">
            <a:r>
              <a:t>Ask students: Are all five table writes one transaction?</a:t>
            </a:r>
          </a:p>
          <a:p xmlns:a="http://schemas.openxmlformats.org/drawingml/2006/main">
            <a:r>
              <a:t/>
            </a:r>
          </a:p>
          <a:p xmlns:a="http://schemas.openxmlformats.org/drawingml/2006/main">
            <a:r>
              <a:t>Expected explanation: No. Each Delta write has its own transaction.</a:t>
            </a:r>
          </a:p>
          <a:p xmlns:a="http://schemas.openxmlformats.org/drawingml/2006/main">
            <a:r>
              <a:t/>
            </a:r>
          </a:p>
          <a:p xmlns:a="http://schemas.openxmlformats.org/drawingml/2006/main">
            <a:r>
              <a:t>Teaching point: A production pipeline needs a publication strategy for partial failure.</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the compute product together with relevant Azure resources. Metering differs between classic and serverless products.</a:t>
            </a:r>
          </a:p>
          <a:p xmlns:a="http://schemas.openxmlformats.org/drawingml/2006/main">
            <a:r>
              <a:t/>
            </a:r>
          </a:p>
          <a:p xmlns:a="http://schemas.openxmlformats.org/drawingml/2006/main">
            <a:r>
              <a:t>Simple example: A machine that sits idle after class can cost money even though no useful output is produced.</a:t>
            </a:r>
          </a:p>
          <a:p xmlns:a="http://schemas.openxmlformats.org/drawingml/2006/main">
            <a:r>
              <a:t/>
            </a:r>
          </a:p>
          <a:p xmlns:a="http://schemas.openxmlformats.org/drawingml/2006/main">
            <a:r>
              <a:t>Demonstration: Inspect actual cost at the correct scope and relate it to the cluster lifecycle.</a:t>
            </a:r>
          </a:p>
          <a:p xmlns:a="http://schemas.openxmlformats.org/drawingml/2006/main">
            <a:r>
              <a:t/>
            </a:r>
          </a:p>
          <a:p xmlns:a="http://schemas.openxmlformats.org/drawingml/2006/main">
            <a:r>
              <a:t>Ask students: Is a DBU quantity equal to rupees?</a:t>
            </a:r>
          </a:p>
          <a:p xmlns:a="http://schemas.openxmlformats.org/drawingml/2006/main">
            <a:r>
              <a:t/>
            </a:r>
          </a:p>
          <a:p xmlns:a="http://schemas.openxmlformats.org/drawingml/2006/main">
            <a:r>
              <a:t>Expected explanation: No. It requires pricing and does not automatically include all other charges.</a:t>
            </a:r>
          </a:p>
          <a:p xmlns:a="http://schemas.openxmlformats.org/drawingml/2006/main">
            <a:r>
              <a:t/>
            </a:r>
          </a:p>
          <a:p xmlns:a="http://schemas.openxmlformats.org/drawingml/2006/main">
            <a:r>
              <a:t>Teaching point: Use the actual billing model and avoid double-counting bundled infrastructure.</a:t>
            </a:r>
          </a:p>
          <a:p xmlns:a="http://schemas.openxmlformats.org/drawingml/2006/main">
            <a:r>
              <a:t/>
            </a:r>
          </a:p>
          <a:p xmlns:a="http://schemas.openxmlformats.org/drawingml/2006/main">
            <a:r>
              <a:t>Reference: https://learn.microsoft.com/en-us/azure/databricks/admin/system-tables/billing</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total cost per successful run, including retries and startup where relevant. Lowest hourly price need not mean lowest run cost.</a:t>
            </a:r>
          </a:p>
          <a:p xmlns:a="http://schemas.openxmlformats.org/drawingml/2006/main">
            <a:r>
              <a:t/>
            </a:r>
          </a:p>
          <a:p xmlns:a="http://schemas.openxmlformats.org/drawingml/2006/main">
            <a:r>
              <a:t>Simple example: At fictional rates, 10 per hour for half an hour costs 5. At 15 per hour for a quarter-hour, cost is 3.75.</a:t>
            </a:r>
          </a:p>
          <a:p xmlns:a="http://schemas.openxmlformats.org/drawingml/2006/main">
            <a:r>
              <a:t/>
            </a:r>
          </a:p>
          <a:p xmlns:a="http://schemas.openxmlformats.org/drawingml/2006/main">
            <a:r>
              <a:t>Demonstration: Calculate the two values before showing the answer.</a:t>
            </a:r>
          </a:p>
          <a:p xmlns:a="http://schemas.openxmlformats.org/drawingml/2006/main">
            <a:r>
              <a:t/>
            </a:r>
          </a:p>
          <a:p xmlns:a="http://schemas.openxmlformats.org/drawingml/2006/main">
            <a:r>
              <a:t>Ask students: Which run is cheaper in this example?</a:t>
            </a:r>
          </a:p>
          <a:p xmlns:a="http://schemas.openxmlformats.org/drawingml/2006/main">
            <a:r>
              <a:t/>
            </a:r>
          </a:p>
          <a:p xmlns:a="http://schemas.openxmlformats.org/drawingml/2006/main">
            <a:r>
              <a:t>Expected explanation: The second, despite its higher hourly rate.</a:t>
            </a:r>
          </a:p>
          <a:p xmlns:a="http://schemas.openxmlformats.org/drawingml/2006/main">
            <a:r>
              <a:t/>
            </a:r>
          </a:p>
          <a:p xmlns:a="http://schemas.openxmlformats.org/drawingml/2006/main">
            <a:r>
              <a:t>Teaching point: These numbers are a teaching calculation, not Azure prices.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 analysis supports investigation by scope and dimension. Budgets notify when conditions are met, but alerts alone do not stop consumption.</a:t>
            </a:r>
          </a:p>
          <a:p xmlns:a="http://schemas.openxmlformats.org/drawingml/2006/main">
            <a:r>
              <a:t/>
            </a:r>
          </a:p>
          <a:p xmlns:a="http://schemas.openxmlformats.org/drawingml/2006/main">
            <a:r>
              <a:t>Simple example: A fuel warning light tells the driver to act. It does not automatically park the car.</a:t>
            </a:r>
          </a:p>
          <a:p xmlns:a="http://schemas.openxmlformats.org/drawingml/2006/main">
            <a:r>
              <a:t/>
            </a:r>
          </a:p>
          <a:p xmlns:a="http://schemas.openxmlformats.org/drawingml/2006/main">
            <a:r>
              <a:t>Demonstration: Review the agreed budget scope, currency and threshold.</a:t>
            </a:r>
          </a:p>
          <a:p xmlns:a="http://schemas.openxmlformats.org/drawingml/2006/main">
            <a:r>
              <a:t/>
            </a:r>
          </a:p>
          <a:p xmlns:a="http://schemas.openxmlformats.org/drawingml/2006/main">
            <a:r>
              <a:t>Ask students: At 80 percent of 1000, what triggers the illustrative threshold?</a:t>
            </a:r>
          </a:p>
          <a:p xmlns:a="http://schemas.openxmlformats.org/drawingml/2006/main">
            <a:r>
              <a:t/>
            </a:r>
          </a:p>
          <a:p xmlns:a="http://schemas.openxmlformats.org/drawingml/2006/main">
            <a:r>
              <a:t>Expected explanation: 800 in the same currency.</a:t>
            </a:r>
          </a:p>
          <a:p xmlns:a="http://schemas.openxmlformats.org/drawingml/2006/main">
            <a:r>
              <a:t/>
            </a:r>
          </a:p>
          <a:p xmlns:a="http://schemas.openxmlformats.org/drawingml/2006/main">
            <a:r>
              <a:t>Teaching point: Cost data and budget evaluation can be delayed.</a:t>
            </a:r>
          </a:p>
          <a:p xmlns:a="http://schemas.openxmlformats.org/drawingml/2006/main">
            <a:r>
              <a:t/>
            </a:r>
          </a:p>
          <a:p xmlns:a="http://schemas.openxmlformats.org/drawingml/2006/main">
            <a:r>
              <a:t>Reference: https://learn.microsoft.com/en-us/azure/cost-management-billing/costs/tutorial-acm-create-budgets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 analysis supports investigation by scope and dimension. Budgets notify when conditions are met, but alerts alone do not stop consumption.</a:t>
            </a:r>
          </a:p>
          <a:p xmlns:a="http://schemas.openxmlformats.org/drawingml/2006/main">
            <a:r>
              <a:t/>
            </a:r>
          </a:p>
          <a:p xmlns:a="http://schemas.openxmlformats.org/drawingml/2006/main">
            <a:r>
              <a:t>Simple example: A fuel warning light tells the driver to act. It does not automatically park the car.</a:t>
            </a:r>
          </a:p>
          <a:p xmlns:a="http://schemas.openxmlformats.org/drawingml/2006/main">
            <a:r>
              <a:t/>
            </a:r>
          </a:p>
          <a:p xmlns:a="http://schemas.openxmlformats.org/drawingml/2006/main">
            <a:r>
              <a:t>Demonstration: Review the agreed budget scope, currency and threshold.</a:t>
            </a:r>
          </a:p>
          <a:p xmlns:a="http://schemas.openxmlformats.org/drawingml/2006/main">
            <a:r>
              <a:t/>
            </a:r>
          </a:p>
          <a:p xmlns:a="http://schemas.openxmlformats.org/drawingml/2006/main">
            <a:r>
              <a:t>Ask students: At 80 percent of 1000, what triggers the illustrative threshold?</a:t>
            </a:r>
          </a:p>
          <a:p xmlns:a="http://schemas.openxmlformats.org/drawingml/2006/main">
            <a:r>
              <a:t/>
            </a:r>
          </a:p>
          <a:p xmlns:a="http://schemas.openxmlformats.org/drawingml/2006/main">
            <a:r>
              <a:t>Expected explanation: 800 in the same currency.</a:t>
            </a:r>
          </a:p>
          <a:p xmlns:a="http://schemas.openxmlformats.org/drawingml/2006/main">
            <a:r>
              <a:t/>
            </a:r>
          </a:p>
          <a:p xmlns:a="http://schemas.openxmlformats.org/drawingml/2006/main">
            <a:r>
              <a:t>Teaching point: Cost data and budget evaluation can be delayed.</a:t>
            </a:r>
          </a:p>
          <a:p xmlns:a="http://schemas.openxmlformats.org/drawingml/2006/main">
            <a:r>
              <a:t/>
            </a:r>
          </a:p>
          <a:p xmlns:a="http://schemas.openxmlformats.org/drawingml/2006/main">
            <a:r>
              <a:t>Reference: https://learn.microsoft.com/en-us/azure/cost-management-billing/costs/tutorial-acm-create-budgets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the compute product together with relevant Azure resources. Metering differs between classic and serverless products.</a:t>
            </a:r>
          </a:p>
          <a:p xmlns:a="http://schemas.openxmlformats.org/drawingml/2006/main">
            <a:r>
              <a:t/>
            </a:r>
          </a:p>
          <a:p xmlns:a="http://schemas.openxmlformats.org/drawingml/2006/main">
            <a:r>
              <a:t>Simple example: A machine that sits idle after class can cost money even though no useful output is produced.</a:t>
            </a:r>
          </a:p>
          <a:p xmlns:a="http://schemas.openxmlformats.org/drawingml/2006/main">
            <a:r>
              <a:t/>
            </a:r>
          </a:p>
          <a:p xmlns:a="http://schemas.openxmlformats.org/drawingml/2006/main">
            <a:r>
              <a:t>Demonstration: Inspect actual cost at the correct scope and relate it to the cluster lifecycle.</a:t>
            </a:r>
          </a:p>
          <a:p xmlns:a="http://schemas.openxmlformats.org/drawingml/2006/main">
            <a:r>
              <a:t/>
            </a:r>
          </a:p>
          <a:p xmlns:a="http://schemas.openxmlformats.org/drawingml/2006/main">
            <a:r>
              <a:t>Ask students: Is a DBU quantity equal to rupees?</a:t>
            </a:r>
          </a:p>
          <a:p xmlns:a="http://schemas.openxmlformats.org/drawingml/2006/main">
            <a:r>
              <a:t/>
            </a:r>
          </a:p>
          <a:p xmlns:a="http://schemas.openxmlformats.org/drawingml/2006/main">
            <a:r>
              <a:t>Expected explanation: No. It requires pricing and does not automatically include all other charges.</a:t>
            </a:r>
          </a:p>
          <a:p xmlns:a="http://schemas.openxmlformats.org/drawingml/2006/main">
            <a:r>
              <a:t/>
            </a:r>
          </a:p>
          <a:p xmlns:a="http://schemas.openxmlformats.org/drawingml/2006/main">
            <a:r>
              <a:t>Teaching point: Use the actual billing model and avoid double-counting bundled infrastructure.</a:t>
            </a:r>
          </a:p>
          <a:p xmlns:a="http://schemas.openxmlformats.org/drawingml/2006/main">
            <a:r>
              <a:t/>
            </a:r>
          </a:p>
          <a:p xmlns:a="http://schemas.openxmlformats.org/drawingml/2006/main">
            <a:r>
              <a:t>Reference: https://learn.microsoft.com/en-us/azure/databricks/admin/system-tables/billing</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Azure resource permissions, storage data permissions, workspace access, compute permissions and Unity Catalog privileges govern different actions.</a:t>
            </a:r>
          </a:p>
          <a:p xmlns:a="http://schemas.openxmlformats.org/drawingml/2006/main">
            <a:r>
              <a:t/>
            </a:r>
          </a:p>
          <a:p xmlns:a="http://schemas.openxmlformats.org/drawingml/2006/main">
            <a:r>
              <a:t>Simple example: A campus ID, classroom key and cupboard key open different things.</a:t>
            </a:r>
          </a:p>
          <a:p xmlns:a="http://schemas.openxmlformats.org/drawingml/2006/main">
            <a:r>
              <a:t/>
            </a:r>
          </a:p>
          <a:p xmlns:a="http://schemas.openxmlformats.org/drawingml/2006/main">
            <a:r>
              <a:t>Demonstration: Trace the student, ADF identity and Access Connector across the lab.</a:t>
            </a:r>
          </a:p>
          <a:p xmlns:a="http://schemas.openxmlformats.org/drawingml/2006/main">
            <a:r>
              <a:t/>
            </a:r>
          </a:p>
          <a:p xmlns:a="http://schemas.openxmlformats.org/drawingml/2006/main">
            <a:r>
              <a:t>Ask students: Does Azure Contributor automatically give SELECT on a Unity Catalog table?</a:t>
            </a:r>
          </a:p>
          <a:p xmlns:a="http://schemas.openxmlformats.org/drawingml/2006/main">
            <a:r>
              <a:t/>
            </a:r>
          </a:p>
          <a:p xmlns:a="http://schemas.openxmlformats.org/drawingml/2006/main">
            <a:r>
              <a:t>Expected explanation: No. The data and platform authorization layers must be checked separately.</a:t>
            </a:r>
          </a:p>
          <a:p xmlns:a="http://schemas.openxmlformats.org/drawingml/2006/main">
            <a:r>
              <a:t/>
            </a:r>
          </a:p>
          <a:p xmlns:a="http://schemas.openxmlformats.org/drawingml/2006/main">
            <a:r>
              <a:t>Teaching point: Never diagnose all permission errors by granting Owner.</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group the operations it needs at the smallest useful scope. Parent privileges and inherited access can defeat an intended boundary.</a:t>
            </a:r>
          </a:p>
          <a:p xmlns:a="http://schemas.openxmlformats.org/drawingml/2006/main">
            <a:r>
              <a:t/>
            </a:r>
          </a:p>
          <a:p xmlns:a="http://schemas.openxmlformats.org/drawingml/2006/main">
            <a:r>
              <a:t>Simple example: An analyst needs to read an approved view, not administer every resource in the subscription.</a:t>
            </a:r>
          </a:p>
          <a:p xmlns:a="http://schemas.openxmlformats.org/drawingml/2006/main">
            <a:r>
              <a:t/>
            </a:r>
          </a:p>
          <a:p xmlns:a="http://schemas.openxmlformats.org/drawingml/2006/main">
            <a:r>
              <a:t>Demonstration: Review SHOW GRANTS at catalog, schema and private table scope.</a:t>
            </a:r>
          </a:p>
          <a:p xmlns:a="http://schemas.openxmlformats.org/drawingml/2006/main">
            <a:r>
              <a:t/>
            </a:r>
          </a:p>
          <a:p xmlns:a="http://schemas.openxmlformats.org/drawingml/2006/main">
            <a:r>
              <a:t>Ask students: Does a new schema erase inherited SELECT privileges?</a:t>
            </a:r>
          </a:p>
          <a:p xmlns:a="http://schemas.openxmlformats.org/drawingml/2006/main">
            <a:r>
              <a:t/>
            </a:r>
          </a:p>
          <a:p xmlns:a="http://schemas.openxmlformats.org/drawingml/2006/main">
            <a:r>
              <a:t>Expected explanation: No. Parent-level grants can still apply.</a:t>
            </a:r>
          </a:p>
          <a:p xmlns:a="http://schemas.openxmlformats.org/drawingml/2006/main">
            <a:r>
              <a:t/>
            </a:r>
          </a:p>
          <a:p xmlns:a="http://schemas.openxmlformats.org/drawingml/2006/main">
            <a:r>
              <a:t>Teaching point: Use separate non-owner test users to prove the boundary.</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dynamic view can use the querying identity to choose visible rows and values. Users should access the view without direct access to protected base tables.</a:t>
            </a:r>
          </a:p>
          <a:p xmlns:a="http://schemas.openxmlformats.org/drawingml/2006/main">
            <a:r>
              <a:t/>
            </a:r>
          </a:p>
          <a:p xmlns:a="http://schemas.openxmlformats.org/drawingml/2006/main">
            <a:r>
              <a:t>Simple example: The analyst sees South-region records with hidden email. A privileged group sees all fake records.</a:t>
            </a:r>
          </a:p>
          <a:p xmlns:a="http://schemas.openxmlformats.org/drawingml/2006/main">
            <a:r>
              <a:t/>
            </a:r>
          </a:p>
          <a:p xmlns:a="http://schemas.openxmlformats.org/drawingml/2006/main">
            <a:r>
              <a:t>Demonstration: Execute the same view query in two authenticated user sessions.</a:t>
            </a:r>
          </a:p>
          <a:p xmlns:a="http://schemas.openxmlformats.org/drawingml/2006/main">
            <a:r>
              <a:t/>
            </a:r>
          </a:p>
          <a:p xmlns:a="http://schemas.openxmlformats.org/drawingml/2006/main">
            <a:r>
              <a:t>Ask students: Can the table owner stand in for the denied analyst test?</a:t>
            </a:r>
          </a:p>
          <a:p xmlns:a="http://schemas.openxmlformats.org/drawingml/2006/main">
            <a:r>
              <a:t/>
            </a:r>
          </a:p>
          <a:p xmlns:a="http://schemas.openxmlformats.org/drawingml/2006/main">
            <a:r>
              <a:t>Expected explanation: No. Owner privileges make that test misleading.</a:t>
            </a:r>
          </a:p>
          <a:p xmlns:a="http://schemas.openxmlformats.org/drawingml/2006/main">
            <a:r>
              <a:t/>
            </a:r>
          </a:p>
          <a:p xmlns:a="http://schemas.openxmlformats.org/drawingml/2006/main">
            <a:r>
              <a:t>Teaching point: A secure result requires both expected view output and denied base access.</a:t>
            </a:r>
          </a:p>
          <a:p xmlns:a="http://schemas.openxmlformats.org/drawingml/2006/main">
            <a:r>
              <a:t/>
            </a:r>
          </a:p>
          <a:p xmlns:a="http://schemas.openxmlformats.org/drawingml/2006/main">
            <a:r>
              <a:t>Reference: https://learn.microsoft.com/en-us/azure/databricks/views/dynamic</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dynamic view can use the querying identity to choose visible rows and values. Users should access the view without direct access to protected base tables.</a:t>
            </a:r>
          </a:p>
          <a:p xmlns:a="http://schemas.openxmlformats.org/drawingml/2006/main">
            <a:r>
              <a:t/>
            </a:r>
          </a:p>
          <a:p xmlns:a="http://schemas.openxmlformats.org/drawingml/2006/main">
            <a:r>
              <a:t>Simple example: The analyst sees South-region records with hidden email. A privileged group sees all fake records.</a:t>
            </a:r>
          </a:p>
          <a:p xmlns:a="http://schemas.openxmlformats.org/drawingml/2006/main">
            <a:r>
              <a:t/>
            </a:r>
          </a:p>
          <a:p xmlns:a="http://schemas.openxmlformats.org/drawingml/2006/main">
            <a:r>
              <a:t>Demonstration: Execute the same view query in two authenticated user sessions.</a:t>
            </a:r>
          </a:p>
          <a:p xmlns:a="http://schemas.openxmlformats.org/drawingml/2006/main">
            <a:r>
              <a:t/>
            </a:r>
          </a:p>
          <a:p xmlns:a="http://schemas.openxmlformats.org/drawingml/2006/main">
            <a:r>
              <a:t>Ask students: Can the table owner stand in for the denied analyst test?</a:t>
            </a:r>
          </a:p>
          <a:p xmlns:a="http://schemas.openxmlformats.org/drawingml/2006/main">
            <a:r>
              <a:t/>
            </a:r>
          </a:p>
          <a:p xmlns:a="http://schemas.openxmlformats.org/drawingml/2006/main">
            <a:r>
              <a:t>Expected explanation: No. Owner privileges make that test misleading.</a:t>
            </a:r>
          </a:p>
          <a:p xmlns:a="http://schemas.openxmlformats.org/drawingml/2006/main">
            <a:r>
              <a:t/>
            </a:r>
          </a:p>
          <a:p xmlns:a="http://schemas.openxmlformats.org/drawingml/2006/main">
            <a:r>
              <a:t>Teaching point: A secure result requires both expected view output and denied base access.</a:t>
            </a:r>
          </a:p>
          <a:p xmlns:a="http://schemas.openxmlformats.org/drawingml/2006/main">
            <a:r>
              <a:t/>
            </a:r>
          </a:p>
          <a:p xmlns:a="http://schemas.openxmlformats.org/drawingml/2006/main">
            <a:r>
              <a:t>Reference: https://learn.microsoft.com/en-us/azure/databricks/views/dynamic</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row filter controls which records a query returns. A column mask changes the visible value of a field. Table policies and dynamic views offer different enforcement surfaces.</a:t>
            </a:r>
          </a:p>
          <a:p xmlns:a="http://schemas.openxmlformats.org/drawingml/2006/main">
            <a:r>
              <a:t/>
            </a:r>
          </a:p>
          <a:p xmlns:a="http://schemas.openxmlformats.org/drawingml/2006/main">
            <a:r>
              <a:t>Simple example: A regional user sees South records. The email column appears as REDACTED.</a:t>
            </a:r>
          </a:p>
          <a:p xmlns:a="http://schemas.openxmlformats.org/drawingml/2006/main">
            <a:r>
              <a:t/>
            </a:r>
          </a:p>
          <a:p xmlns:a="http://schemas.openxmlformats.org/drawingml/2006/main">
            <a:r>
              <a:t>Demonstration: Identify the WHERE clause and CASE expression in the view.</a:t>
            </a:r>
          </a:p>
          <a:p xmlns:a="http://schemas.openxmlformats.org/drawingml/2006/main">
            <a:r>
              <a:t/>
            </a:r>
          </a:p>
          <a:p xmlns:a="http://schemas.openxmlformats.org/drawingml/2006/main">
            <a:r>
              <a:t>Ask students: Is dropping a column from a display the same as enforcing a table policy?</a:t>
            </a:r>
          </a:p>
          <a:p xmlns:a="http://schemas.openxmlformats.org/drawingml/2006/main">
            <a:r>
              <a:t/>
            </a:r>
          </a:p>
          <a:p xmlns:a="http://schemas.openxmlformats.org/drawingml/2006/main">
            <a:r>
              <a:t>Expected explanation: No. Users may still query the source.</a:t>
            </a:r>
          </a:p>
          <a:p xmlns:a="http://schemas.openxmlformats.org/drawingml/2006/main">
            <a:r>
              <a:t/>
            </a:r>
          </a:p>
          <a:p xmlns:a="http://schemas.openxmlformats.org/drawingml/2006/main">
            <a:r>
              <a:t>Teaching point: Check runtime support and operation limitations before adopting table policies.</a:t>
            </a:r>
          </a:p>
          <a:p xmlns:a="http://schemas.openxmlformats.org/drawingml/2006/main">
            <a:r>
              <a:t/>
            </a:r>
          </a:p>
          <a:p xmlns:a="http://schemas.openxmlformats.org/drawingml/2006/main">
            <a:r>
              <a:t>Reference: https://learn.microsoft.com/en-us/azure/databricks/data-governance/unity-catalog/filters-and-masks/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Managed identity avoids embedding a long-lived credential in code where supported. Secrets still need restricted access and controlled use.</a:t>
            </a:r>
          </a:p>
          <a:p xmlns:a="http://schemas.openxmlformats.org/drawingml/2006/main">
            <a:r>
              <a:t/>
            </a:r>
          </a:p>
          <a:p xmlns:a="http://schemas.openxmlformats.org/drawingml/2006/main">
            <a:r>
              <a:t>Simple example: An application uses its issued identity instead of writing a password on the classroom board.</a:t>
            </a:r>
          </a:p>
          <a:p xmlns:a="http://schemas.openxmlformats.org/drawingml/2006/main">
            <a:r>
              <a:t/>
            </a:r>
          </a:p>
          <a:p xmlns:a="http://schemas.openxmlformats.org/drawingml/2006/main">
            <a:r>
              <a:t>Demonstration: Inspect identity references and show only a secret lookup pattern, never a value.</a:t>
            </a:r>
          </a:p>
          <a:p xmlns:a="http://schemas.openxmlformats.org/drawingml/2006/main">
            <a:r>
              <a:t/>
            </a:r>
          </a:p>
          <a:p xmlns:a="http://schemas.openxmlformats.org/drawingml/2006/main">
            <a:r>
              <a:t>Ask students: Does secret redaction make printing credentials acceptable?</a:t>
            </a:r>
          </a:p>
          <a:p xmlns:a="http://schemas.openxmlformats.org/drawingml/2006/main">
            <a:r>
              <a:t/>
            </a:r>
          </a:p>
          <a:p xmlns:a="http://schemas.openxmlformats.org/drawingml/2006/main">
            <a:r>
              <a:t>Expected explanation: No. Redaction is not a complete security boundary.</a:t>
            </a:r>
          </a:p>
          <a:p xmlns:a="http://schemas.openxmlformats.org/drawingml/2006/main">
            <a:r>
              <a:t/>
            </a:r>
          </a:p>
          <a:p xmlns:a="http://schemas.openxmlformats.org/drawingml/2006/main">
            <a:r>
              <a:t>Teaching point: Restrict who can read secrets and who can edit code running under powerful identities.</a:t>
            </a:r>
          </a:p>
          <a:p xmlns:a="http://schemas.openxmlformats.org/drawingml/2006/main">
            <a:r>
              <a:t/>
            </a:r>
          </a:p>
          <a:p xmlns:a="http://schemas.openxmlformats.org/drawingml/2006/main">
            <a:r>
              <a:t>Reference: https://learn.microsoft.com/en-us/azure/databricks/security/secrets/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Network rules control reachability. Identity permissions control authorized operations. Encryption protects data in transit or at rest under the chosen key design.</a:t>
            </a:r>
          </a:p>
          <a:p xmlns:a="http://schemas.openxmlformats.org/drawingml/2006/main">
            <a:r>
              <a:t/>
            </a:r>
          </a:p>
          <a:p xmlns:a="http://schemas.openxmlformats.org/drawingml/2006/main">
            <a:r>
              <a:t>Simple example: A locked road gate and a room key address different parts of access.</a:t>
            </a:r>
          </a:p>
          <a:p xmlns:a="http://schemas.openxmlformats.org/drawingml/2006/main">
            <a:r>
              <a:t/>
            </a:r>
          </a:p>
          <a:p xmlns:a="http://schemas.openxmlformats.org/drawingml/2006/main">
            <a:r>
              <a:t>Demonstration: Review required endpoints and DNS with a sketch or existing environment settings.</a:t>
            </a:r>
          </a:p>
          <a:p xmlns:a="http://schemas.openxmlformats.org/drawingml/2006/main">
            <a:r>
              <a:t/>
            </a:r>
          </a:p>
          <a:p xmlns:a="http://schemas.openxmlformats.org/drawingml/2006/main">
            <a:r>
              <a:t>Ask students: Will a private endpoint fix a missing storage role?</a:t>
            </a:r>
          </a:p>
          <a:p xmlns:a="http://schemas.openxmlformats.org/drawingml/2006/main">
            <a:r>
              <a:t/>
            </a:r>
          </a:p>
          <a:p xmlns:a="http://schemas.openxmlformats.org/drawingml/2006/main">
            <a:r>
              <a:t>Expected explanation: No. Reachability and authorization are separate.</a:t>
            </a:r>
          </a:p>
          <a:p xmlns:a="http://schemas.openxmlformats.org/drawingml/2006/main">
            <a:r>
              <a:t/>
            </a:r>
          </a:p>
          <a:p xmlns:a="http://schemas.openxmlformats.org/drawingml/2006/main">
            <a:r>
              <a:t>Teaching point: Network changes are administrator exercises because they can interrupt the shared class.</a:t>
            </a:r>
          </a:p>
          <a:p xmlns:a="http://schemas.openxmlformats.org/drawingml/2006/main">
            <a:r>
              <a:t/>
            </a:r>
          </a:p>
          <a:p xmlns:a="http://schemas.openxmlformats.org/drawingml/2006/main">
            <a:r>
              <a:t>Reference: https://learn.microsoft.com/en-us/azure/databricks/security/network/concepts/private-link</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records help establish who performed an action and when. Access to logs must also be restricted.</a:t>
            </a:r>
          </a:p>
          <a:p xmlns:a="http://schemas.openxmlformats.org/drawingml/2006/main">
            <a:r>
              <a:t/>
            </a:r>
          </a:p>
          <a:p xmlns:a="http://schemas.openxmlformats.org/drawingml/2006/main">
            <a:r>
              <a:t>Simple example: A building entry register supports investigation but contains information about people.</a:t>
            </a:r>
          </a:p>
          <a:p xmlns:a="http://schemas.openxmlformats.org/drawingml/2006/main">
            <a:r>
              <a:t/>
            </a:r>
          </a:p>
          <a:p xmlns:a="http://schemas.openxmlformats.org/drawingml/2006/main">
            <a:r>
              <a:t>Demonstration: Inspect an approved event with actor, service and action.</a:t>
            </a:r>
          </a:p>
          <a:p xmlns:a="http://schemas.openxmlformats.org/drawingml/2006/main">
            <a:r>
              <a:t/>
            </a:r>
          </a:p>
          <a:p xmlns:a="http://schemas.openxmlformats.org/drawingml/2006/main">
            <a:r>
              <a:t>Ask students: Does an empty query prove nobody accessed data?</a:t>
            </a:r>
          </a:p>
          <a:p xmlns:a="http://schemas.openxmlformats.org/drawingml/2006/main">
            <a:r>
              <a:t/>
            </a:r>
          </a:p>
          <a:p xmlns:a="http://schemas.openxmlformats.org/drawingml/2006/main">
            <a:r>
              <a:t>Expected explanation: No. Scope, delay and permissions can affect results.</a:t>
            </a:r>
          </a:p>
          <a:p xmlns:a="http://schemas.openxmlformats.org/drawingml/2006/main">
            <a:r>
              <a:t/>
            </a:r>
          </a:p>
          <a:p xmlns:a="http://schemas.openxmlformats.org/drawingml/2006/main">
            <a:r>
              <a:t>Teaching point: Keep logs for the approved period and verify collection coverage.</a:t>
            </a:r>
          </a:p>
          <a:p xmlns:a="http://schemas.openxmlformats.org/drawingml/2006/main">
            <a:r>
              <a:t/>
            </a:r>
          </a:p>
          <a:p xmlns:a="http://schemas.openxmlformats.org/drawingml/2006/main">
            <a:r>
              <a:t>Reference: https://learn.microsoft.com/en-us/azure/databricks/admin/system-tables/</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Masking hides values in an output. Pseudonymization replaces identifiers while some means of linking or reidentifying can remain.</a:t>
            </a:r>
          </a:p>
          <a:p xmlns:a="http://schemas.openxmlformats.org/drawingml/2006/main">
            <a:r>
              <a:t/>
            </a:r>
          </a:p>
          <a:p xmlns:a="http://schemas.openxmlformats.org/drawingml/2006/main">
            <a:r>
              <a:t>Simple example: REDACTED hides email. A stable customer token lets purchases be grouped across days.</a:t>
            </a:r>
          </a:p>
          <a:p xmlns:a="http://schemas.openxmlformats.org/drawingml/2006/main">
            <a:r>
              <a:t/>
            </a:r>
          </a:p>
          <a:p xmlns:a="http://schemas.openxmlformats.org/drawingml/2006/main">
            <a:r>
              <a:t>Demonstration: Run the fake-customer notebook and compare outputs with the original table.</a:t>
            </a:r>
          </a:p>
          <a:p xmlns:a="http://schemas.openxmlformats.org/drawingml/2006/main">
            <a:r>
              <a:t/>
            </a:r>
          </a:p>
          <a:p xmlns:a="http://schemas.openxmlformats.org/drawingml/2006/main">
            <a:r>
              <a:t>Ask students: Does SHA-256 make C001 impossible to identify?</a:t>
            </a:r>
          </a:p>
          <a:p xmlns:a="http://schemas.openxmlformats.org/drawingml/2006/main">
            <a:r>
              <a:t/>
            </a:r>
          </a:p>
          <a:p xmlns:a="http://schemas.openxmlformats.org/drawingml/2006/main">
            <a:r>
              <a:t>Expected explanation: No. Someone can hash guessed identifiers and compare them.</a:t>
            </a:r>
          </a:p>
          <a:p xmlns:a="http://schemas.openxmlformats.org/drawingml/2006/main">
            <a:r>
              <a:t/>
            </a:r>
          </a:p>
          <a:p xmlns:a="http://schemas.openxmlformats.org/drawingml/2006/main">
            <a:r>
              <a:t>Teaching point: Production token/key design and access restrictions determine risk.</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Masking hides values in an output. Pseudonymization replaces identifiers while some means of linking or reidentifying can remain.</a:t>
            </a:r>
          </a:p>
          <a:p xmlns:a="http://schemas.openxmlformats.org/drawingml/2006/main">
            <a:r>
              <a:t/>
            </a:r>
          </a:p>
          <a:p xmlns:a="http://schemas.openxmlformats.org/drawingml/2006/main">
            <a:r>
              <a:t>Simple example: REDACTED hides email. A stable customer token lets purchases be grouped across days.</a:t>
            </a:r>
          </a:p>
          <a:p xmlns:a="http://schemas.openxmlformats.org/drawingml/2006/main">
            <a:r>
              <a:t/>
            </a:r>
          </a:p>
          <a:p xmlns:a="http://schemas.openxmlformats.org/drawingml/2006/main">
            <a:r>
              <a:t>Demonstration: Run the fake-customer notebook and compare outputs with the original table.</a:t>
            </a:r>
          </a:p>
          <a:p xmlns:a="http://schemas.openxmlformats.org/drawingml/2006/main">
            <a:r>
              <a:t/>
            </a:r>
          </a:p>
          <a:p xmlns:a="http://schemas.openxmlformats.org/drawingml/2006/main">
            <a:r>
              <a:t>Ask students: Does SHA-256 make C001 impossible to identify?</a:t>
            </a:r>
          </a:p>
          <a:p xmlns:a="http://schemas.openxmlformats.org/drawingml/2006/main">
            <a:r>
              <a:t/>
            </a:r>
          </a:p>
          <a:p xmlns:a="http://schemas.openxmlformats.org/drawingml/2006/main">
            <a:r>
              <a:t>Expected explanation: No. Someone can hash guessed identifiers and compare them.</a:t>
            </a:r>
          </a:p>
          <a:p xmlns:a="http://schemas.openxmlformats.org/drawingml/2006/main">
            <a:r>
              <a:t/>
            </a:r>
          </a:p>
          <a:p xmlns:a="http://schemas.openxmlformats.org/drawingml/2006/main">
            <a:r>
              <a:t>Teaching point: Production token/key design and access restrictions determine risk.</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Anonymization requires a defensible assessment that individuals are not identifiable by reasonably likely means. Removing names alone does not settle that question.</a:t>
            </a:r>
          </a:p>
          <a:p xmlns:a="http://schemas.openxmlformats.org/drawingml/2006/main">
            <a:r>
              <a:t/>
            </a:r>
          </a:p>
          <a:p xmlns:a="http://schemas.openxmlformats.org/drawingml/2006/main">
            <a:r>
              <a:t>Simple example: A city and exact age can identify the only person in a small group.</a:t>
            </a:r>
          </a:p>
          <a:p xmlns:a="http://schemas.openxmlformats.org/drawingml/2006/main">
            <a:r>
              <a:t/>
            </a:r>
          </a:p>
          <a:p xmlns:a="http://schemas.openxmlformats.org/drawingml/2006/main">
            <a:r>
              <a:t>Demonstration: Inspect city counts and discuss the group containing one record.</a:t>
            </a:r>
          </a:p>
          <a:p xmlns:a="http://schemas.openxmlformats.org/drawingml/2006/main">
            <a:r>
              <a:t/>
            </a:r>
          </a:p>
          <a:p xmlns:a="http://schemas.openxmlformats.org/drawingml/2006/main">
            <a:r>
              <a:t>Ask students: Is every grouped report automatically anonymous?</a:t>
            </a:r>
          </a:p>
          <a:p xmlns:a="http://schemas.openxmlformats.org/drawingml/2006/main">
            <a:r>
              <a:t/>
            </a:r>
          </a:p>
          <a:p xmlns:a="http://schemas.openxmlformats.org/drawingml/2006/main">
            <a:r>
              <a:t>Expected explanation: No. Small cells and combinations of attributes can reveal people.</a:t>
            </a:r>
          </a:p>
          <a:p xmlns:a="http://schemas.openxmlformats.org/drawingml/2006/main">
            <a:r>
              <a:t/>
            </a:r>
          </a:p>
          <a:p xmlns:a="http://schemas.openxmlformats.org/drawingml/2006/main">
            <a:r>
              <a:t>Teaching point: Treat generalization and suppression as techniques within a risk assessment.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GDPR covers personal-data processing obligations and rights where it applies. Engineering supports purpose, minimization, access, retention and request handling.</a:t>
            </a:r>
          </a:p>
          <a:p xmlns:a="http://schemas.openxmlformats.org/drawingml/2006/main">
            <a:r>
              <a:t/>
            </a:r>
          </a:p>
          <a:p xmlns:a="http://schemas.openxmlformats.org/drawingml/2006/main">
            <a:r>
              <a:t>Simple example: A business may need delivery city for a report but not the customer email.</a:t>
            </a:r>
          </a:p>
          <a:p xmlns:a="http://schemas.openxmlformats.org/drawingml/2006/main">
            <a:r>
              <a:t/>
            </a:r>
          </a:p>
          <a:p xmlns:a="http://schemas.openxmlformats.org/drawingml/2006/main">
            <a:r>
              <a:t>Demonstration: Map needed columns and list the copies involved in a subject request.</a:t>
            </a:r>
          </a:p>
          <a:p xmlns:a="http://schemas.openxmlformats.org/drawingml/2006/main">
            <a:r>
              <a:t/>
            </a:r>
          </a:p>
          <a:p xmlns:a="http://schemas.openxmlformats.org/drawingml/2006/main">
            <a:r>
              <a:t>Ask students: Does enabling Unity Catalog complete GDPR compliance?</a:t>
            </a:r>
          </a:p>
          <a:p xmlns:a="http://schemas.openxmlformats.org/drawingml/2006/main">
            <a:r>
              <a:t/>
            </a:r>
          </a:p>
          <a:p xmlns:a="http://schemas.openxmlformats.org/drawingml/2006/main">
            <a:r>
              <a:t>Expected explanation: No. Legal, organizational and technical processes all contribute.</a:t>
            </a:r>
          </a:p>
          <a:p xmlns:a="http://schemas.openxmlformats.org/drawingml/2006/main">
            <a:r>
              <a:t/>
            </a:r>
          </a:p>
          <a:p xmlns:a="http://schemas.openxmlformats.org/drawingml/2006/main">
            <a:r>
              <a:t>Teaching point: Rights and exceptions require an approved organizational decision.</a:t>
            </a:r>
          </a:p>
          <a:p xmlns:a="http://schemas.openxmlformats.org/drawingml/2006/main">
            <a:r>
              <a:t/>
            </a:r>
          </a:p>
          <a:p xmlns:a="http://schemas.openxmlformats.org/drawingml/2006/main">
            <a:r>
              <a:t>Reference: https://eur-lex.europa.eu/eli/reg/2016/679/oj/eng</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CCPA, as amended by CPRA, includes rights and business duties where applicable. Technical design must support the approved policy for the organization.</a:t>
            </a:r>
          </a:p>
          <a:p xmlns:a="http://schemas.openxmlformats.org/drawingml/2006/main">
            <a:r>
              <a:t/>
            </a:r>
          </a:p>
          <a:p xmlns:a="http://schemas.openxmlformats.org/drawingml/2006/main">
            <a:r>
              <a:t>Simple example: A verified correction request must reach downstream reporting copies as well as the source record.</a:t>
            </a:r>
          </a:p>
          <a:p xmlns:a="http://schemas.openxmlformats.org/drawingml/2006/main">
            <a:r>
              <a:t/>
            </a:r>
          </a:p>
          <a:p xmlns:a="http://schemas.openxmlformats.org/drawingml/2006/main">
            <a:r>
              <a:t>Demonstration: Explain request tracking and routing to the data owner.</a:t>
            </a:r>
          </a:p>
          <a:p xmlns:a="http://schemas.openxmlformats.org/drawingml/2006/main">
            <a:r>
              <a:t/>
            </a:r>
          </a:p>
          <a:p xmlns:a="http://schemas.openxmlformats.org/drawingml/2006/main">
            <a:r>
              <a:t>Ask students: Is deleting one row sufficient for every request?</a:t>
            </a:r>
          </a:p>
          <a:p xmlns:a="http://schemas.openxmlformats.org/drawingml/2006/main">
            <a:r>
              <a:t/>
            </a:r>
          </a:p>
          <a:p xmlns:a="http://schemas.openxmlformats.org/drawingml/2006/main">
            <a:r>
              <a:t>Expected explanation: No. Scope, rights, exceptions and other systems matter.</a:t>
            </a:r>
          </a:p>
          <a:p xmlns:a="http://schemas.openxmlformats.org/drawingml/2006/main">
            <a:r>
              <a:t/>
            </a:r>
          </a:p>
          <a:p xmlns:a="http://schemas.openxmlformats.org/drawingml/2006/main">
            <a:r>
              <a:t>Teaching point: Do not confuse opting out of sale or sharing with a blanket instruction to delete every record.</a:t>
            </a:r>
          </a:p>
          <a:p xmlns:a="http://schemas.openxmlformats.org/drawingml/2006/main">
            <a:r>
              <a:t/>
            </a:r>
          </a:p>
          <a:p xmlns:a="http://schemas.openxmlformats.org/drawingml/2006/main">
            <a:r>
              <a:t>Reference: https://oag.ca.gov/privacy/ccpa</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DELETE changes the current Delta table state. Retained files, earlier copies and downstream systems may still hold the data.</a:t>
            </a:r>
          </a:p>
          <a:p xmlns:a="http://schemas.openxmlformats.org/drawingml/2006/main">
            <a:r>
              <a:t/>
            </a:r>
          </a:p>
          <a:p xmlns:a="http://schemas.openxmlformats.org/drawingml/2006/main">
            <a:r>
              <a:t>Simple example: Erasing one photocopy does not erase the original or copies in other rooms.</a:t>
            </a:r>
          </a:p>
          <a:p xmlns:a="http://schemas.openxmlformats.org/drawingml/2006/main">
            <a:r>
              <a:t/>
            </a:r>
          </a:p>
          <a:p xmlns:a="http://schemas.openxmlformats.org/drawingml/2006/main">
            <a:r>
              <a:t>Demonstration: Delete C002 only from the disposable table and inspect history.</a:t>
            </a:r>
          </a:p>
          <a:p xmlns:a="http://schemas.openxmlformats.org/drawingml/2006/main">
            <a:r>
              <a:t/>
            </a:r>
          </a:p>
          <a:p xmlns:a="http://schemas.openxmlformats.org/drawingml/2006/main">
            <a:r>
              <a:t>Ask students: Can we truthfully say the person has disappeared from every system?</a:t>
            </a:r>
          </a:p>
          <a:p xmlns:a="http://schemas.openxmlformats.org/drawingml/2006/main">
            <a:r>
              <a:t/>
            </a:r>
          </a:p>
          <a:p xmlns:a="http://schemas.openxmlformats.org/drawingml/2006/main">
            <a:r>
              <a:t>Expected explanation: No. The demonstration verifies only one current table snapshot.</a:t>
            </a:r>
          </a:p>
          <a:p xmlns:a="http://schemas.openxmlformats.org/drawingml/2006/main">
            <a:r>
              <a:t/>
            </a:r>
          </a:p>
          <a:p xmlns:a="http://schemas.openxmlformats.org/drawingml/2006/main">
            <a:r>
              <a:t>Teaching point: Use an approved lifecycle for physical removal. Never bypass retention safety for this class.</a:t>
            </a:r>
          </a:p>
          <a:p xmlns:a="http://schemas.openxmlformats.org/drawingml/2006/main">
            <a:r>
              <a:t/>
            </a:r>
          </a:p>
          <a:p xmlns:a="http://schemas.openxmlformats.org/drawingml/2006/main">
            <a:r>
              <a:t>Reference: https://learn.microsoft.com/en-us/azure/databricks/sql/language-manual/delta-vacuum</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DELETE changes the current Delta table state. Retained files, earlier copies and downstream systems may still hold the data.</a:t>
            </a:r>
          </a:p>
          <a:p xmlns:a="http://schemas.openxmlformats.org/drawingml/2006/main">
            <a:r>
              <a:t/>
            </a:r>
          </a:p>
          <a:p xmlns:a="http://schemas.openxmlformats.org/drawingml/2006/main">
            <a:r>
              <a:t>Simple example: Erasing one photocopy does not erase the original or copies in other rooms.</a:t>
            </a:r>
          </a:p>
          <a:p xmlns:a="http://schemas.openxmlformats.org/drawingml/2006/main">
            <a:r>
              <a:t/>
            </a:r>
          </a:p>
          <a:p xmlns:a="http://schemas.openxmlformats.org/drawingml/2006/main">
            <a:r>
              <a:t>Demonstration: Delete C002 only from the disposable table and inspect history.</a:t>
            </a:r>
          </a:p>
          <a:p xmlns:a="http://schemas.openxmlformats.org/drawingml/2006/main">
            <a:r>
              <a:t/>
            </a:r>
          </a:p>
          <a:p xmlns:a="http://schemas.openxmlformats.org/drawingml/2006/main">
            <a:r>
              <a:t>Ask students: Can we truthfully say the person has disappeared from every system?</a:t>
            </a:r>
          </a:p>
          <a:p xmlns:a="http://schemas.openxmlformats.org/drawingml/2006/main">
            <a:r>
              <a:t/>
            </a:r>
          </a:p>
          <a:p xmlns:a="http://schemas.openxmlformats.org/drawingml/2006/main">
            <a:r>
              <a:t>Expected explanation: No. The demonstration verifies only one current table snapshot.</a:t>
            </a:r>
          </a:p>
          <a:p xmlns:a="http://schemas.openxmlformats.org/drawingml/2006/main">
            <a:r>
              <a:t/>
            </a:r>
          </a:p>
          <a:p xmlns:a="http://schemas.openxmlformats.org/drawingml/2006/main">
            <a:r>
              <a:t>Teaching point: Use an approved lifecycle for physical removal. Never bypass retention safety for this class.</a:t>
            </a:r>
          </a:p>
          <a:p xmlns:a="http://schemas.openxmlformats.org/drawingml/2006/main">
            <a:r>
              <a:t/>
            </a:r>
          </a:p>
          <a:p xmlns:a="http://schemas.openxmlformats.org/drawingml/2006/main">
            <a:r>
              <a:t>Reference: https://learn.microsoft.com/en-us/azure/databricks/sql/language-manual/delta-vacuum</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processing identity used by ADF needs its own privileges. A successful manual notebook run does not test the automation identity.</a:t>
            </a:r>
          </a:p>
          <a:p xmlns:a="http://schemas.openxmlformats.org/drawingml/2006/main">
            <a:r>
              <a:t/>
            </a:r>
          </a:p>
          <a:p xmlns:a="http://schemas.openxmlformats.org/drawingml/2006/main">
            <a:r>
              <a:t>Simple example: A teacher can open a cupboard, while the delivery assistant may still lack its key.</a:t>
            </a:r>
          </a:p>
          <a:p xmlns:a="http://schemas.openxmlformats.org/drawingml/2006/main">
            <a:r>
              <a:t/>
            </a:r>
          </a:p>
          <a:p xmlns:a="http://schemas.openxmlformats.org/drawingml/2006/main">
            <a:r>
              <a:t>Demonstration: Run the cloned Day 22 pipeline and inspect its actual identity and output.</a:t>
            </a:r>
          </a:p>
          <a:p xmlns:a="http://schemas.openxmlformats.org/drawingml/2006/main">
            <a:r>
              <a:t/>
            </a:r>
          </a:p>
          <a:p xmlns:a="http://schemas.openxmlformats.org/drawingml/2006/main">
            <a:r>
              <a:t>Ask students: What must the handover include besides a green pipeline status?</a:t>
            </a:r>
          </a:p>
          <a:p xmlns:a="http://schemas.openxmlformats.org/drawingml/2006/main">
            <a:r>
              <a:t/>
            </a:r>
          </a:p>
          <a:p xmlns:a="http://schemas.openxmlformats.org/drawingml/2006/main">
            <a:r>
              <a:t>Expected explanation: Correct outputs, run identity, timings, permissions evidence and known limitations.</a:t>
            </a:r>
          </a:p>
          <a:p xmlns:a="http://schemas.openxmlformats.org/drawingml/2006/main">
            <a:r>
              <a:t/>
            </a:r>
          </a:p>
          <a:p xmlns:a="http://schemas.openxmlformats.org/drawingml/2006/main">
            <a:r>
              <a:t>Teaching point: One schedule owner and scoped output paths make classroom runs easier to reason about.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processing identity used by ADF needs its own privileges. A successful manual notebook run does not test the automation identity.</a:t>
            </a:r>
          </a:p>
          <a:p xmlns:a="http://schemas.openxmlformats.org/drawingml/2006/main">
            <a:r>
              <a:t/>
            </a:r>
          </a:p>
          <a:p xmlns:a="http://schemas.openxmlformats.org/drawingml/2006/main">
            <a:r>
              <a:t>Simple example: A teacher can open a cupboard, while the delivery assistant may still lack its key.</a:t>
            </a:r>
          </a:p>
          <a:p xmlns:a="http://schemas.openxmlformats.org/drawingml/2006/main">
            <a:r>
              <a:t/>
            </a:r>
          </a:p>
          <a:p xmlns:a="http://schemas.openxmlformats.org/drawingml/2006/main">
            <a:r>
              <a:t>Demonstration: Run the cloned Day 22 pipeline and inspect its actual identity and output.</a:t>
            </a:r>
          </a:p>
          <a:p xmlns:a="http://schemas.openxmlformats.org/drawingml/2006/main">
            <a:r>
              <a:t/>
            </a:r>
          </a:p>
          <a:p xmlns:a="http://schemas.openxmlformats.org/drawingml/2006/main">
            <a:r>
              <a:t>Ask students: What must the handover include besides a green pipeline status?</a:t>
            </a:r>
          </a:p>
          <a:p xmlns:a="http://schemas.openxmlformats.org/drawingml/2006/main">
            <a:r>
              <a:t/>
            </a:r>
          </a:p>
          <a:p xmlns:a="http://schemas.openxmlformats.org/drawingml/2006/main">
            <a:r>
              <a:t>Expected explanation: Correct outputs, run identity, timings, permissions evidence and known limitations.</a:t>
            </a:r>
          </a:p>
          <a:p xmlns:a="http://schemas.openxmlformats.org/drawingml/2006/main">
            <a:r>
              <a:t/>
            </a:r>
          </a:p>
          <a:p xmlns:a="http://schemas.openxmlformats.org/drawingml/2006/main">
            <a:r>
              <a:t>Teaching point: One schedule owner and scoped output paths make classroom runs easier to reason about.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processing identity used by ADF needs its own privileges. A successful manual notebook run does not test the automation identity.</a:t>
            </a:r>
          </a:p>
          <a:p xmlns:a="http://schemas.openxmlformats.org/drawingml/2006/main">
            <a:r>
              <a:t/>
            </a:r>
          </a:p>
          <a:p xmlns:a="http://schemas.openxmlformats.org/drawingml/2006/main">
            <a:r>
              <a:t>Simple example: A teacher can open a cupboard, while the delivery assistant may still lack its key.</a:t>
            </a:r>
          </a:p>
          <a:p xmlns:a="http://schemas.openxmlformats.org/drawingml/2006/main">
            <a:r>
              <a:t/>
            </a:r>
          </a:p>
          <a:p xmlns:a="http://schemas.openxmlformats.org/drawingml/2006/main">
            <a:r>
              <a:t>Demonstration: Run the cloned Day 22 pipeline and inspect its actual identity and output.</a:t>
            </a:r>
          </a:p>
          <a:p xmlns:a="http://schemas.openxmlformats.org/drawingml/2006/main">
            <a:r>
              <a:t/>
            </a:r>
          </a:p>
          <a:p xmlns:a="http://schemas.openxmlformats.org/drawingml/2006/main">
            <a:r>
              <a:t>Ask students: What must the handover include besides a green pipeline status?</a:t>
            </a:r>
          </a:p>
          <a:p xmlns:a="http://schemas.openxmlformats.org/drawingml/2006/main">
            <a:r>
              <a:t/>
            </a:r>
          </a:p>
          <a:p xmlns:a="http://schemas.openxmlformats.org/drawingml/2006/main">
            <a:r>
              <a:t>Expected explanation: Correct outputs, run identity, timings, permissions evidence and known limitations.</a:t>
            </a:r>
          </a:p>
          <a:p xmlns:a="http://schemas.openxmlformats.org/drawingml/2006/main">
            <a:r>
              <a:t/>
            </a:r>
          </a:p>
          <a:p xmlns:a="http://schemas.openxmlformats.org/drawingml/2006/main">
            <a:r>
              <a:t>Teaching point: One schedule owner and scoped output paths make classroom runs easier to reason about.</a:t>
            </a:r>
          </a:p>
          <a:p xmlns:a="http://schemas.openxmlformats.org/drawingml/2006/main">
            <a:r>
              <a:t/>
            </a:r>
          </a:p>
          <a:p xmlns:a="http://schemas.openxmlformats.org/drawingml/2006/main">
            <a:r>
              <a:t>References: https://learn.microsoft.com/en-us/azure/databricks/compute/cluster-config-best-practices</a:t>
            </a:r>
          </a:p>
          <a:p xmlns:a="http://schemas.openxmlformats.org/drawingml/2006/main">
            <a:r>
              <a:t>https://learn.microsoft.com/en-us/azure/databricks/optimizations/aqe</a:t>
            </a:r>
          </a:p>
          <a:p xmlns:a="http://schemas.openxmlformats.org/drawingml/2006/main">
            <a:r>
              <a:t>https://learn.microsoft.com/en-us/azure/databricks/transform/optimize-joins</a:t>
            </a:r>
          </a:p>
          <a:p xmlns:a="http://schemas.openxmlformats.org/drawingml/2006/main">
            <a:r>
              <a:t>https://learn.microsoft.com/en-us/azure/cost-management-billing/costs/tutorial-acm-create-budgets</a:t>
            </a:r>
          </a:p>
          <a:p xmlns:a="http://schemas.openxmlformats.org/drawingml/2006/main">
            <a:r>
              <a:t>https://learn.microsoft.com/en-us/azure/databricks/admin/system-tables/billing</a:t>
            </a:r>
          </a:p>
          <a:p xmlns:a="http://schemas.openxmlformats.org/drawingml/2006/main">
            <a:r>
              <a:t>https://learn.microsoft.com/en-us/azure/databricks/views/dynamic</a:t>
            </a:r>
          </a:p>
          <a:p xmlns:a="http://schemas.openxmlformats.org/drawingml/2006/main">
            <a:r>
              <a:t>https://learn.microsoft.com/en-us/azure/databricks/data-governance/unity-catalog/filters-and-masks/</a:t>
            </a:r>
          </a:p>
          <a:p xmlns:a="http://schemas.openxmlformats.org/drawingml/2006/main">
            <a:r>
              <a:t>https://learn.microsoft.com/en-us/azure/databricks/security/network/concepts/private-link</a:t>
            </a:r>
          </a:p>
          <a:p xmlns:a="http://schemas.openxmlformats.org/drawingml/2006/main">
            <a:r>
              <a:t>https://learn.microsoft.com/en-us/azure/databricks/security/secrets/</a:t>
            </a:r>
          </a:p>
          <a:p xmlns:a="http://schemas.openxmlformats.org/drawingml/2006/main">
            <a:r>
              <a:t>https://learn.microsoft.com/en-us/azure/databricks/admin/system-tables/</a:t>
            </a:r>
          </a:p>
          <a:p xmlns:a="http://schemas.openxmlformats.org/drawingml/2006/main">
            <a:r>
              <a:t>https://learn.microsoft.com/en-us/azure/databricks/sql/language-manual/delta-vacuum</a:t>
            </a:r>
          </a:p>
          <a:p xmlns:a="http://schemas.openxmlformats.org/drawingml/2006/main">
            <a:r>
              <a:t>https://eur-lex.europa.eu/eli/reg/2016/679/oj/eng</a:t>
            </a:r>
          </a:p>
          <a:p xmlns:a="http://schemas.openxmlformats.org/drawingml/2006/main">
            <a:r>
              <a:t>https://oag.ca.gov/privacy/ccpa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ccffd5851446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462ae3bc5049fe" /><Relationship Type="http://schemas.openxmlformats.org/officeDocument/2006/relationships/slideLayout" Target="/ppt/slideLayouts/slideLayout1.xml" Id="R9a6f325d78d844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6f325d78d844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0e106ac3d84650" /><Relationship Type="http://schemas.openxmlformats.org/officeDocument/2006/relationships/notesSlide" Target="/ppt/notesSlides/notesSlide1.xml" Id="Rc9ae39400e1540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83c3e2666c42db" /><Relationship Type="http://schemas.openxmlformats.org/officeDocument/2006/relationships/notesSlide" Target="/ppt/notesSlides/notesSlide2.xml" Id="Rbb696acededf47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69f063ad9942ee" /><Relationship Type="http://schemas.openxmlformats.org/officeDocument/2006/relationships/notesSlide" Target="/ppt/notesSlides/notesSlide3.xml" Id="R77621c2db23b47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619aba188c460d" /><Relationship Type="http://schemas.openxmlformats.org/officeDocument/2006/relationships/notesSlide" Target="/ppt/notesSlides/notesSlide4.xml" Id="R2ef25e27fce94b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d44591027c474f" /><Relationship Type="http://schemas.openxmlformats.org/officeDocument/2006/relationships/notesSlide" Target="/ppt/notesSlides/notesSlide5.xml" Id="Rcb8fc60873c643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7ee4de6e274e66" /><Relationship Type="http://schemas.openxmlformats.org/officeDocument/2006/relationships/notesSlide" Target="/ppt/notesSlides/notesSlide6.xml" Id="R889a7a36eeef4c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19f66c7a144772" /><Relationship Type="http://schemas.openxmlformats.org/officeDocument/2006/relationships/notesSlide" Target="/ppt/notesSlides/notesSlide7.xml" Id="Rc62f486c8d924a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4ef4721fc540d1" /><Relationship Type="http://schemas.openxmlformats.org/officeDocument/2006/relationships/notesSlide" Target="/ppt/notesSlides/notesSlide8.xml" Id="Rd3b8dcaf25214a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da157fe9e94bab" /><Relationship Type="http://schemas.openxmlformats.org/officeDocument/2006/relationships/notesSlide" Target="/ppt/notesSlides/notesSlide9.xml" Id="Radfda71553634b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41e19189cb490f" /><Relationship Type="http://schemas.openxmlformats.org/officeDocument/2006/relationships/notesSlide" Target="/ppt/notesSlides/notesSlide10.xml" Id="R225ddf6a17fa46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f97337f8b74d0c" /><Relationship Type="http://schemas.openxmlformats.org/officeDocument/2006/relationships/notesSlide" Target="/ppt/notesSlides/notesSlide11.xml" Id="R47bae4eb3ba14a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909102ac4e4bb8" /><Relationship Type="http://schemas.openxmlformats.org/officeDocument/2006/relationships/notesSlide" Target="/ppt/notesSlides/notesSlide12.xml" Id="Rbcb46d5fcee842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d7d3a7c8d344d9" /><Relationship Type="http://schemas.openxmlformats.org/officeDocument/2006/relationships/notesSlide" Target="/ppt/notesSlides/notesSlide13.xml" Id="R711e7d8b1d6447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1753349b674812" /><Relationship Type="http://schemas.openxmlformats.org/officeDocument/2006/relationships/notesSlide" Target="/ppt/notesSlides/notesSlide14.xml" Id="R0e41f2558fb147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fa2fd6e00445dc" /><Relationship Type="http://schemas.openxmlformats.org/officeDocument/2006/relationships/notesSlide" Target="/ppt/notesSlides/notesSlide15.xml" Id="R7b8ed08e25004c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43990551fb4e1c" /><Relationship Type="http://schemas.openxmlformats.org/officeDocument/2006/relationships/notesSlide" Target="/ppt/notesSlides/notesSlide16.xml" Id="R97d835877c6147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bf154bd35142b3" /><Relationship Type="http://schemas.openxmlformats.org/officeDocument/2006/relationships/notesSlide" Target="/ppt/notesSlides/notesSlide17.xml" Id="R877af64cba284a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0b6b9c4475a4c82" /><Relationship Type="http://schemas.openxmlformats.org/officeDocument/2006/relationships/notesSlide" Target="/ppt/notesSlides/notesSlide18.xml" Id="R818e2e2d4fb342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565732d266840d1" /><Relationship Type="http://schemas.openxmlformats.org/officeDocument/2006/relationships/notesSlide" Target="/ppt/notesSlides/notesSlide19.xml" Id="Ra4d574e078d8472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98a95d82e343d9" /><Relationship Type="http://schemas.openxmlformats.org/officeDocument/2006/relationships/notesSlide" Target="/ppt/notesSlides/notesSlide20.xml" Id="R89f73d05a1fe43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9f086771124dcb" /><Relationship Type="http://schemas.openxmlformats.org/officeDocument/2006/relationships/notesSlide" Target="/ppt/notesSlides/notesSlide21.xml" Id="R948329cbd50243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1e8129515134691" /><Relationship Type="http://schemas.openxmlformats.org/officeDocument/2006/relationships/notesSlide" Target="/ppt/notesSlides/notesSlide22.xml" Id="R4092955ec09344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0a3672bc5064e09" /><Relationship Type="http://schemas.openxmlformats.org/officeDocument/2006/relationships/notesSlide" Target="/ppt/notesSlides/notesSlide23.xml" Id="Rdac94677f69e45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af737f5fd284d54" /><Relationship Type="http://schemas.openxmlformats.org/officeDocument/2006/relationships/notesSlide" Target="/ppt/notesSlides/notesSlide24.xml" Id="Ra91835abcdf3462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50fb841cfa4784" /><Relationship Type="http://schemas.openxmlformats.org/officeDocument/2006/relationships/notesSlide" Target="/ppt/notesSlides/notesSlide25.xml" Id="R87425fdcf138446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60d650276e41a4" /><Relationship Type="http://schemas.openxmlformats.org/officeDocument/2006/relationships/notesSlide" Target="/ppt/notesSlides/notesSlide26.xml" Id="Rffcd3ad500b441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d4cf5bef5f84d18" /><Relationship Type="http://schemas.openxmlformats.org/officeDocument/2006/relationships/notesSlide" Target="/ppt/notesSlides/notesSlide27.xml" Id="Rd68bee3125224d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7ecaca9efbb47ba" /><Relationship Type="http://schemas.openxmlformats.org/officeDocument/2006/relationships/notesSlide" Target="/ppt/notesSlides/notesSlide28.xml" Id="R995fba392527464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10d105ef50047c3" /><Relationship Type="http://schemas.openxmlformats.org/officeDocument/2006/relationships/notesSlide" Target="/ppt/notesSlides/notesSlide29.xml" Id="R2e4c5a0025f5420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c2a7485aaf54475" /><Relationship Type="http://schemas.openxmlformats.org/officeDocument/2006/relationships/notesSlide" Target="/ppt/notesSlides/notesSlide30.xml" Id="Rd77f02c493ab41d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4ab3e5e98f44863" /><Relationship Type="http://schemas.openxmlformats.org/officeDocument/2006/relationships/notesSlide" Target="/ppt/notesSlides/notesSlide31.xml" Id="R2e6f17c2c0ad42e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64af98845324596" /><Relationship Type="http://schemas.openxmlformats.org/officeDocument/2006/relationships/notesSlide" Target="/ppt/notesSlides/notesSlide32.xml" Id="R6d065b069021409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62cab58d50e4d15" /><Relationship Type="http://schemas.openxmlformats.org/officeDocument/2006/relationships/notesSlide" Target="/ppt/notesSlides/notesSlide33.xml" Id="R7490cc5888b2446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737572ffc8542ee" /><Relationship Type="http://schemas.openxmlformats.org/officeDocument/2006/relationships/notesSlide" Target="/ppt/notesSlides/notesSlide34.xml" Id="R479a37a5a779449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996eb4785a24219" /><Relationship Type="http://schemas.openxmlformats.org/officeDocument/2006/relationships/notesSlide" Target="/ppt/notesSlides/notesSlide35.xml" Id="R74ccc95a525e42e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5e756d0c9f84918" /><Relationship Type="http://schemas.openxmlformats.org/officeDocument/2006/relationships/notesSlide" Target="/ppt/notesSlides/notesSlide36.xml" Id="R6c23584cb4b1418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8181eab194e41aa" /><Relationship Type="http://schemas.openxmlformats.org/officeDocument/2006/relationships/notesSlide" Target="/ppt/notesSlides/notesSlide37.xml" Id="Rf583c2dc2b754a0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e8326f0da0d4feb" /><Relationship Type="http://schemas.openxmlformats.org/officeDocument/2006/relationships/notesSlide" Target="/ppt/notesSlides/notesSlide38.xml" Id="R16d77884bb05437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372bcb8682145c9" /><Relationship Type="http://schemas.openxmlformats.org/officeDocument/2006/relationships/notesSlide" Target="/ppt/notesSlides/notesSlide39.xml" Id="Rb0bbb320204a41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0371a8ae2144ee7" /><Relationship Type="http://schemas.openxmlformats.org/officeDocument/2006/relationships/notesSlide" Target="/ppt/notesSlides/notesSlide40.xml" Id="Rf14cf9ef350b41c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20bcb69e6aa477b" /><Relationship Type="http://schemas.openxmlformats.org/officeDocument/2006/relationships/notesSlide" Target="/ppt/notesSlides/notesSlide41.xml" Id="R3ae84c66c7b9435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444d87add44494f" /><Relationship Type="http://schemas.openxmlformats.org/officeDocument/2006/relationships/notesSlide" Target="/ppt/notesSlides/notesSlide42.xml" Id="R5d364afa001f4b1b" /></Relationships>
</file>

<file path=ppt/slides/slide1.xml><?xml version="1.0" encoding="utf-8"?>
<p:sld xmlns:p="http://schemas.openxmlformats.org/presentationml/2006/main">
  <p:cSld>
    <p:bg>
      <p:bgPr>
        <a:solidFill xmlns:a="http://schemas.openxmlformats.org/drawingml/2006/main">
          <a:srgbClr val="132F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AAB2C5-6E81-462E-963B-FD16AFFF540B}"/>
              </a:ext>
            </a:extLst>
          </p:cNvPr>
          <p:cNvSpPr>
            <a:spLocks xmlns:a="http://schemas.openxmlformats.org/drawingml/2006/main" noGrp="1"/>
          </p:cNvSpPr>
          <p:nvPr/>
        </p:nvSpPr>
        <p:spPr>
          <a:xfrm xmlns:a="http://schemas.openxmlformats.org/drawingml/2006/main">
            <a:off x="609600" y="1619250"/>
            <a:ext cx="10953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Calibri"/>
                <a:ea typeface="Calibri"/>
                <a:cs typeface="Calibri"/>
              </a:defRPr>
            </a:pPr>
            <a:r>
              <a:rPr sz="4200" b="1">
                <a:solidFill>
                  <a:srgbClr val="FFFFFF"/>
                </a:solidFill>
                <a:latin typeface="Calibri"/>
                <a:ea typeface="Calibri"/>
                <a:cs typeface="Calibri"/>
              </a:rPr>
              <a:t>Day 22</a:t>
            </a:r>
          </a:p>
          <a:p xmlns:a="http://schemas.openxmlformats.org/drawingml/2006/main">
            <a:pPr>
              <a:defRPr sz="4200" b="1">
                <a:solidFill>
                  <a:srgbClr val="FFFFFF"/>
                </a:solidFill>
                <a:latin typeface="Calibri"/>
                <a:ea typeface="Calibri"/>
                <a:cs typeface="Calibri"/>
              </a:defRPr>
            </a:pPr>
            <a:r>
              <a:rPr sz="4200" b="1">
                <a:solidFill>
                  <a:srgbClr val="FFFFFF"/>
                </a:solidFill>
                <a:latin typeface="Calibri"/>
                <a:ea typeface="Calibri"/>
                <a:cs typeface="Calibri"/>
              </a:rPr>
              <a:t>Performance and Security</a:t>
            </a:r>
          </a:p>
        </p:txBody>
      </p:sp>
      <p:sp>
        <p:nvSpPr>
          <p:cNvPr id="2" name="">
            <a:extLst xmlns:a="http://schemas.openxmlformats.org/drawingml/2006/main">
              <a:ext uri="{FF2B5EF4-FFF2-40B4-BE49-F238E27FC236}">
                <a16:creationId xmlns:a16="http://schemas.microsoft.com/office/drawing/2014/main" id="{3D9CB3FC-405C-49F6-9F21-06412EA6B1A0}"/>
              </a:ext>
            </a:extLst>
          </p:cNvPr>
          <p:cNvSpPr>
            <a:spLocks xmlns:a="http://schemas.openxmlformats.org/drawingml/2006/main" noGrp="1"/>
          </p:cNvSpPr>
          <p:nvPr/>
        </p:nvSpPr>
        <p:spPr>
          <a:xfrm xmlns:a="http://schemas.openxmlformats.org/drawingml/2006/main">
            <a:off x="647700" y="4095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9EEF4"/>
                </a:solidFill>
                <a:latin typeface="Calibri"/>
                <a:ea typeface="Calibri"/>
                <a:cs typeface="Calibri"/>
              </a:defRPr>
            </a:pPr>
            <a:r>
              <a:rPr sz="2250" b="0">
                <a:solidFill>
                  <a:srgbClr val="D9EEF4"/>
                </a:solidFill>
                <a:latin typeface="Calibri"/>
                <a:ea typeface="Calibri"/>
                <a:cs typeface="Calibri"/>
              </a:rPr>
              <a:t>Azure Databricks training</a:t>
            </a:r>
          </a:p>
          <a:p xmlns:a="http://schemas.openxmlformats.org/drawingml/2006/main">
            <a:pPr>
              <a:defRPr sz="2250" b="0">
                <a:solidFill>
                  <a:srgbClr val="D9EEF4"/>
                </a:solidFill>
                <a:latin typeface="Calibri"/>
                <a:ea typeface="Calibri"/>
                <a:cs typeface="Calibri"/>
              </a:defRPr>
            </a:pPr>
            <a:r>
              <a:rPr sz="2250" b="0">
                <a:solidFill>
                  <a:srgbClr val="D9EEF4"/>
                </a:solidFill>
                <a:latin typeface="Calibri"/>
                <a:ea typeface="Calibri"/>
                <a:cs typeface="Calibri"/>
              </a:rPr>
              <a:t>Sales pipeline laboratory</a:t>
            </a:r>
          </a:p>
        </p:txBody>
      </p:sp>
      <p:sp>
        <p:nvSpPr>
          <p:cNvPr id="3" name="">
            <a:extLst xmlns:a="http://schemas.openxmlformats.org/drawingml/2006/main">
              <a:ext uri="{FF2B5EF4-FFF2-40B4-BE49-F238E27FC236}">
                <a16:creationId xmlns:a16="http://schemas.microsoft.com/office/drawing/2014/main" id="{6A2B6EE0-F9DA-4517-A35E-C57B70E459E8}"/>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9EEF4"/>
                </a:solidFill>
                <a:latin typeface="Calibri"/>
                <a:ea typeface="Calibri"/>
                <a:cs typeface="Calibri"/>
              </a:defRPr>
            </a:pPr>
            <a:r>
              <a:rPr sz="1125" b="0">
                <a:solidFill>
                  <a:srgbClr val="D9EEF4"/>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A82511DE-4A01-441C-A7DB-44DA7BA1B6BC}"/>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EEF4"/>
                </a:solidFill>
                <a:latin typeface="Calibri"/>
                <a:ea typeface="Calibri"/>
                <a:cs typeface="Calibri"/>
              </a:defRPr>
            </a:pPr>
            <a:r>
              <a:rPr sz="1200" b="0">
                <a:solidFill>
                  <a:srgbClr val="D9EEF4"/>
                </a:solidFill>
                <a:latin typeface="Calibri"/>
                <a:ea typeface="Calibri"/>
                <a:cs typeface="Calibri"/>
              </a:rPr>
              <a:t>1</a:t>
            </a:r>
          </a:p>
        </p:txBody>
      </p:sp>
    </p:spTree>
    <p:extLst>
      <p:ext uri="{BB962C8B-B14F-4D97-AF65-F5344CB8AC3E}">
        <p14:creationId xmlns:p14="http://schemas.microsoft.com/office/powerpoint/2010/main" val="10199834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E5C366-7C20-4DF0-A3ED-4426113674BC}"/>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Day 22 learning outcomes</a:t>
            </a:r>
          </a:p>
        </p:txBody>
      </p:sp>
      <p:sp>
        <p:nvSpPr>
          <p:cNvPr id="2" name="">
            <a:extLst xmlns:a="http://schemas.openxmlformats.org/drawingml/2006/main">
              <a:ext uri="{FF2B5EF4-FFF2-40B4-BE49-F238E27FC236}">
                <a16:creationId xmlns:a16="http://schemas.microsoft.com/office/drawing/2014/main" id="{164BE872-BA1C-4068-9EAA-ACDAA2A4D4C2}"/>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Measure execution while preserving correct results.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Explain compute cost and budget behavior.</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Prove restricted access and trace privacy requests.</a:t>
            </a:r>
          </a:p>
        </p:txBody>
      </p:sp>
      <p:sp>
        <p:nvSpPr>
          <p:cNvPr id="3" name="">
            <a:extLst xmlns:a="http://schemas.openxmlformats.org/drawingml/2006/main">
              <a:ext uri="{FF2B5EF4-FFF2-40B4-BE49-F238E27FC236}">
                <a16:creationId xmlns:a16="http://schemas.microsoft.com/office/drawing/2014/main" id="{973DCB66-6BB9-4B0B-8906-320D1F68159C}"/>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C3FE11F0-8FDC-4541-B947-87F8B79B026B}"/>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a:t>
            </a:r>
          </a:p>
        </p:txBody>
      </p:sp>
    </p:spTree>
    <p:extLst>
      <p:ext uri="{BB962C8B-B14F-4D97-AF65-F5344CB8AC3E}">
        <p14:creationId xmlns:p14="http://schemas.microsoft.com/office/powerpoint/2010/main" val="19489868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28B7CD-86FC-404D-A166-A596DAE11AE2}"/>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Day 21 and Day 22</a:t>
            </a:r>
          </a:p>
        </p:txBody>
      </p:sp>
      <p:graphicFrame>
        <p:nvGraphicFramePr>
          <p:cNvPr id="6" name=""/>
          <p:cNvGraphicFramePr/>
          <p:nvPr/>
        </p:nvGraphicFramePr>
        <p:xfrm>
          <a:off xmlns:a="http://schemas.openxmlformats.org/drawingml/2006/main" x="647700" y="1743075"/>
          <a:ext xmlns:a="http://schemas.openxmlformats.org/drawingml/2006/main" cx="10858500" cy="2552700"/>
        </p:xfrm>
        <a:graphic xmlns:a="http://schemas.openxmlformats.org/drawingml/2006/main">
          <a:graphicData uri="http://schemas.openxmlformats.org/drawingml/2006/table">
            <a:tbl>
              <a:tblPr/>
              <a:tblGrid>
                <a:gridCol w="5429250"/>
                <a:gridCol w="5429250"/>
              </a:tblGrid>
              <a:tr h="638175">
                <a:tc>
                  <a:txBody>
                    <a:bodyPr/>
                    <a:lstStyle/>
                    <a:p>
                      <a:r>
                        <a:rPr sz="1875" b="1">
                          <a:solidFill>
                            <a:srgbClr val="FFFFFF"/>
                          </a:solidFill>
                          <a:latin typeface="Calibri"/>
                          <a:ea typeface="Calibri"/>
                          <a:cs typeface="Calibri"/>
                        </a:rPr>
                        <a:t>Day 21</a:t>
                      </a:r>
                    </a:p>
                  </a:txBody>
                  <a:tcPr marL="91440" marR="91440" marT="45720" marB="45720">
                    <a:solidFill>
                      <a:srgbClr val="132F43"/>
                    </a:solidFill>
                  </a:tcPr>
                </a:tc>
                <a:tc>
                  <a:txBody>
                    <a:bodyPr/>
                    <a:lstStyle/>
                    <a:p>
                      <a:r>
                        <a:rPr sz="1875" b="1">
                          <a:solidFill>
                            <a:srgbClr val="FFFFFF"/>
                          </a:solidFill>
                          <a:latin typeface="Calibri"/>
                          <a:ea typeface="Calibri"/>
                          <a:cs typeface="Calibri"/>
                        </a:rPr>
                        <a:t>Day 22</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Connect the workflow</a:t>
                      </a:r>
                    </a:p>
                  </a:txBody>
                  <a:tcPr marL="91440" marR="91440" marT="45720" marB="45720">
                    <a:solidFill>
                      <a:srgbClr val="F1F6F8"/>
                    </a:solidFill>
                  </a:tcPr>
                </a:tc>
                <a:tc>
                  <a:txBody>
                    <a:bodyPr/>
                    <a:lstStyle/>
                    <a:p>
                      <a:r>
                        <a:rPr sz="1875" b="0">
                          <a:solidFill>
                            <a:srgbClr val="132F43"/>
                          </a:solidFill>
                          <a:latin typeface="Calibri"/>
                          <a:ea typeface="Calibri"/>
                          <a:cs typeface="Calibri"/>
                        </a:rPr>
                        <a:t>Measure and improve it</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Copy and process sales</a:t>
                      </a:r>
                    </a:p>
                  </a:txBody>
                  <a:tcPr marL="91440" marR="91440" marT="45720" marB="45720">
                    <a:solidFill>
                      <a:srgbClr val="FFFFFF"/>
                    </a:solidFill>
                  </a:tcPr>
                </a:tc>
                <a:tc>
                  <a:txBody>
                    <a:bodyPr/>
                    <a:lstStyle/>
                    <a:p>
                      <a:r>
                        <a:rPr sz="1875" b="0">
                          <a:solidFill>
                            <a:srgbClr val="132F43"/>
                          </a:solidFill>
                          <a:latin typeface="Calibri"/>
                          <a:ea typeface="Calibri"/>
                          <a:cs typeface="Calibri"/>
                        </a:rPr>
                        <a:t>Validate results and reruns</a:t>
                      </a:r>
                    </a:p>
                  </a:txBody>
                  <a:tcPr marL="91440" marR="91440" marT="45720" marB="45720">
                    <a:solidFill>
                      <a:srgbClr val="FFFFFF"/>
                    </a:solidFill>
                  </a:tcPr>
                </a:tc>
              </a:tr>
              <a:tr h="638175">
                <a:tc>
                  <a:txBody>
                    <a:bodyPr/>
                    <a:lstStyle/>
                    <a:p>
                      <a:r>
                        <a:rPr sz="1875" b="0">
                          <a:solidFill>
                            <a:srgbClr val="132F43"/>
                          </a:solidFill>
                          <a:latin typeface="Calibri"/>
                          <a:ea typeface="Calibri"/>
                          <a:cs typeface="Calibri"/>
                        </a:rPr>
                        <a:t>Establish access</a:t>
                      </a:r>
                    </a:p>
                  </a:txBody>
                  <a:tcPr marL="91440" marR="91440" marT="45720" marB="45720">
                    <a:solidFill>
                      <a:srgbClr val="F1F6F8"/>
                    </a:solidFill>
                  </a:tcPr>
                </a:tc>
                <a:tc>
                  <a:txBody>
                    <a:bodyPr/>
                    <a:lstStyle/>
                    <a:p>
                      <a:r>
                        <a:rPr sz="1875" b="0">
                          <a:solidFill>
                            <a:srgbClr val="132F43"/>
                          </a:solidFill>
                          <a:latin typeface="Calibri"/>
                          <a:ea typeface="Calibri"/>
                          <a:cs typeface="Calibri"/>
                        </a:rPr>
                        <a:t>Test the access boundary</a:t>
                      </a:r>
                    </a:p>
                  </a:txBody>
                  <a:tcPr marL="91440" marR="91440" marT="45720" marB="45720">
                    <a:solidFill>
                      <a:srgbClr val="F1F6F8"/>
                    </a:solidFill>
                  </a:tcPr>
                </a:tc>
              </a:tr>
            </a:tbl>
          </a:graphicData>
        </a:graphic>
      </p:graphicFrame>
      <p:sp>
        <p:nvSpPr>
          <p:cNvPr id="3" name="">
            <a:extLst xmlns:a="http://schemas.openxmlformats.org/drawingml/2006/main">
              <a:ext uri="{FF2B5EF4-FFF2-40B4-BE49-F238E27FC236}">
                <a16:creationId xmlns:a16="http://schemas.microsoft.com/office/drawing/2014/main" id="{69038B1B-2FC4-49D6-AAA3-5CE71CBE79EC}"/>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674E8B9D-59F8-42F8-9A26-55983D293B53}"/>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a:t>
            </a:r>
          </a:p>
        </p:txBody>
      </p:sp>
    </p:spTree>
    <p:extLst>
      <p:ext uri="{BB962C8B-B14F-4D97-AF65-F5344CB8AC3E}">
        <p14:creationId xmlns:p14="http://schemas.microsoft.com/office/powerpoint/2010/main" val="15835850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0437C4-5E52-40FE-99D8-C7DBFB32082E}"/>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The sales fixture</a:t>
            </a:r>
          </a:p>
        </p:txBody>
      </p:sp>
      <p:graphicFrame>
        <p:nvGraphicFramePr>
          <p:cNvPr id="6" name=""/>
          <p:cNvGraphicFramePr/>
          <p:nvPr/>
        </p:nvGraphicFramePr>
        <p:xfrm>
          <a:off xmlns:a="http://schemas.openxmlformats.org/drawingml/2006/main" x="647700" y="1743075"/>
          <a:ext xmlns:a="http://schemas.openxmlformats.org/drawingml/2006/main" cx="10858500" cy="1276350"/>
        </p:xfrm>
        <a:graphic xmlns:a="http://schemas.openxmlformats.org/drawingml/2006/main">
          <a:graphicData uri="http://schemas.openxmlformats.org/drawingml/2006/table">
            <a:tbl>
              <a:tblPr/>
              <a:tblGrid>
                <a:gridCol w="2714625"/>
                <a:gridCol w="2714625"/>
                <a:gridCol w="2714625"/>
                <a:gridCol w="2714625"/>
              </a:tblGrid>
              <a:tr h="638175">
                <a:tc>
                  <a:txBody>
                    <a:bodyPr/>
                    <a:lstStyle/>
                    <a:p>
                      <a:r>
                        <a:rPr sz="1875" b="1">
                          <a:solidFill>
                            <a:srgbClr val="FFFFFF"/>
                          </a:solidFill>
                          <a:latin typeface="Calibri"/>
                          <a:ea typeface="Calibri"/>
                          <a:cs typeface="Calibri"/>
                        </a:rPr>
                        <a:t>Orders</a:t>
                      </a:r>
                    </a:p>
                  </a:txBody>
                  <a:tcPr marL="91440" marR="91440" marT="45720" marB="45720">
                    <a:solidFill>
                      <a:srgbClr val="132F43"/>
                    </a:solidFill>
                  </a:tcPr>
                </a:tc>
                <a:tc>
                  <a:txBody>
                    <a:bodyPr/>
                    <a:lstStyle/>
                    <a:p>
                      <a:r>
                        <a:rPr sz="1875" b="1">
                          <a:solidFill>
                            <a:srgbClr val="FFFFFF"/>
                          </a:solidFill>
                          <a:latin typeface="Calibri"/>
                          <a:ea typeface="Calibri"/>
                          <a:cs typeface="Calibri"/>
                        </a:rPr>
                        <a:t>Accepted</a:t>
                      </a:r>
                    </a:p>
                  </a:txBody>
                  <a:tcPr marL="91440" marR="91440" marT="45720" marB="45720">
                    <a:solidFill>
                      <a:srgbClr val="132F43"/>
                    </a:solidFill>
                  </a:tcPr>
                </a:tc>
                <a:tc>
                  <a:txBody>
                    <a:bodyPr/>
                    <a:lstStyle/>
                    <a:p>
                      <a:r>
                        <a:rPr sz="1875" b="1">
                          <a:solidFill>
                            <a:srgbClr val="FFFFFF"/>
                          </a:solidFill>
                          <a:latin typeface="Calibri"/>
                          <a:ea typeface="Calibri"/>
                          <a:cs typeface="Calibri"/>
                        </a:rPr>
                        <a:t>Rejected</a:t>
                      </a:r>
                    </a:p>
                  </a:txBody>
                  <a:tcPr marL="91440" marR="91440" marT="45720" marB="45720">
                    <a:solidFill>
                      <a:srgbClr val="132F43"/>
                    </a:solidFill>
                  </a:tcPr>
                </a:tc>
                <a:tc>
                  <a:txBody>
                    <a:bodyPr/>
                    <a:lstStyle/>
                    <a:p>
                      <a:r>
                        <a:rPr sz="1875" b="1">
                          <a:solidFill>
                            <a:srgbClr val="FFFFFF"/>
                          </a:solidFill>
                          <a:latin typeface="Calibri"/>
                          <a:ea typeface="Calibri"/>
                          <a:cs typeface="Calibri"/>
                        </a:rPr>
                        <a:t>Revenue</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4</a:t>
                      </a:r>
                    </a:p>
                  </a:txBody>
                  <a:tcPr marL="91440" marR="91440" marT="45720" marB="45720">
                    <a:solidFill>
                      <a:srgbClr val="F1F6F8"/>
                    </a:solidFill>
                  </a:tcPr>
                </a:tc>
                <a:tc>
                  <a:txBody>
                    <a:bodyPr/>
                    <a:lstStyle/>
                    <a:p>
                      <a:r>
                        <a:rPr sz="1875" b="0">
                          <a:solidFill>
                            <a:srgbClr val="132F43"/>
                          </a:solidFill>
                          <a:latin typeface="Calibri"/>
                          <a:ea typeface="Calibri"/>
                          <a:cs typeface="Calibri"/>
                        </a:rPr>
                        <a:t>3</a:t>
                      </a:r>
                    </a:p>
                  </a:txBody>
                  <a:tcPr marL="91440" marR="91440" marT="45720" marB="45720">
                    <a:solidFill>
                      <a:srgbClr val="F1F6F8"/>
                    </a:solidFill>
                  </a:tcPr>
                </a:tc>
                <a:tc>
                  <a:txBody>
                    <a:bodyPr/>
                    <a:lstStyle/>
                    <a:p>
                      <a:r>
                        <a:rPr sz="1875" b="0">
                          <a:solidFill>
                            <a:srgbClr val="132F43"/>
                          </a:solidFill>
                          <a:latin typeface="Calibri"/>
                          <a:ea typeface="Calibri"/>
                          <a:cs typeface="Calibri"/>
                        </a:rPr>
                        <a:t>1</a:t>
                      </a:r>
                    </a:p>
                  </a:txBody>
                  <a:tcPr marL="91440" marR="91440" marT="45720" marB="45720">
                    <a:solidFill>
                      <a:srgbClr val="F1F6F8"/>
                    </a:solidFill>
                  </a:tcPr>
                </a:tc>
                <a:tc>
                  <a:txBody>
                    <a:bodyPr/>
                    <a:lstStyle/>
                    <a:p>
                      <a:r>
                        <a:rPr sz="1875" b="0">
                          <a:solidFill>
                            <a:srgbClr val="132F43"/>
                          </a:solidFill>
                          <a:latin typeface="Calibri"/>
                          <a:ea typeface="Calibri"/>
                          <a:cs typeface="Calibri"/>
                        </a:rPr>
                        <a:t>600</a:t>
                      </a:r>
                    </a:p>
                  </a:txBody>
                  <a:tcPr marL="91440" marR="91440" marT="45720" marB="45720">
                    <a:solidFill>
                      <a:srgbClr val="F1F6F8"/>
                    </a:solidFill>
                  </a:tcPr>
                </a:tc>
              </a:tr>
            </a:tbl>
          </a:graphicData>
        </a:graphic>
      </p:graphicFrame>
      <p:sp>
        <p:nvSpPr>
          <p:cNvPr id="3" name="">
            <a:extLst xmlns:a="http://schemas.openxmlformats.org/drawingml/2006/main">
              <a:ext uri="{FF2B5EF4-FFF2-40B4-BE49-F238E27FC236}">
                <a16:creationId xmlns:a16="http://schemas.microsoft.com/office/drawing/2014/main" id="{4AE71422-2397-41FF-8BA1-3C7A37994D35}"/>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3305E4B-A7C2-4585-9A75-5B2AFA62DD5D}"/>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4</a:t>
            </a:r>
          </a:p>
        </p:txBody>
      </p:sp>
    </p:spTree>
    <p:extLst>
      <p:ext uri="{BB962C8B-B14F-4D97-AF65-F5344CB8AC3E}">
        <p14:creationId xmlns:p14="http://schemas.microsoft.com/office/powerpoint/2010/main" val="16111940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C0DA1D-EAF4-4386-9309-A516AC1EEFB4}"/>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Driver and workers</a:t>
            </a:r>
          </a:p>
        </p:txBody>
      </p:sp>
      <p:sp>
        <p:nvSpPr>
          <p:cNvPr id="2" name="">
            <a:extLst xmlns:a="http://schemas.openxmlformats.org/drawingml/2006/main">
              <a:ext uri="{FF2B5EF4-FFF2-40B4-BE49-F238E27FC236}">
                <a16:creationId xmlns:a16="http://schemas.microsoft.com/office/drawing/2014/main" id="{871BE65F-C754-4506-A18F-69935FFEC369}"/>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The driver coordinates execution.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Workers run distributed tasks.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One four-core driver plus one four-core worker uses eight vCPUs.</a:t>
            </a:r>
          </a:p>
        </p:txBody>
      </p:sp>
      <p:sp>
        <p:nvSpPr>
          <p:cNvPr id="3" name="">
            <a:extLst xmlns:a="http://schemas.openxmlformats.org/drawingml/2006/main">
              <a:ext uri="{FF2B5EF4-FFF2-40B4-BE49-F238E27FC236}">
                <a16:creationId xmlns:a16="http://schemas.microsoft.com/office/drawing/2014/main" id="{DEEDAD59-D984-4386-9A0B-874F989A5EF7}"/>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83489A06-5A2D-4517-A573-4A3222334CE1}"/>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5</a:t>
            </a:r>
          </a:p>
        </p:txBody>
      </p:sp>
    </p:spTree>
    <p:extLst>
      <p:ext uri="{BB962C8B-B14F-4D97-AF65-F5344CB8AC3E}">
        <p14:creationId xmlns:p14="http://schemas.microsoft.com/office/powerpoint/2010/main" val="16653398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2B3A88-4FC0-4441-AC08-F4DFF89501A6}"/>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Compute configuration</a:t>
            </a:r>
          </a:p>
        </p:txBody>
      </p:sp>
      <p:sp>
        <p:nvSpPr>
          <p:cNvPr id="2" name="">
            <a:extLst xmlns:a="http://schemas.openxmlformats.org/drawingml/2006/main">
              <a:ext uri="{FF2B5EF4-FFF2-40B4-BE49-F238E27FC236}">
                <a16:creationId xmlns:a16="http://schemas.microsoft.com/office/drawing/2014/main" id="{2A9A6CDC-F4C6-4E2E-A94E-223CD1CE0662}"/>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runtime, access mode and VM sizes.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worker bounds and termination settings.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Only the trainer edits shared compute during class.</a:t>
            </a:r>
          </a:p>
        </p:txBody>
      </p:sp>
      <p:sp>
        <p:nvSpPr>
          <p:cNvPr id="3" name="">
            <a:extLst xmlns:a="http://schemas.openxmlformats.org/drawingml/2006/main">
              <a:ext uri="{FF2B5EF4-FFF2-40B4-BE49-F238E27FC236}">
                <a16:creationId xmlns:a16="http://schemas.microsoft.com/office/drawing/2014/main" id="{8CE0A0B9-05B1-4EBE-9A76-44F300F3E9EB}"/>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EB58D22-208B-43DE-8D29-A27BEDBE374C}"/>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6</a:t>
            </a:r>
          </a:p>
        </p:txBody>
      </p:sp>
    </p:spTree>
    <p:extLst>
      <p:ext uri="{BB962C8B-B14F-4D97-AF65-F5344CB8AC3E}">
        <p14:creationId xmlns:p14="http://schemas.microsoft.com/office/powerpoint/2010/main" val="4914048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450E92-80CF-415C-AF23-1BCC3C21F802}"/>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Compute choices</a:t>
            </a:r>
          </a:p>
        </p:txBody>
      </p:sp>
      <p:graphicFrame>
        <p:nvGraphicFramePr>
          <p:cNvPr id="6" name=""/>
          <p:cNvGraphicFramePr/>
          <p:nvPr/>
        </p:nvGraphicFramePr>
        <p:xfrm>
          <a:off xmlns:a="http://schemas.openxmlformats.org/drawingml/2006/main" x="647700" y="1743075"/>
          <a:ext xmlns:a="http://schemas.openxmlformats.org/drawingml/2006/main" cx="10858500" cy="3190875"/>
        </p:xfrm>
        <a:graphic xmlns:a="http://schemas.openxmlformats.org/drawingml/2006/main">
          <a:graphicData uri="http://schemas.openxmlformats.org/drawingml/2006/table">
            <a:tbl>
              <a:tblPr/>
              <a:tblGrid>
                <a:gridCol w="5429250"/>
                <a:gridCol w="5429250"/>
              </a:tblGrid>
              <a:tr h="638175">
                <a:tc>
                  <a:txBody>
                    <a:bodyPr/>
                    <a:lstStyle/>
                    <a:p>
                      <a:r>
                        <a:rPr sz="1875" b="1">
                          <a:solidFill>
                            <a:srgbClr val="FFFFFF"/>
                          </a:solidFill>
                          <a:latin typeface="Calibri"/>
                          <a:ea typeface="Calibri"/>
                          <a:cs typeface="Calibri"/>
                        </a:rPr>
                        <a:t>Workload</a:t>
                      </a:r>
                    </a:p>
                  </a:txBody>
                  <a:tcPr marL="91440" marR="91440" marT="45720" marB="45720">
                    <a:solidFill>
                      <a:srgbClr val="132F43"/>
                    </a:solidFill>
                  </a:tcPr>
                </a:tc>
                <a:tc>
                  <a:txBody>
                    <a:bodyPr/>
                    <a:lstStyle/>
                    <a:p>
                      <a:r>
                        <a:rPr sz="1875" b="1">
                          <a:solidFill>
                            <a:srgbClr val="FFFFFF"/>
                          </a:solidFill>
                          <a:latin typeface="Calibri"/>
                          <a:ea typeface="Calibri"/>
                          <a:cs typeface="Calibri"/>
                        </a:rPr>
                        <a:t>Compute consideration</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Class notebooks</a:t>
                      </a:r>
                    </a:p>
                  </a:txBody>
                  <a:tcPr marL="91440" marR="91440" marT="45720" marB="45720">
                    <a:solidFill>
                      <a:srgbClr val="F1F6F8"/>
                    </a:solidFill>
                  </a:tcPr>
                </a:tc>
                <a:tc>
                  <a:txBody>
                    <a:bodyPr/>
                    <a:lstStyle/>
                    <a:p>
                      <a:r>
                        <a:rPr sz="1875" b="0">
                          <a:solidFill>
                            <a:srgbClr val="132F43"/>
                          </a:solidFill>
                          <a:latin typeface="Calibri"/>
                          <a:ea typeface="Calibri"/>
                          <a:cs typeface="Calibri"/>
                        </a:rPr>
                        <a:t>Shared interactive compute</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Scheduled processing</a:t>
                      </a:r>
                    </a:p>
                  </a:txBody>
                  <a:tcPr marL="91440" marR="91440" marT="45720" marB="45720">
                    <a:solidFill>
                      <a:srgbClr val="FFFFFF"/>
                    </a:solidFill>
                  </a:tcPr>
                </a:tc>
                <a:tc>
                  <a:txBody>
                    <a:bodyPr/>
                    <a:lstStyle/>
                    <a:p>
                      <a:r>
                        <a:rPr sz="1875" b="0">
                          <a:solidFill>
                            <a:srgbClr val="132F43"/>
                          </a:solidFill>
                          <a:latin typeface="Calibri"/>
                          <a:ea typeface="Calibri"/>
                          <a:cs typeface="Calibri"/>
                        </a:rPr>
                        <a:t>Jobs compute or serverless</a:t>
                      </a:r>
                    </a:p>
                  </a:txBody>
                  <a:tcPr marL="91440" marR="91440" marT="45720" marB="45720">
                    <a:solidFill>
                      <a:srgbClr val="FFFFFF"/>
                    </a:solidFill>
                  </a:tcPr>
                </a:tc>
              </a:tr>
              <a:tr h="638175">
                <a:tc>
                  <a:txBody>
                    <a:bodyPr/>
                    <a:lstStyle/>
                    <a:p>
                      <a:r>
                        <a:rPr sz="1875" b="0">
                          <a:solidFill>
                            <a:srgbClr val="132F43"/>
                          </a:solidFill>
                          <a:latin typeface="Calibri"/>
                          <a:ea typeface="Calibri"/>
                          <a:cs typeface="Calibri"/>
                        </a:rPr>
                        <a:t>SQL reporting</a:t>
                      </a:r>
                    </a:p>
                  </a:txBody>
                  <a:tcPr marL="91440" marR="91440" marT="45720" marB="45720">
                    <a:solidFill>
                      <a:srgbClr val="F1F6F8"/>
                    </a:solidFill>
                  </a:tcPr>
                </a:tc>
                <a:tc>
                  <a:txBody>
                    <a:bodyPr/>
                    <a:lstStyle/>
                    <a:p>
                      <a:r>
                        <a:rPr sz="1875" b="0">
                          <a:solidFill>
                            <a:srgbClr val="132F43"/>
                          </a:solidFill>
                          <a:latin typeface="Calibri"/>
                          <a:ea typeface="Calibri"/>
                          <a:cs typeface="Calibri"/>
                        </a:rPr>
                        <a:t>SQL warehouse</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Variable demand</a:t>
                      </a:r>
                    </a:p>
                  </a:txBody>
                  <a:tcPr marL="91440" marR="91440" marT="45720" marB="45720">
                    <a:solidFill>
                      <a:srgbClr val="FFFFFF"/>
                    </a:solidFill>
                  </a:tcPr>
                </a:tc>
                <a:tc>
                  <a:txBody>
                    <a:bodyPr/>
                    <a:lstStyle/>
                    <a:p>
                      <a:r>
                        <a:rPr sz="1875" b="0">
                          <a:solidFill>
                            <a:srgbClr val="132F43"/>
                          </a:solidFill>
                          <a:latin typeface="Calibri"/>
                          <a:ea typeface="Calibri"/>
                          <a:cs typeface="Calibri"/>
                        </a:rPr>
                        <a:t>Evaluate scaling and startup</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DDA1A34-2A2A-45BD-9A7A-CB1FE5AAB8C7}"/>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A64F34D6-C574-4826-8A6B-F28CCB0B4D13}"/>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7</a:t>
            </a:r>
          </a:p>
        </p:txBody>
      </p:sp>
    </p:spTree>
    <p:extLst>
      <p:ext uri="{BB962C8B-B14F-4D97-AF65-F5344CB8AC3E}">
        <p14:creationId xmlns:p14="http://schemas.microsoft.com/office/powerpoint/2010/main" val="7877431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05DCB7-534E-41F4-86D0-F1B4EE4CA5AF}"/>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 fair comparison</a:t>
            </a:r>
          </a:p>
        </p:txBody>
      </p:sp>
      <p:sp>
        <p:nvSpPr>
          <p:cNvPr id="2" name="">
            <a:extLst xmlns:a="http://schemas.openxmlformats.org/drawingml/2006/main">
              <a:ext uri="{FF2B5EF4-FFF2-40B4-BE49-F238E27FC236}">
                <a16:creationId xmlns:a16="http://schemas.microsoft.com/office/drawing/2014/main" id="{E61D1806-D2E6-49F2-BFB7-2348F43B95E6}"/>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Same input and same business result.</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Warm up, alternate variants and collect three trials.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concurrent work and compare median times.</a:t>
            </a:r>
          </a:p>
        </p:txBody>
      </p:sp>
      <p:sp>
        <p:nvSpPr>
          <p:cNvPr id="3" name="">
            <a:extLst xmlns:a="http://schemas.openxmlformats.org/drawingml/2006/main">
              <a:ext uri="{FF2B5EF4-FFF2-40B4-BE49-F238E27FC236}">
                <a16:creationId xmlns:a16="http://schemas.microsoft.com/office/drawing/2014/main" id="{8ED5513B-67B5-4161-BED7-5EAB98C60B38}"/>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686F09B0-135B-458A-B914-F48E9B1E4197}"/>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8</a:t>
            </a:r>
          </a:p>
        </p:txBody>
      </p:sp>
    </p:spTree>
    <p:extLst>
      <p:ext uri="{BB962C8B-B14F-4D97-AF65-F5344CB8AC3E}">
        <p14:creationId xmlns:p14="http://schemas.microsoft.com/office/powerpoint/2010/main" val="16481867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A47F7E-176D-419D-A925-0C71BCCD37B6}"/>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Lazy execution</a:t>
            </a:r>
          </a:p>
        </p:txBody>
      </p:sp>
      <p:sp>
        <p:nvSpPr>
          <p:cNvPr id="2" name="">
            <a:extLst xmlns:a="http://schemas.openxmlformats.org/drawingml/2006/main">
              <a:ext uri="{FF2B5EF4-FFF2-40B4-BE49-F238E27FC236}">
                <a16:creationId xmlns:a16="http://schemas.microsoft.com/office/drawing/2014/main" id="{C31990DF-4B4F-4FD0-9B8C-E9852905064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transformation describes work.</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An action executes work.</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Time the action that produces the required result.</a:t>
            </a:r>
          </a:p>
        </p:txBody>
      </p:sp>
      <p:sp>
        <p:nvSpPr>
          <p:cNvPr id="3" name="">
            <a:extLst xmlns:a="http://schemas.openxmlformats.org/drawingml/2006/main">
              <a:ext uri="{FF2B5EF4-FFF2-40B4-BE49-F238E27FC236}">
                <a16:creationId xmlns:a16="http://schemas.microsoft.com/office/drawing/2014/main" id="{8F2A5039-FC67-459C-A348-D95905D4A2CD}"/>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EC29D68-DEE9-410B-9357-535086A9DE82}"/>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9</a:t>
            </a:r>
          </a:p>
        </p:txBody>
      </p:sp>
    </p:spTree>
    <p:extLst>
      <p:ext uri="{BB962C8B-B14F-4D97-AF65-F5344CB8AC3E}">
        <p14:creationId xmlns:p14="http://schemas.microsoft.com/office/powerpoint/2010/main" val="400090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C679C4-D05E-455F-A418-3683ACF36A2F}"/>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Columns and filters</a:t>
            </a:r>
          </a:p>
        </p:txBody>
      </p:sp>
      <p:sp>
        <p:nvSpPr>
          <p:cNvPr id="2" name="">
            <a:extLst xmlns:a="http://schemas.openxmlformats.org/drawingml/2006/main">
              <a:ext uri="{FF2B5EF4-FFF2-40B4-BE49-F238E27FC236}">
                <a16:creationId xmlns:a16="http://schemas.microsoft.com/office/drawing/2014/main" id="{61F41DDE-A0FF-45BD-9DE6-3EC70A23B49E}"/>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Choose only the columns required downstream.</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Filter records that the business query excludes.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Check the physical plan to see what changed.</a:t>
            </a:r>
          </a:p>
        </p:txBody>
      </p:sp>
      <p:sp>
        <p:nvSpPr>
          <p:cNvPr id="3" name="">
            <a:extLst xmlns:a="http://schemas.openxmlformats.org/drawingml/2006/main">
              <a:ext uri="{FF2B5EF4-FFF2-40B4-BE49-F238E27FC236}">
                <a16:creationId xmlns:a16="http://schemas.microsoft.com/office/drawing/2014/main" id="{F940FC44-E29E-4203-894C-7C69EAC309FB}"/>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791DCDFC-750A-4FCE-818C-E90274AFF71F}"/>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10</a:t>
            </a:r>
          </a:p>
        </p:txBody>
      </p:sp>
    </p:spTree>
    <p:extLst>
      <p:ext uri="{BB962C8B-B14F-4D97-AF65-F5344CB8AC3E}">
        <p14:creationId xmlns:p14="http://schemas.microsoft.com/office/powerpoint/2010/main" val="2013703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7A3C46-D031-44AC-B9A1-83E55FC1E643}"/>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Shuffle and skew</a:t>
            </a:r>
          </a:p>
        </p:txBody>
      </p:sp>
      <p:sp>
        <p:nvSpPr>
          <p:cNvPr id="2" name="">
            <a:extLst xmlns:a="http://schemas.openxmlformats.org/drawingml/2006/main">
              <a:ext uri="{FF2B5EF4-FFF2-40B4-BE49-F238E27FC236}">
                <a16:creationId xmlns:a16="http://schemas.microsoft.com/office/drawing/2014/main" id="{5DF05606-FDBC-47F2-9735-B8E701270F94}"/>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Exchange can move data between executors.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An uneven key can leave one task much busier.</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Inspect task duration, shuffle and spill.</a:t>
            </a:r>
          </a:p>
        </p:txBody>
      </p:sp>
      <p:sp>
        <p:nvSpPr>
          <p:cNvPr id="3" name="">
            <a:extLst xmlns:a="http://schemas.openxmlformats.org/drawingml/2006/main">
              <a:ext uri="{FF2B5EF4-FFF2-40B4-BE49-F238E27FC236}">
                <a16:creationId xmlns:a16="http://schemas.microsoft.com/office/drawing/2014/main" id="{4C75E48F-D1DD-4984-813A-DC314B352656}"/>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EDEE0948-25B5-49D6-B145-68E87A07D7F4}"/>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11</a:t>
            </a:r>
          </a:p>
        </p:txBody>
      </p:sp>
    </p:spTree>
    <p:extLst>
      <p:ext uri="{BB962C8B-B14F-4D97-AF65-F5344CB8AC3E}">
        <p14:creationId xmlns:p14="http://schemas.microsoft.com/office/powerpoint/2010/main" val="14108781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128405-5740-4A75-85F0-3D764497AADF}"/>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Broadcast join</a:t>
            </a:r>
          </a:p>
        </p:txBody>
      </p:sp>
      <p:sp>
        <p:nvSpPr>
          <p:cNvPr id="2" name="">
            <a:extLst xmlns:a="http://schemas.openxmlformats.org/drawingml/2006/main">
              <a:ext uri="{FF2B5EF4-FFF2-40B4-BE49-F238E27FC236}">
                <a16:creationId xmlns:a16="http://schemas.microsoft.com/office/drawing/2014/main" id="{2D0318A9-0628-4CB9-9D80-F55D4A296110}"/>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Our city lookup has only four rows.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Each executor can receive a small copy.</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The optimizer may already choose this strategy.</a:t>
            </a:r>
          </a:p>
        </p:txBody>
      </p:sp>
      <p:sp>
        <p:nvSpPr>
          <p:cNvPr id="3" name="">
            <a:extLst xmlns:a="http://schemas.openxmlformats.org/drawingml/2006/main">
              <a:ext uri="{FF2B5EF4-FFF2-40B4-BE49-F238E27FC236}">
                <a16:creationId xmlns:a16="http://schemas.microsoft.com/office/drawing/2014/main" id="{34BDD8F2-72A2-42E8-9FB1-E383560B4212}"/>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9D14AF91-1A63-471B-8769-855B55209C93}"/>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12</a:t>
            </a:r>
          </a:p>
        </p:txBody>
      </p:sp>
    </p:spTree>
    <p:extLst>
      <p:ext uri="{BB962C8B-B14F-4D97-AF65-F5344CB8AC3E}">
        <p14:creationId xmlns:p14="http://schemas.microsoft.com/office/powerpoint/2010/main" val="20877517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FC9699-4E6D-4DF7-9C60-588F8BBAE5D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Adaptive query execution</a:t>
            </a:r>
          </a:p>
        </p:txBody>
      </p:sp>
      <p:sp>
        <p:nvSpPr>
          <p:cNvPr id="2" name="">
            <a:extLst xmlns:a="http://schemas.openxmlformats.org/drawingml/2006/main">
              <a:ext uri="{FF2B5EF4-FFF2-40B4-BE49-F238E27FC236}">
                <a16:creationId xmlns:a16="http://schemas.microsoft.com/office/drawing/2014/main" id="{64CE4CED-4ED9-491F-B432-2C5FE2511135}"/>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Runtime statistics can change the execution plan.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Inspect the executed plan after the action.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hint may produce no improvement over the automatic choice.</a:t>
            </a:r>
          </a:p>
        </p:txBody>
      </p:sp>
      <p:sp>
        <p:nvSpPr>
          <p:cNvPr id="3" name="">
            <a:extLst xmlns:a="http://schemas.openxmlformats.org/drawingml/2006/main">
              <a:ext uri="{FF2B5EF4-FFF2-40B4-BE49-F238E27FC236}">
                <a16:creationId xmlns:a16="http://schemas.microsoft.com/office/drawing/2014/main" id="{9ED18220-6DF5-406E-88AF-F0208A151CD4}"/>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3DECCBD6-1FA0-47B8-8A04-EB1517EEA460}"/>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13</a:t>
            </a:r>
          </a:p>
        </p:txBody>
      </p:sp>
    </p:spTree>
    <p:extLst>
      <p:ext uri="{BB962C8B-B14F-4D97-AF65-F5344CB8AC3E}">
        <p14:creationId xmlns:p14="http://schemas.microsoft.com/office/powerpoint/2010/main" val="14066053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D04C1A-F6A6-4089-860A-03B12218A14A}"/>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Lab measurement record</a:t>
            </a:r>
          </a:p>
        </p:txBody>
      </p:sp>
      <p:graphicFrame>
        <p:nvGraphicFramePr>
          <p:cNvPr id="6" name=""/>
          <p:cNvGraphicFramePr/>
          <p:nvPr/>
        </p:nvGraphicFramePr>
        <p:xfrm>
          <a:off xmlns:a="http://schemas.openxmlformats.org/drawingml/2006/main" x="647700" y="1743075"/>
          <a:ext xmlns:a="http://schemas.openxmlformats.org/drawingml/2006/main" cx="10858500" cy="1914525"/>
        </p:xfrm>
        <a:graphic xmlns:a="http://schemas.openxmlformats.org/drawingml/2006/main">
          <a:graphicData uri="http://schemas.openxmlformats.org/drawingml/2006/table">
            <a:tbl>
              <a:tblPr/>
              <a:tblGrid>
                <a:gridCol w="2171700"/>
                <a:gridCol w="2171700"/>
                <a:gridCol w="2171700"/>
                <a:gridCol w="2171700"/>
                <a:gridCol w="2171700"/>
              </a:tblGrid>
              <a:tr h="638175">
                <a:tc>
                  <a:txBody>
                    <a:bodyPr/>
                    <a:lstStyle/>
                    <a:p>
                      <a:r>
                        <a:rPr sz="1875" b="1">
                          <a:solidFill>
                            <a:srgbClr val="FFFFFF"/>
                          </a:solidFill>
                          <a:latin typeface="Calibri"/>
                          <a:ea typeface="Calibri"/>
                          <a:cs typeface="Calibri"/>
                        </a:rPr>
                        <a:t>Variant</a:t>
                      </a:r>
                    </a:p>
                  </a:txBody>
                  <a:tcPr marL="91440" marR="91440" marT="45720" marB="45720">
                    <a:solidFill>
                      <a:srgbClr val="132F43"/>
                    </a:solidFill>
                  </a:tcPr>
                </a:tc>
                <a:tc>
                  <a:txBody>
                    <a:bodyPr/>
                    <a:lstStyle/>
                    <a:p>
                      <a:r>
                        <a:rPr sz="1875" b="1">
                          <a:solidFill>
                            <a:srgbClr val="FFFFFF"/>
                          </a:solidFill>
                          <a:latin typeface="Calibri"/>
                          <a:ea typeface="Calibri"/>
                          <a:cs typeface="Calibri"/>
                        </a:rPr>
                        <a:t>Trial 1</a:t>
                      </a:r>
                    </a:p>
                  </a:txBody>
                  <a:tcPr marL="91440" marR="91440" marT="45720" marB="45720">
                    <a:solidFill>
                      <a:srgbClr val="132F43"/>
                    </a:solidFill>
                  </a:tcPr>
                </a:tc>
                <a:tc>
                  <a:txBody>
                    <a:bodyPr/>
                    <a:lstStyle/>
                    <a:p>
                      <a:r>
                        <a:rPr sz="1875" b="1">
                          <a:solidFill>
                            <a:srgbClr val="FFFFFF"/>
                          </a:solidFill>
                          <a:latin typeface="Calibri"/>
                          <a:ea typeface="Calibri"/>
                          <a:cs typeface="Calibri"/>
                        </a:rPr>
                        <a:t>Trial 2</a:t>
                      </a:r>
                    </a:p>
                  </a:txBody>
                  <a:tcPr marL="91440" marR="91440" marT="45720" marB="45720">
                    <a:solidFill>
                      <a:srgbClr val="132F43"/>
                    </a:solidFill>
                  </a:tcPr>
                </a:tc>
                <a:tc>
                  <a:txBody>
                    <a:bodyPr/>
                    <a:lstStyle/>
                    <a:p>
                      <a:r>
                        <a:rPr sz="1875" b="1">
                          <a:solidFill>
                            <a:srgbClr val="FFFFFF"/>
                          </a:solidFill>
                          <a:latin typeface="Calibri"/>
                          <a:ea typeface="Calibri"/>
                          <a:cs typeface="Calibri"/>
                        </a:rPr>
                        <a:t>Trial 3</a:t>
                      </a:r>
                    </a:p>
                  </a:txBody>
                  <a:tcPr marL="91440" marR="91440" marT="45720" marB="45720">
                    <a:solidFill>
                      <a:srgbClr val="132F43"/>
                    </a:solidFill>
                  </a:tcPr>
                </a:tc>
                <a:tc>
                  <a:txBody>
                    <a:bodyPr/>
                    <a:lstStyle/>
                    <a:p>
                      <a:r>
                        <a:rPr sz="1875" b="1">
                          <a:solidFill>
                            <a:srgbClr val="FFFFFF"/>
                          </a:solidFill>
                          <a:latin typeface="Calibri"/>
                          <a:ea typeface="Calibri"/>
                          <a:cs typeface="Calibri"/>
                        </a:rPr>
                        <a:t>Median</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Automatic</a:t>
                      </a:r>
                    </a:p>
                  </a:txBody>
                  <a:tcPr marL="91440" marR="91440" marT="45720" marB="45720">
                    <a:solidFill>
                      <a:srgbClr val="F1F6F8"/>
                    </a:solidFill>
                  </a:tcPr>
                </a:tc>
                <a:tc>
                  <a:txBody>
                    <a:bodyPr/>
                    <a:lstStyle/>
                    <a:p>
                      <a:r>
                        <a:rPr sz="1875" b="0">
                          <a:solidFill>
                            <a:srgbClr val="132F43"/>
                          </a:solidFill>
                          <a:latin typeface="Calibri"/>
                          <a:ea typeface="Calibri"/>
                          <a:cs typeface="Calibri"/>
                        </a:rPr>
                        <a:t>Measure</a:t>
                      </a:r>
                    </a:p>
                  </a:txBody>
                  <a:tcPr marL="91440" marR="91440" marT="45720" marB="45720">
                    <a:solidFill>
                      <a:srgbClr val="F1F6F8"/>
                    </a:solidFill>
                  </a:tcPr>
                </a:tc>
                <a:tc>
                  <a:txBody>
                    <a:bodyPr/>
                    <a:lstStyle/>
                    <a:p>
                      <a:r>
                        <a:rPr sz="1875" b="0">
                          <a:solidFill>
                            <a:srgbClr val="132F43"/>
                          </a:solidFill>
                          <a:latin typeface="Calibri"/>
                          <a:ea typeface="Calibri"/>
                          <a:cs typeface="Calibri"/>
                        </a:rPr>
                        <a:t>Measure</a:t>
                      </a:r>
                    </a:p>
                  </a:txBody>
                  <a:tcPr marL="91440" marR="91440" marT="45720" marB="45720">
                    <a:solidFill>
                      <a:srgbClr val="F1F6F8"/>
                    </a:solidFill>
                  </a:tcPr>
                </a:tc>
                <a:tc>
                  <a:txBody>
                    <a:bodyPr/>
                    <a:lstStyle/>
                    <a:p>
                      <a:r>
                        <a:rPr sz="1875" b="0">
                          <a:solidFill>
                            <a:srgbClr val="132F43"/>
                          </a:solidFill>
                          <a:latin typeface="Calibri"/>
                          <a:ea typeface="Calibri"/>
                          <a:cs typeface="Calibri"/>
                        </a:rPr>
                        <a:t>Measure</a:t>
                      </a:r>
                    </a:p>
                  </a:txBody>
                  <a:tcPr marL="91440" marR="91440" marT="45720" marB="45720">
                    <a:solidFill>
                      <a:srgbClr val="F1F6F8"/>
                    </a:solidFill>
                  </a:tcPr>
                </a:tc>
                <a:tc>
                  <a:txBody>
                    <a:bodyPr/>
                    <a:lstStyle/>
                    <a:p>
                      <a:r>
                        <a:rPr sz="1875" b="0">
                          <a:solidFill>
                            <a:srgbClr val="132F43"/>
                          </a:solidFill>
                          <a:latin typeface="Calibri"/>
                          <a:ea typeface="Calibri"/>
                          <a:cs typeface="Calibri"/>
                        </a:rPr>
                        <a:t>Calculate</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Broadcast</a:t>
                      </a:r>
                    </a:p>
                  </a:txBody>
                  <a:tcPr marL="91440" marR="91440" marT="45720" marB="45720">
                    <a:solidFill>
                      <a:srgbClr val="FFFFFF"/>
                    </a:solidFill>
                  </a:tcPr>
                </a:tc>
                <a:tc>
                  <a:txBody>
                    <a:bodyPr/>
                    <a:lstStyle/>
                    <a:p>
                      <a:r>
                        <a:rPr sz="1875" b="0">
                          <a:solidFill>
                            <a:srgbClr val="132F43"/>
                          </a:solidFill>
                          <a:latin typeface="Calibri"/>
                          <a:ea typeface="Calibri"/>
                          <a:cs typeface="Calibri"/>
                        </a:rPr>
                        <a:t>Measure</a:t>
                      </a:r>
                    </a:p>
                  </a:txBody>
                  <a:tcPr marL="91440" marR="91440" marT="45720" marB="45720">
                    <a:solidFill>
                      <a:srgbClr val="FFFFFF"/>
                    </a:solidFill>
                  </a:tcPr>
                </a:tc>
                <a:tc>
                  <a:txBody>
                    <a:bodyPr/>
                    <a:lstStyle/>
                    <a:p>
                      <a:r>
                        <a:rPr sz="1875" b="0">
                          <a:solidFill>
                            <a:srgbClr val="132F43"/>
                          </a:solidFill>
                          <a:latin typeface="Calibri"/>
                          <a:ea typeface="Calibri"/>
                          <a:cs typeface="Calibri"/>
                        </a:rPr>
                        <a:t>Measure</a:t>
                      </a:r>
                    </a:p>
                  </a:txBody>
                  <a:tcPr marL="91440" marR="91440" marT="45720" marB="45720">
                    <a:solidFill>
                      <a:srgbClr val="FFFFFF"/>
                    </a:solidFill>
                  </a:tcPr>
                </a:tc>
                <a:tc>
                  <a:txBody>
                    <a:bodyPr/>
                    <a:lstStyle/>
                    <a:p>
                      <a:r>
                        <a:rPr sz="1875" b="0">
                          <a:solidFill>
                            <a:srgbClr val="132F43"/>
                          </a:solidFill>
                          <a:latin typeface="Calibri"/>
                          <a:ea typeface="Calibri"/>
                          <a:cs typeface="Calibri"/>
                        </a:rPr>
                        <a:t>Measure</a:t>
                      </a:r>
                    </a:p>
                  </a:txBody>
                  <a:tcPr marL="91440" marR="91440" marT="45720" marB="45720">
                    <a:solidFill>
                      <a:srgbClr val="FFFFFF"/>
                    </a:solidFill>
                  </a:tcPr>
                </a:tc>
                <a:tc>
                  <a:txBody>
                    <a:bodyPr/>
                    <a:lstStyle/>
                    <a:p>
                      <a:r>
                        <a:rPr sz="1875" b="0">
                          <a:solidFill>
                            <a:srgbClr val="132F43"/>
                          </a:solidFill>
                          <a:latin typeface="Calibri"/>
                          <a:ea typeface="Calibri"/>
                          <a:cs typeface="Calibri"/>
                        </a:rPr>
                        <a:t>Calculate</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FFF7DE6-6DD3-4429-A528-9D912055009F}"/>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5E739494-3955-4D05-A8E3-226AB23ACF9A}"/>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14</a:t>
            </a:r>
          </a:p>
        </p:txBody>
      </p:sp>
    </p:spTree>
    <p:extLst>
      <p:ext uri="{BB962C8B-B14F-4D97-AF65-F5344CB8AC3E}">
        <p14:creationId xmlns:p14="http://schemas.microsoft.com/office/powerpoint/2010/main" val="17039466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B879DA-878F-4A05-AAC2-1773FB491344}"/>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Caching</a:t>
            </a:r>
          </a:p>
        </p:txBody>
      </p:sp>
      <p:sp>
        <p:nvSpPr>
          <p:cNvPr id="2" name="">
            <a:extLst xmlns:a="http://schemas.openxmlformats.org/drawingml/2006/main">
              <a:ext uri="{FF2B5EF4-FFF2-40B4-BE49-F238E27FC236}">
                <a16:creationId xmlns:a16="http://schemas.microsoft.com/office/drawing/2014/main" id="{DA8B50CD-FABF-4785-9FC5-AB33A7863A7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The first action populates the cache.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Reuse can save repeated computation.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Unpersist your own DataFrame when finished.</a:t>
            </a:r>
          </a:p>
        </p:txBody>
      </p:sp>
      <p:sp>
        <p:nvSpPr>
          <p:cNvPr id="3" name="">
            <a:extLst xmlns:a="http://schemas.openxmlformats.org/drawingml/2006/main">
              <a:ext uri="{FF2B5EF4-FFF2-40B4-BE49-F238E27FC236}">
                <a16:creationId xmlns:a16="http://schemas.microsoft.com/office/drawing/2014/main" id="{C0D289FE-F7B8-41C2-A174-3E003B1AF473}"/>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34FBD2D-5596-4AD7-93C7-C5710431D00A}"/>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15</a:t>
            </a:r>
          </a:p>
        </p:txBody>
      </p:sp>
    </p:spTree>
    <p:extLst>
      <p:ext uri="{BB962C8B-B14F-4D97-AF65-F5344CB8AC3E}">
        <p14:creationId xmlns:p14="http://schemas.microsoft.com/office/powerpoint/2010/main" val="12904670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D80B67-FA67-45E4-B839-7FB5E271BECA}"/>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File layout</a:t>
            </a:r>
          </a:p>
        </p:txBody>
      </p:sp>
      <p:sp>
        <p:nvSpPr>
          <p:cNvPr id="2" name="">
            <a:extLst xmlns:a="http://schemas.openxmlformats.org/drawingml/2006/main">
              <a:ext uri="{FF2B5EF4-FFF2-40B4-BE49-F238E27FC236}">
                <a16:creationId xmlns:a16="http://schemas.microsoft.com/office/drawing/2014/main" id="{AB1B3276-137C-4D10-9038-DE27F4617214}"/>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Small files can increase overhead.</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Inspect table metadata before and after maintenance.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tiny table may need no compaction.</a:t>
            </a:r>
          </a:p>
        </p:txBody>
      </p:sp>
      <p:sp>
        <p:nvSpPr>
          <p:cNvPr id="3" name="">
            <a:extLst xmlns:a="http://schemas.openxmlformats.org/drawingml/2006/main">
              <a:ext uri="{FF2B5EF4-FFF2-40B4-BE49-F238E27FC236}">
                <a16:creationId xmlns:a16="http://schemas.microsoft.com/office/drawing/2014/main" id="{4F8D21BD-ACB6-48D5-B4D7-1968856C6414}"/>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4D0D627E-D3DD-4BBC-8DBB-0FFE4CC5450A}"/>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16</a:t>
            </a:r>
          </a:p>
        </p:txBody>
      </p:sp>
    </p:spTree>
    <p:extLst>
      <p:ext uri="{BB962C8B-B14F-4D97-AF65-F5344CB8AC3E}">
        <p14:creationId xmlns:p14="http://schemas.microsoft.com/office/powerpoint/2010/main" val="20376707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1262AC-DE52-45AE-8DFF-BEA752F9935E}"/>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ETL and ELT</a:t>
            </a:r>
          </a:p>
        </p:txBody>
      </p:sp>
      <p:sp>
        <p:nvSpPr>
          <p:cNvPr id="2" name="">
            <a:extLst xmlns:a="http://schemas.openxmlformats.org/drawingml/2006/main">
              <a:ext uri="{FF2B5EF4-FFF2-40B4-BE49-F238E27FC236}">
                <a16:creationId xmlns:a16="http://schemas.microsoft.com/office/drawing/2014/main" id="{41FB35A4-D7CF-4F56-89E3-E2BC3D41DA8A}"/>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ETL transforms before loading the chosen target.</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ELT loads first and transforms afterward.</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Our notebook demonstrates both patterns.</a:t>
            </a:r>
          </a:p>
        </p:txBody>
      </p:sp>
      <p:sp>
        <p:nvSpPr>
          <p:cNvPr id="3" name="">
            <a:extLst xmlns:a="http://schemas.openxmlformats.org/drawingml/2006/main">
              <a:ext uri="{FF2B5EF4-FFF2-40B4-BE49-F238E27FC236}">
                <a16:creationId xmlns:a16="http://schemas.microsoft.com/office/drawing/2014/main" id="{9719C3D0-2E41-4FED-B5E2-31EF23B177D7}"/>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C721D0EA-368D-4137-828C-D489B25230E3}"/>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17</a:t>
            </a:r>
          </a:p>
        </p:txBody>
      </p:sp>
    </p:spTree>
    <p:extLst>
      <p:ext uri="{BB962C8B-B14F-4D97-AF65-F5344CB8AC3E}">
        <p14:creationId xmlns:p14="http://schemas.microsoft.com/office/powerpoint/2010/main" val="5503677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42BE36-AD9E-4C8C-9D8C-08808A3F1FAC}"/>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Lab output checks</a:t>
            </a:r>
          </a:p>
        </p:txBody>
      </p:sp>
      <p:sp>
        <p:nvSpPr>
          <p:cNvPr id="2" name="">
            <a:extLst xmlns:a="http://schemas.openxmlformats.org/drawingml/2006/main">
              <a:ext uri="{FF2B5EF4-FFF2-40B4-BE49-F238E27FC236}">
                <a16:creationId xmlns:a16="http://schemas.microsoft.com/office/drawing/2014/main" id="{C1A76CD3-BCBF-4C7F-A240-EE14906296C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Bronze contains four rows.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Silver contains three and quarantine contains one.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Both Gold implementations return total sales of 600.</a:t>
            </a:r>
          </a:p>
        </p:txBody>
      </p:sp>
      <p:sp>
        <p:nvSpPr>
          <p:cNvPr id="3" name="">
            <a:extLst xmlns:a="http://schemas.openxmlformats.org/drawingml/2006/main">
              <a:ext uri="{FF2B5EF4-FFF2-40B4-BE49-F238E27FC236}">
                <a16:creationId xmlns:a16="http://schemas.microsoft.com/office/drawing/2014/main" id="{5D8B8B5C-9DE4-486E-9D3F-DE6B724DBD51}"/>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94BB7DEE-DDBD-49B7-A1B2-C18905AB9731}"/>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18</a:t>
            </a:r>
          </a:p>
        </p:txBody>
      </p:sp>
    </p:spTree>
    <p:extLst>
      <p:ext uri="{BB962C8B-B14F-4D97-AF65-F5344CB8AC3E}">
        <p14:creationId xmlns:p14="http://schemas.microsoft.com/office/powerpoint/2010/main" val="21002107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FB6B7B-580E-4ACD-8B1A-B6E5A96576BA}"/>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Repeatable runs</a:t>
            </a:r>
          </a:p>
        </p:txBody>
      </p:sp>
      <p:sp>
        <p:nvSpPr>
          <p:cNvPr id="2" name="">
            <a:extLst xmlns:a="http://schemas.openxmlformats.org/drawingml/2006/main">
              <a:ext uri="{FF2B5EF4-FFF2-40B4-BE49-F238E27FC236}">
                <a16:creationId xmlns:a16="http://schemas.microsoft.com/office/drawing/2014/main" id="{DABF23D8-C5D4-43D3-B4CD-591D13944A66}"/>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The lab refreshes only dedicated Day 22 tables.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second run must preserve the same row counts.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Multiple table writes are separate transactions.</a:t>
            </a:r>
          </a:p>
        </p:txBody>
      </p:sp>
      <p:sp>
        <p:nvSpPr>
          <p:cNvPr id="3" name="">
            <a:extLst xmlns:a="http://schemas.openxmlformats.org/drawingml/2006/main">
              <a:ext uri="{FF2B5EF4-FFF2-40B4-BE49-F238E27FC236}">
                <a16:creationId xmlns:a16="http://schemas.microsoft.com/office/drawing/2014/main" id="{D34D8C39-4089-4817-888C-728F44381AE1}"/>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9C0A0A8-BFC7-4173-B6C0-842351BF7116}"/>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19</a:t>
            </a:r>
          </a:p>
        </p:txBody>
      </p:sp>
    </p:spTree>
    <p:extLst>
      <p:ext uri="{BB962C8B-B14F-4D97-AF65-F5344CB8AC3E}">
        <p14:creationId xmlns:p14="http://schemas.microsoft.com/office/powerpoint/2010/main" val="7514974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4CF4D4-BA67-4390-9F68-E9489E59315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Cost components</a:t>
            </a:r>
          </a:p>
        </p:txBody>
      </p:sp>
      <p:sp>
        <p:nvSpPr>
          <p:cNvPr id="2" name="">
            <a:extLst xmlns:a="http://schemas.openxmlformats.org/drawingml/2006/main">
              <a:ext uri="{FF2B5EF4-FFF2-40B4-BE49-F238E27FC236}">
                <a16:creationId xmlns:a16="http://schemas.microsoft.com/office/drawing/2014/main" id="{6212387B-2047-4189-BE33-01A757076CB2}"/>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Read the actual meters for your compute product.</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Include relevant storage and network costs.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DBU quantity alone is not an invoice amount.</a:t>
            </a:r>
          </a:p>
        </p:txBody>
      </p:sp>
      <p:sp>
        <p:nvSpPr>
          <p:cNvPr id="3" name="">
            <a:extLst xmlns:a="http://schemas.openxmlformats.org/drawingml/2006/main">
              <a:ext uri="{FF2B5EF4-FFF2-40B4-BE49-F238E27FC236}">
                <a16:creationId xmlns:a16="http://schemas.microsoft.com/office/drawing/2014/main" id="{8B612A49-267F-4F05-A9A6-1BF97FD47A1E}"/>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3154B8B-A435-4CE9-ACEA-FD4F7C14FF64}"/>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20</a:t>
            </a:r>
          </a:p>
        </p:txBody>
      </p:sp>
    </p:spTree>
    <p:extLst>
      <p:ext uri="{BB962C8B-B14F-4D97-AF65-F5344CB8AC3E}">
        <p14:creationId xmlns:p14="http://schemas.microsoft.com/office/powerpoint/2010/main" val="3671202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E75888-A7AA-499F-BB5F-3BD751862E38}"/>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Illustrative cost per run</a:t>
            </a:r>
          </a:p>
        </p:txBody>
      </p:sp>
      <p:graphicFrame>
        <p:nvGraphicFramePr>
          <p:cNvPr id="6" name=""/>
          <p:cNvGraphicFramePr/>
          <p:nvPr/>
        </p:nvGraphicFramePr>
        <p:xfrm>
          <a:off xmlns:a="http://schemas.openxmlformats.org/drawingml/2006/main" x="647700" y="1743075"/>
          <a:ext xmlns:a="http://schemas.openxmlformats.org/drawingml/2006/main" cx="10858500" cy="1914525"/>
        </p:xfrm>
        <a:graphic xmlns:a="http://schemas.openxmlformats.org/drawingml/2006/main">
          <a:graphicData uri="http://schemas.openxmlformats.org/drawingml/2006/table">
            <a:tbl>
              <a:tblPr/>
              <a:tblGrid>
                <a:gridCol w="2714625"/>
                <a:gridCol w="2714625"/>
                <a:gridCol w="2714625"/>
                <a:gridCol w="2714625"/>
              </a:tblGrid>
              <a:tr h="638175">
                <a:tc>
                  <a:txBody>
                    <a:bodyPr/>
                    <a:lstStyle/>
                    <a:p>
                      <a:r>
                        <a:rPr sz="1875" b="1">
                          <a:solidFill>
                            <a:srgbClr val="FFFFFF"/>
                          </a:solidFill>
                          <a:latin typeface="Calibri"/>
                          <a:ea typeface="Calibri"/>
                          <a:cs typeface="Calibri"/>
                        </a:rPr>
                        <a:t>Configuration</a:t>
                      </a:r>
                    </a:p>
                  </a:txBody>
                  <a:tcPr marL="91440" marR="91440" marT="45720" marB="45720">
                    <a:solidFill>
                      <a:srgbClr val="132F43"/>
                    </a:solidFill>
                  </a:tcPr>
                </a:tc>
                <a:tc>
                  <a:txBody>
                    <a:bodyPr/>
                    <a:lstStyle/>
                    <a:p>
                      <a:r>
                        <a:rPr sz="1875" b="1">
                          <a:solidFill>
                            <a:srgbClr val="FFFFFF"/>
                          </a:solidFill>
                          <a:latin typeface="Calibri"/>
                          <a:ea typeface="Calibri"/>
                          <a:cs typeface="Calibri"/>
                        </a:rPr>
                        <a:t>Hourly rate</a:t>
                      </a:r>
                    </a:p>
                  </a:txBody>
                  <a:tcPr marL="91440" marR="91440" marT="45720" marB="45720">
                    <a:solidFill>
                      <a:srgbClr val="132F43"/>
                    </a:solidFill>
                  </a:tcPr>
                </a:tc>
                <a:tc>
                  <a:txBody>
                    <a:bodyPr/>
                    <a:lstStyle/>
                    <a:p>
                      <a:r>
                        <a:rPr sz="1875" b="1">
                          <a:solidFill>
                            <a:srgbClr val="FFFFFF"/>
                          </a:solidFill>
                          <a:latin typeface="Calibri"/>
                          <a:ea typeface="Calibri"/>
                          <a:cs typeface="Calibri"/>
                        </a:rPr>
                        <a:t>Duration</a:t>
                      </a:r>
                    </a:p>
                  </a:txBody>
                  <a:tcPr marL="91440" marR="91440" marT="45720" marB="45720">
                    <a:solidFill>
                      <a:srgbClr val="132F43"/>
                    </a:solidFill>
                  </a:tcPr>
                </a:tc>
                <a:tc>
                  <a:txBody>
                    <a:bodyPr/>
                    <a:lstStyle/>
                    <a:p>
                      <a:r>
                        <a:rPr sz="1875" b="1">
                          <a:solidFill>
                            <a:srgbClr val="FFFFFF"/>
                          </a:solidFill>
                          <a:latin typeface="Calibri"/>
                          <a:ea typeface="Calibri"/>
                          <a:cs typeface="Calibri"/>
                        </a:rPr>
                        <a:t>Run cost</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A</a:t>
                      </a:r>
                    </a:p>
                  </a:txBody>
                  <a:tcPr marL="91440" marR="91440" marT="45720" marB="45720">
                    <a:solidFill>
                      <a:srgbClr val="F1F6F8"/>
                    </a:solidFill>
                  </a:tcPr>
                </a:tc>
                <a:tc>
                  <a:txBody>
                    <a:bodyPr/>
                    <a:lstStyle/>
                    <a:p>
                      <a:r>
                        <a:rPr sz="1875" b="0">
                          <a:solidFill>
                            <a:srgbClr val="132F43"/>
                          </a:solidFill>
                          <a:latin typeface="Calibri"/>
                          <a:ea typeface="Calibri"/>
                          <a:cs typeface="Calibri"/>
                        </a:rPr>
                        <a:t>10 units</a:t>
                      </a:r>
                    </a:p>
                  </a:txBody>
                  <a:tcPr marL="91440" marR="91440" marT="45720" marB="45720">
                    <a:solidFill>
                      <a:srgbClr val="F1F6F8"/>
                    </a:solidFill>
                  </a:tcPr>
                </a:tc>
                <a:tc>
                  <a:txBody>
                    <a:bodyPr/>
                    <a:lstStyle/>
                    <a:p>
                      <a:r>
                        <a:rPr sz="1875" b="0">
                          <a:solidFill>
                            <a:srgbClr val="132F43"/>
                          </a:solidFill>
                          <a:latin typeface="Calibri"/>
                          <a:ea typeface="Calibri"/>
                          <a:cs typeface="Calibri"/>
                        </a:rPr>
                        <a:t>30 minutes</a:t>
                      </a:r>
                    </a:p>
                  </a:txBody>
                  <a:tcPr marL="91440" marR="91440" marT="45720" marB="45720">
                    <a:solidFill>
                      <a:srgbClr val="F1F6F8"/>
                    </a:solidFill>
                  </a:tcPr>
                </a:tc>
                <a:tc>
                  <a:txBody>
                    <a:bodyPr/>
                    <a:lstStyle/>
                    <a:p>
                      <a:r>
                        <a:rPr sz="1875" b="0">
                          <a:solidFill>
                            <a:srgbClr val="132F43"/>
                          </a:solidFill>
                          <a:latin typeface="Calibri"/>
                          <a:ea typeface="Calibri"/>
                          <a:cs typeface="Calibri"/>
                        </a:rPr>
                        <a:t>5 units</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B</a:t>
                      </a:r>
                    </a:p>
                  </a:txBody>
                  <a:tcPr marL="91440" marR="91440" marT="45720" marB="45720">
                    <a:solidFill>
                      <a:srgbClr val="FFFFFF"/>
                    </a:solidFill>
                  </a:tcPr>
                </a:tc>
                <a:tc>
                  <a:txBody>
                    <a:bodyPr/>
                    <a:lstStyle/>
                    <a:p>
                      <a:r>
                        <a:rPr sz="1875" b="0">
                          <a:solidFill>
                            <a:srgbClr val="132F43"/>
                          </a:solidFill>
                          <a:latin typeface="Calibri"/>
                          <a:ea typeface="Calibri"/>
                          <a:cs typeface="Calibri"/>
                        </a:rPr>
                        <a:t>15 units</a:t>
                      </a:r>
                    </a:p>
                  </a:txBody>
                  <a:tcPr marL="91440" marR="91440" marT="45720" marB="45720">
                    <a:solidFill>
                      <a:srgbClr val="FFFFFF"/>
                    </a:solidFill>
                  </a:tcPr>
                </a:tc>
                <a:tc>
                  <a:txBody>
                    <a:bodyPr/>
                    <a:lstStyle/>
                    <a:p>
                      <a:r>
                        <a:rPr sz="1875" b="0">
                          <a:solidFill>
                            <a:srgbClr val="132F43"/>
                          </a:solidFill>
                          <a:latin typeface="Calibri"/>
                          <a:ea typeface="Calibri"/>
                          <a:cs typeface="Calibri"/>
                        </a:rPr>
                        <a:t>15 minutes</a:t>
                      </a:r>
                    </a:p>
                  </a:txBody>
                  <a:tcPr marL="91440" marR="91440" marT="45720" marB="45720">
                    <a:solidFill>
                      <a:srgbClr val="FFFFFF"/>
                    </a:solidFill>
                  </a:tcPr>
                </a:tc>
                <a:tc>
                  <a:txBody>
                    <a:bodyPr/>
                    <a:lstStyle/>
                    <a:p>
                      <a:r>
                        <a:rPr sz="1875" b="0">
                          <a:solidFill>
                            <a:srgbClr val="132F43"/>
                          </a:solidFill>
                          <a:latin typeface="Calibri"/>
                          <a:ea typeface="Calibri"/>
                          <a:cs typeface="Calibri"/>
                        </a:rPr>
                        <a:t>3.75 units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4966EA4-2B9C-47E8-88D3-5D5F570F59FF}"/>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900C8327-C7C6-4ED1-AB98-3A9635575B8E}"/>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21</a:t>
            </a:r>
          </a:p>
        </p:txBody>
      </p:sp>
    </p:spTree>
    <p:extLst>
      <p:ext uri="{BB962C8B-B14F-4D97-AF65-F5344CB8AC3E}">
        <p14:creationId xmlns:p14="http://schemas.microsoft.com/office/powerpoint/2010/main" val="10077304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9FC316-8E37-494F-9521-4ACD73E76C84}"/>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Azure Cost Management</a:t>
            </a:r>
          </a:p>
        </p:txBody>
      </p:sp>
      <p:sp>
        <p:nvSpPr>
          <p:cNvPr id="2" name="">
            <a:extLst xmlns:a="http://schemas.openxmlformats.org/drawingml/2006/main">
              <a:ext uri="{FF2B5EF4-FFF2-40B4-BE49-F238E27FC236}">
                <a16:creationId xmlns:a16="http://schemas.microsoft.com/office/drawing/2014/main" id="{D72CE9C9-0F5F-4BD1-BD00-A72C58C385A5}"/>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Choose the correct scope and date range.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Inspect service and resource breakdowns.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currency and filters with the evidence.</a:t>
            </a:r>
          </a:p>
        </p:txBody>
      </p:sp>
      <p:sp>
        <p:nvSpPr>
          <p:cNvPr id="3" name="">
            <a:extLst xmlns:a="http://schemas.openxmlformats.org/drawingml/2006/main">
              <a:ext uri="{FF2B5EF4-FFF2-40B4-BE49-F238E27FC236}">
                <a16:creationId xmlns:a16="http://schemas.microsoft.com/office/drawing/2014/main" id="{EE258F54-6D28-447C-AB15-4D069F8C3E90}"/>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719E303-D2AF-45A3-B07F-E8CAC65ABC46}"/>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22</a:t>
            </a:r>
          </a:p>
        </p:txBody>
      </p:sp>
    </p:spTree>
    <p:extLst>
      <p:ext uri="{BB962C8B-B14F-4D97-AF65-F5344CB8AC3E}">
        <p14:creationId xmlns:p14="http://schemas.microsoft.com/office/powerpoint/2010/main" val="13361668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719A7B-976D-48D4-B854-E458F3A0BD6F}"/>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Budgets and alerts</a:t>
            </a:r>
          </a:p>
        </p:txBody>
      </p:sp>
      <p:sp>
        <p:nvSpPr>
          <p:cNvPr id="2" name="">
            <a:extLst xmlns:a="http://schemas.openxmlformats.org/drawingml/2006/main">
              <a:ext uri="{FF2B5EF4-FFF2-40B4-BE49-F238E27FC236}">
                <a16:creationId xmlns:a16="http://schemas.microsoft.com/office/drawing/2014/main" id="{DFC52567-1AA0-4B13-B9BB-937B4518542C}"/>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An 80 percent threshold on 1000 is 800.</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budget alert alone does not stop resources.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Billing and alert evaluation can be delayed.</a:t>
            </a:r>
          </a:p>
        </p:txBody>
      </p:sp>
      <p:sp>
        <p:nvSpPr>
          <p:cNvPr id="3" name="">
            <a:extLst xmlns:a="http://schemas.openxmlformats.org/drawingml/2006/main">
              <a:ext uri="{FF2B5EF4-FFF2-40B4-BE49-F238E27FC236}">
                <a16:creationId xmlns:a16="http://schemas.microsoft.com/office/drawing/2014/main" id="{263E8247-E3DC-4A3B-A191-D263F1328DBE}"/>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BAA0EB32-FE93-4DA1-B23D-9F163FF38CBE}"/>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23</a:t>
            </a:r>
          </a:p>
        </p:txBody>
      </p:sp>
    </p:spTree>
    <p:extLst>
      <p:ext uri="{BB962C8B-B14F-4D97-AF65-F5344CB8AC3E}">
        <p14:creationId xmlns:p14="http://schemas.microsoft.com/office/powerpoint/2010/main" val="64553489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6FC3A4-97A4-4B4A-8CF9-FECE5FCC3805}"/>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Usage evidence</a:t>
            </a:r>
          </a:p>
        </p:txBody>
      </p:sp>
      <p:sp>
        <p:nvSpPr>
          <p:cNvPr id="2" name="">
            <a:extLst xmlns:a="http://schemas.openxmlformats.org/drawingml/2006/main">
              <a:ext uri="{FF2B5EF4-FFF2-40B4-BE49-F238E27FC236}">
                <a16:creationId xmlns:a16="http://schemas.microsoft.com/office/drawing/2014/main" id="{47F9D985-3751-4334-A355-837CA4AF6590}"/>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Group quantities by SKU and usage unit.</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Limit queries to the intended workspace and dates.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Use authorized pricing data for monetary estimates.</a:t>
            </a:r>
          </a:p>
        </p:txBody>
      </p:sp>
      <p:sp>
        <p:nvSpPr>
          <p:cNvPr id="3" name="">
            <a:extLst xmlns:a="http://schemas.openxmlformats.org/drawingml/2006/main">
              <a:ext uri="{FF2B5EF4-FFF2-40B4-BE49-F238E27FC236}">
                <a16:creationId xmlns:a16="http://schemas.microsoft.com/office/drawing/2014/main" id="{937BD9B8-7126-4238-B676-95333F7C037C}"/>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6BD42DC0-08D6-44DB-99B0-8337EC594204}"/>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24</a:t>
            </a:r>
          </a:p>
        </p:txBody>
      </p:sp>
    </p:spTree>
    <p:extLst>
      <p:ext uri="{BB962C8B-B14F-4D97-AF65-F5344CB8AC3E}">
        <p14:creationId xmlns:p14="http://schemas.microsoft.com/office/powerpoint/2010/main" val="15903942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5609A0-8E33-408E-AFDB-0A83389F3ACC}"/>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Permission layers</a:t>
            </a:r>
          </a:p>
        </p:txBody>
      </p:sp>
      <p:graphicFrame>
        <p:nvGraphicFramePr>
          <p:cNvPr id="6" name=""/>
          <p:cNvGraphicFramePr/>
          <p:nvPr/>
        </p:nvGraphicFramePr>
        <p:xfrm>
          <a:off xmlns:a="http://schemas.openxmlformats.org/drawingml/2006/main" x="647700" y="1743075"/>
          <a:ext xmlns:a="http://schemas.openxmlformats.org/drawingml/2006/main" cx="10858500" cy="3190875"/>
        </p:xfrm>
        <a:graphic xmlns:a="http://schemas.openxmlformats.org/drawingml/2006/main">
          <a:graphicData uri="http://schemas.openxmlformats.org/drawingml/2006/table">
            <a:tbl>
              <a:tblPr/>
              <a:tblGrid>
                <a:gridCol w="5429250"/>
                <a:gridCol w="5429250"/>
              </a:tblGrid>
              <a:tr h="638175">
                <a:tc>
                  <a:txBody>
                    <a:bodyPr/>
                    <a:lstStyle/>
                    <a:p>
                      <a:r>
                        <a:rPr sz="1875" b="1">
                          <a:solidFill>
                            <a:srgbClr val="FFFFFF"/>
                          </a:solidFill>
                          <a:latin typeface="Calibri"/>
                          <a:ea typeface="Calibri"/>
                          <a:cs typeface="Calibri"/>
                        </a:rPr>
                        <a:t>Layer</a:t>
                      </a:r>
                    </a:p>
                  </a:txBody>
                  <a:tcPr marL="91440" marR="91440" marT="45720" marB="45720">
                    <a:solidFill>
                      <a:srgbClr val="132F43"/>
                    </a:solidFill>
                  </a:tcPr>
                </a:tc>
                <a:tc>
                  <a:txBody>
                    <a:bodyPr/>
                    <a:lstStyle/>
                    <a:p>
                      <a:r>
                        <a:rPr sz="1875" b="1">
                          <a:solidFill>
                            <a:srgbClr val="FFFFFF"/>
                          </a:solidFill>
                          <a:latin typeface="Calibri"/>
                          <a:ea typeface="Calibri"/>
                          <a:cs typeface="Calibri"/>
                        </a:rPr>
                        <a:t>Example permission</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Azure resource</a:t>
                      </a:r>
                    </a:p>
                  </a:txBody>
                  <a:tcPr marL="91440" marR="91440" marT="45720" marB="45720">
                    <a:solidFill>
                      <a:srgbClr val="F1F6F8"/>
                    </a:solidFill>
                  </a:tcPr>
                </a:tc>
                <a:tc>
                  <a:txBody>
                    <a:bodyPr/>
                    <a:lstStyle/>
                    <a:p>
                      <a:r>
                        <a:rPr sz="1875" b="0">
                          <a:solidFill>
                            <a:srgbClr val="132F43"/>
                          </a:solidFill>
                          <a:latin typeface="Calibri"/>
                          <a:ea typeface="Calibri"/>
                          <a:cs typeface="Calibri"/>
                        </a:rPr>
                        <a:t>Manage the workspace resource</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Storage data</a:t>
                      </a:r>
                    </a:p>
                  </a:txBody>
                  <a:tcPr marL="91440" marR="91440" marT="45720" marB="45720">
                    <a:solidFill>
                      <a:srgbClr val="FFFFFF"/>
                    </a:solidFill>
                  </a:tcPr>
                </a:tc>
                <a:tc>
                  <a:txBody>
                    <a:bodyPr/>
                    <a:lstStyle/>
                    <a:p>
                      <a:r>
                        <a:rPr sz="1875" b="0">
                          <a:solidFill>
                            <a:srgbClr val="132F43"/>
                          </a:solidFill>
                          <a:latin typeface="Calibri"/>
                          <a:ea typeface="Calibri"/>
                          <a:cs typeface="Calibri"/>
                        </a:rPr>
                        <a:t>Read or write blobs</a:t>
                      </a:r>
                    </a:p>
                  </a:txBody>
                  <a:tcPr marL="91440" marR="91440" marT="45720" marB="45720">
                    <a:solidFill>
                      <a:srgbClr val="FFFFFF"/>
                    </a:solidFill>
                  </a:tcPr>
                </a:tc>
              </a:tr>
              <a:tr h="638175">
                <a:tc>
                  <a:txBody>
                    <a:bodyPr/>
                    <a:lstStyle/>
                    <a:p>
                      <a:r>
                        <a:rPr sz="1875" b="0">
                          <a:solidFill>
                            <a:srgbClr val="132F43"/>
                          </a:solidFill>
                          <a:latin typeface="Calibri"/>
                          <a:ea typeface="Calibri"/>
                          <a:cs typeface="Calibri"/>
                        </a:rPr>
                        <a:t>Databricks compute</a:t>
                      </a:r>
                    </a:p>
                  </a:txBody>
                  <a:tcPr marL="91440" marR="91440" marT="45720" marB="45720">
                    <a:solidFill>
                      <a:srgbClr val="F1F6F8"/>
                    </a:solidFill>
                  </a:tcPr>
                </a:tc>
                <a:tc>
                  <a:txBody>
                    <a:bodyPr/>
                    <a:lstStyle/>
                    <a:p>
                      <a:r>
                        <a:rPr sz="1875" b="0">
                          <a:solidFill>
                            <a:srgbClr val="132F43"/>
                          </a:solidFill>
                          <a:latin typeface="Calibri"/>
                          <a:ea typeface="Calibri"/>
                          <a:cs typeface="Calibri"/>
                        </a:rPr>
                        <a:t>Attach to compute</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Unity Catalog</a:t>
                      </a:r>
                    </a:p>
                  </a:txBody>
                  <a:tcPr marL="91440" marR="91440" marT="45720" marB="45720">
                    <a:solidFill>
                      <a:srgbClr val="FFFFFF"/>
                    </a:solidFill>
                  </a:tcPr>
                </a:tc>
                <a:tc>
                  <a:txBody>
                    <a:bodyPr/>
                    <a:lstStyle/>
                    <a:p>
                      <a:r>
                        <a:rPr sz="1875" b="0">
                          <a:solidFill>
                            <a:srgbClr val="132F43"/>
                          </a:solidFill>
                          <a:latin typeface="Calibri"/>
                          <a:ea typeface="Calibri"/>
                          <a:cs typeface="Calibri"/>
                        </a:rPr>
                        <a:t>SELECT on a view</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35BBC81-BCFD-4056-AC2D-869D0118BBC9}"/>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A3856B71-459C-46C7-8F02-B8CCE65ACC32}"/>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25</a:t>
            </a:r>
          </a:p>
        </p:txBody>
      </p:sp>
    </p:spTree>
    <p:extLst>
      <p:ext uri="{BB962C8B-B14F-4D97-AF65-F5344CB8AC3E}">
        <p14:creationId xmlns:p14="http://schemas.microsoft.com/office/powerpoint/2010/main" val="4577258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80C246-A024-40F5-99F4-51A1473ED249}"/>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Least privilege</a:t>
            </a:r>
          </a:p>
        </p:txBody>
      </p:sp>
      <p:sp>
        <p:nvSpPr>
          <p:cNvPr id="2" name="">
            <a:extLst xmlns:a="http://schemas.openxmlformats.org/drawingml/2006/main">
              <a:ext uri="{FF2B5EF4-FFF2-40B4-BE49-F238E27FC236}">
                <a16:creationId xmlns:a16="http://schemas.microsoft.com/office/drawing/2014/main" id="{C18CA67C-F264-493B-80FE-A36E5E519D11}"/>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Give analysts access to the approved view.</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Review inherited catalog and schema privileges.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Use a non-owner account for denial tests.</a:t>
            </a:r>
          </a:p>
        </p:txBody>
      </p:sp>
      <p:sp>
        <p:nvSpPr>
          <p:cNvPr id="3" name="">
            <a:extLst xmlns:a="http://schemas.openxmlformats.org/drawingml/2006/main">
              <a:ext uri="{FF2B5EF4-FFF2-40B4-BE49-F238E27FC236}">
                <a16:creationId xmlns:a16="http://schemas.microsoft.com/office/drawing/2014/main" id="{91759053-34D6-47EF-B6BF-910B97E7F924}"/>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B8CC7BE6-7EE1-4F20-87CC-B090FE3B685C}"/>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26</a:t>
            </a:r>
          </a:p>
        </p:txBody>
      </p:sp>
    </p:spTree>
    <p:extLst>
      <p:ext uri="{BB962C8B-B14F-4D97-AF65-F5344CB8AC3E}">
        <p14:creationId xmlns:p14="http://schemas.microsoft.com/office/powerpoint/2010/main" val="2359172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369D70-D801-4458-9C64-FC516A3048C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The restricted view</a:t>
            </a:r>
          </a:p>
        </p:txBody>
      </p:sp>
      <p:sp>
        <p:nvSpPr>
          <p:cNvPr id="2" name="">
            <a:extLst xmlns:a="http://schemas.openxmlformats.org/drawingml/2006/main">
              <a:ext uri="{FF2B5EF4-FFF2-40B4-BE49-F238E27FC236}">
                <a16:creationId xmlns:a16="http://schemas.microsoft.com/office/drawing/2014/main" id="{F28CAED1-9829-4B29-B042-F63403F613ED}"/>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CASE expression chooses visible email values.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WHERE condition limits analyst rows to South.</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The base table remains restricted.</a:t>
            </a:r>
          </a:p>
        </p:txBody>
      </p:sp>
      <p:sp>
        <p:nvSpPr>
          <p:cNvPr id="3" name="">
            <a:extLst xmlns:a="http://schemas.openxmlformats.org/drawingml/2006/main">
              <a:ext uri="{FF2B5EF4-FFF2-40B4-BE49-F238E27FC236}">
                <a16:creationId xmlns:a16="http://schemas.microsoft.com/office/drawing/2014/main" id="{A3164622-B413-4492-8FDD-71A53FC0C092}"/>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7D778B9A-DD37-4F15-B111-E6020984137A}"/>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27</a:t>
            </a:r>
          </a:p>
        </p:txBody>
      </p:sp>
    </p:spTree>
    <p:extLst>
      <p:ext uri="{BB962C8B-B14F-4D97-AF65-F5344CB8AC3E}">
        <p14:creationId xmlns:p14="http://schemas.microsoft.com/office/powerpoint/2010/main" val="15122807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675905-A7A6-4C88-9E7D-6703CD8EF39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Two user test</a:t>
            </a:r>
          </a:p>
        </p:txBody>
      </p:sp>
      <p:graphicFrame>
        <p:nvGraphicFramePr>
          <p:cNvPr id="6" name=""/>
          <p:cNvGraphicFramePr/>
          <p:nvPr/>
        </p:nvGraphicFramePr>
        <p:xfrm>
          <a:off xmlns:a="http://schemas.openxmlformats.org/drawingml/2006/main" x="647700" y="1743075"/>
          <a:ext xmlns:a="http://schemas.openxmlformats.org/drawingml/2006/main" cx="10858500" cy="1914525"/>
        </p:xfrm>
        <a:graphic xmlns:a="http://schemas.openxmlformats.org/drawingml/2006/main">
          <a:graphicData uri="http://schemas.openxmlformats.org/drawingml/2006/table">
            <a:tbl>
              <a:tblPr/>
              <a:tblGrid>
                <a:gridCol w="2714625"/>
                <a:gridCol w="2714625"/>
                <a:gridCol w="2714625"/>
                <a:gridCol w="2714625"/>
              </a:tblGrid>
              <a:tr h="638175">
                <a:tc>
                  <a:txBody>
                    <a:bodyPr/>
                    <a:lstStyle/>
                    <a:p>
                      <a:r>
                        <a:rPr sz="1875" b="1">
                          <a:solidFill>
                            <a:srgbClr val="FFFFFF"/>
                          </a:solidFill>
                          <a:latin typeface="Calibri"/>
                          <a:ea typeface="Calibri"/>
                          <a:cs typeface="Calibri"/>
                        </a:rPr>
                        <a:t>User</a:t>
                      </a:r>
                    </a:p>
                  </a:txBody>
                  <a:tcPr marL="91440" marR="91440" marT="45720" marB="45720">
                    <a:solidFill>
                      <a:srgbClr val="132F43"/>
                    </a:solidFill>
                  </a:tcPr>
                </a:tc>
                <a:tc>
                  <a:txBody>
                    <a:bodyPr/>
                    <a:lstStyle/>
                    <a:p>
                      <a:r>
                        <a:rPr sz="1875" b="1">
                          <a:solidFill>
                            <a:srgbClr val="FFFFFF"/>
                          </a:solidFill>
                          <a:latin typeface="Calibri"/>
                          <a:ea typeface="Calibri"/>
                          <a:cs typeface="Calibri"/>
                        </a:rPr>
                        <a:t>Rows</a:t>
                      </a:r>
                    </a:p>
                  </a:txBody>
                  <a:tcPr marL="91440" marR="91440" marT="45720" marB="45720">
                    <a:solidFill>
                      <a:srgbClr val="132F43"/>
                    </a:solidFill>
                  </a:tcPr>
                </a:tc>
                <a:tc>
                  <a:txBody>
                    <a:bodyPr/>
                    <a:lstStyle/>
                    <a:p>
                      <a:r>
                        <a:rPr sz="1875" b="1">
                          <a:solidFill>
                            <a:srgbClr val="FFFFFF"/>
                          </a:solidFill>
                          <a:latin typeface="Calibri"/>
                          <a:ea typeface="Calibri"/>
                          <a:cs typeface="Calibri"/>
                        </a:rPr>
                        <a:t>Email</a:t>
                      </a:r>
                    </a:p>
                  </a:txBody>
                  <a:tcPr marL="91440" marR="91440" marT="45720" marB="45720">
                    <a:solidFill>
                      <a:srgbClr val="132F43"/>
                    </a:solidFill>
                  </a:tcPr>
                </a:tc>
                <a:tc>
                  <a:txBody>
                    <a:bodyPr/>
                    <a:lstStyle/>
                    <a:p>
                      <a:r>
                        <a:rPr sz="1875" b="1">
                          <a:solidFill>
                            <a:srgbClr val="FFFFFF"/>
                          </a:solidFill>
                          <a:latin typeface="Calibri"/>
                          <a:ea typeface="Calibri"/>
                          <a:cs typeface="Calibri"/>
                        </a:rPr>
                        <a:t>Base table</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Analyst</a:t>
                      </a:r>
                    </a:p>
                  </a:txBody>
                  <a:tcPr marL="91440" marR="91440" marT="45720" marB="45720">
                    <a:solidFill>
                      <a:srgbClr val="F1F6F8"/>
                    </a:solidFill>
                  </a:tcPr>
                </a:tc>
                <a:tc>
                  <a:txBody>
                    <a:bodyPr/>
                    <a:lstStyle/>
                    <a:p>
                      <a:r>
                        <a:rPr sz="1875" b="0">
                          <a:solidFill>
                            <a:srgbClr val="132F43"/>
                          </a:solidFill>
                          <a:latin typeface="Calibri"/>
                          <a:ea typeface="Calibri"/>
                          <a:cs typeface="Calibri"/>
                        </a:rPr>
                        <a:t>2</a:t>
                      </a:r>
                    </a:p>
                  </a:txBody>
                  <a:tcPr marL="91440" marR="91440" marT="45720" marB="45720">
                    <a:solidFill>
                      <a:srgbClr val="F1F6F8"/>
                    </a:solidFill>
                  </a:tcPr>
                </a:tc>
                <a:tc>
                  <a:txBody>
                    <a:bodyPr/>
                    <a:lstStyle/>
                    <a:p>
                      <a:r>
                        <a:rPr sz="1875" b="0">
                          <a:solidFill>
                            <a:srgbClr val="132F43"/>
                          </a:solidFill>
                          <a:latin typeface="Calibri"/>
                          <a:ea typeface="Calibri"/>
                          <a:cs typeface="Calibri"/>
                        </a:rPr>
                        <a:t>REDACTED</a:t>
                      </a:r>
                    </a:p>
                  </a:txBody>
                  <a:tcPr marL="91440" marR="91440" marT="45720" marB="45720">
                    <a:solidFill>
                      <a:srgbClr val="F1F6F8"/>
                    </a:solidFill>
                  </a:tcPr>
                </a:tc>
                <a:tc>
                  <a:txBody>
                    <a:bodyPr/>
                    <a:lstStyle/>
                    <a:p>
                      <a:r>
                        <a:rPr sz="1875" b="0">
                          <a:solidFill>
                            <a:srgbClr val="132F43"/>
                          </a:solidFill>
                          <a:latin typeface="Calibri"/>
                          <a:ea typeface="Calibri"/>
                          <a:cs typeface="Calibri"/>
                        </a:rPr>
                        <a:t>Denied</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Privileged</a:t>
                      </a:r>
                    </a:p>
                  </a:txBody>
                  <a:tcPr marL="91440" marR="91440" marT="45720" marB="45720">
                    <a:solidFill>
                      <a:srgbClr val="FFFFFF"/>
                    </a:solidFill>
                  </a:tcPr>
                </a:tc>
                <a:tc>
                  <a:txBody>
                    <a:bodyPr/>
                    <a:lstStyle/>
                    <a:p>
                      <a:r>
                        <a:rPr sz="1875" b="0">
                          <a:solidFill>
                            <a:srgbClr val="132F43"/>
                          </a:solidFill>
                          <a:latin typeface="Calibri"/>
                          <a:ea typeface="Calibri"/>
                          <a:cs typeface="Calibri"/>
                        </a:rPr>
                        <a:t>3</a:t>
                      </a:r>
                    </a:p>
                  </a:txBody>
                  <a:tcPr marL="91440" marR="91440" marT="45720" marB="45720">
                    <a:solidFill>
                      <a:srgbClr val="FFFFFF"/>
                    </a:solidFill>
                  </a:tcPr>
                </a:tc>
                <a:tc>
                  <a:txBody>
                    <a:bodyPr/>
                    <a:lstStyle/>
                    <a:p>
                      <a:r>
                        <a:rPr sz="1875" b="0">
                          <a:solidFill>
                            <a:srgbClr val="132F43"/>
                          </a:solidFill>
                          <a:latin typeface="Calibri"/>
                          <a:ea typeface="Calibri"/>
                          <a:cs typeface="Calibri"/>
                        </a:rPr>
                        <a:t>Fake email</a:t>
                      </a:r>
                    </a:p>
                  </a:txBody>
                  <a:tcPr marL="91440" marR="91440" marT="45720" marB="45720">
                    <a:solidFill>
                      <a:srgbClr val="FFFFFF"/>
                    </a:solidFill>
                  </a:tcPr>
                </a:tc>
                <a:tc>
                  <a:txBody>
                    <a:bodyPr/>
                    <a:lstStyle/>
                    <a:p>
                      <a:r>
                        <a:rPr sz="1875" b="0">
                          <a:solidFill>
                            <a:srgbClr val="132F43"/>
                          </a:solidFill>
                          <a:latin typeface="Calibri"/>
                          <a:ea typeface="Calibri"/>
                          <a:cs typeface="Calibri"/>
                        </a:rPr>
                        <a:t>Denied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40605F8-311F-4186-956C-BFC0ED339F65}"/>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8AA6F81C-1856-4353-8510-31F24D9B827A}"/>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28</a:t>
            </a:r>
          </a:p>
        </p:txBody>
      </p:sp>
    </p:spTree>
    <p:extLst>
      <p:ext uri="{BB962C8B-B14F-4D97-AF65-F5344CB8AC3E}">
        <p14:creationId xmlns:p14="http://schemas.microsoft.com/office/powerpoint/2010/main" val="51715291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CCA9E3-FA30-4187-B9F8-8DE90D6BFBF2}"/>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Row filters and column masks</a:t>
            </a:r>
          </a:p>
        </p:txBody>
      </p:sp>
      <p:sp>
        <p:nvSpPr>
          <p:cNvPr id="2" name="">
            <a:extLst xmlns:a="http://schemas.openxmlformats.org/drawingml/2006/main">
              <a:ext uri="{FF2B5EF4-FFF2-40B4-BE49-F238E27FC236}">
                <a16:creationId xmlns:a16="http://schemas.microsoft.com/office/drawing/2014/main" id="{BF7F6D71-8C35-4DBA-A5A5-B9562BE78691}"/>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Row filtering chooses visible records.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Column masking changes visible field values.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Verify feature requirements for the actual runtime.</a:t>
            </a:r>
          </a:p>
        </p:txBody>
      </p:sp>
      <p:sp>
        <p:nvSpPr>
          <p:cNvPr id="3" name="">
            <a:extLst xmlns:a="http://schemas.openxmlformats.org/drawingml/2006/main">
              <a:ext uri="{FF2B5EF4-FFF2-40B4-BE49-F238E27FC236}">
                <a16:creationId xmlns:a16="http://schemas.microsoft.com/office/drawing/2014/main" id="{461F5F2C-CA1A-4C88-8950-E3496356EB3F}"/>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A9D2CBC6-9340-4988-AD94-055B7D0D025E}"/>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29</a:t>
            </a:r>
          </a:p>
        </p:txBody>
      </p:sp>
    </p:spTree>
    <p:extLst>
      <p:ext uri="{BB962C8B-B14F-4D97-AF65-F5344CB8AC3E}">
        <p14:creationId xmlns:p14="http://schemas.microsoft.com/office/powerpoint/2010/main" val="40234973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CDC5F3-2828-459E-9C17-65B822B3323E}"/>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Identities and secrets</a:t>
            </a:r>
          </a:p>
        </p:txBody>
      </p:sp>
      <p:sp>
        <p:nvSpPr>
          <p:cNvPr id="2" name="">
            <a:extLst xmlns:a="http://schemas.openxmlformats.org/drawingml/2006/main">
              <a:ext uri="{FF2B5EF4-FFF2-40B4-BE49-F238E27FC236}">
                <a16:creationId xmlns:a16="http://schemas.microsoft.com/office/drawing/2014/main" id="{4A4AF4A4-29C3-4F4E-8BD0-B16716BD3E68}"/>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ADF, users and storage connectors have different identities.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Prefer managed identity where supported.</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Never print secrets or rely solely on redaction.</a:t>
            </a:r>
          </a:p>
        </p:txBody>
      </p:sp>
      <p:sp>
        <p:nvSpPr>
          <p:cNvPr id="3" name="">
            <a:extLst xmlns:a="http://schemas.openxmlformats.org/drawingml/2006/main">
              <a:ext uri="{FF2B5EF4-FFF2-40B4-BE49-F238E27FC236}">
                <a16:creationId xmlns:a16="http://schemas.microsoft.com/office/drawing/2014/main" id="{6AD7829C-13AE-4E57-A823-A7988B431A63}"/>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ADA65FE6-F357-40E0-B06A-59237152E7AB}"/>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30</a:t>
            </a:r>
          </a:p>
        </p:txBody>
      </p:sp>
    </p:spTree>
    <p:extLst>
      <p:ext uri="{BB962C8B-B14F-4D97-AF65-F5344CB8AC3E}">
        <p14:creationId xmlns:p14="http://schemas.microsoft.com/office/powerpoint/2010/main" val="134492996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90D217-BA2E-4055-9850-0A3A33A16085}"/>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Network and encryption</a:t>
            </a:r>
          </a:p>
        </p:txBody>
      </p:sp>
      <p:sp>
        <p:nvSpPr>
          <p:cNvPr id="2" name="">
            <a:extLst xmlns:a="http://schemas.openxmlformats.org/drawingml/2006/main">
              <a:ext uri="{FF2B5EF4-FFF2-40B4-BE49-F238E27FC236}">
                <a16:creationId xmlns:a16="http://schemas.microsoft.com/office/drawing/2014/main" id="{4E3128DD-F5B2-408F-B966-39AD253C935A}"/>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Network reachability and permission are separate checks.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Private endpoints also need DNS and routing.</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key ownership and recovery responsibilities.</a:t>
            </a:r>
          </a:p>
        </p:txBody>
      </p:sp>
      <p:sp>
        <p:nvSpPr>
          <p:cNvPr id="3" name="">
            <a:extLst xmlns:a="http://schemas.openxmlformats.org/drawingml/2006/main">
              <a:ext uri="{FF2B5EF4-FFF2-40B4-BE49-F238E27FC236}">
                <a16:creationId xmlns:a16="http://schemas.microsoft.com/office/drawing/2014/main" id="{98882991-E8E8-4AA8-8F55-AC7475951A61}"/>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DD35F9F-A3EF-4EB6-A841-96D4C939DF79}"/>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31</a:t>
            </a:r>
          </a:p>
        </p:txBody>
      </p:sp>
    </p:spTree>
    <p:extLst>
      <p:ext uri="{BB962C8B-B14F-4D97-AF65-F5344CB8AC3E}">
        <p14:creationId xmlns:p14="http://schemas.microsoft.com/office/powerpoint/2010/main" val="129556968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854F32-81FF-470A-93A6-6E8013A5F077}"/>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Audit evidence</a:t>
            </a:r>
          </a:p>
        </p:txBody>
      </p:sp>
      <p:sp>
        <p:nvSpPr>
          <p:cNvPr id="2" name="">
            <a:extLst xmlns:a="http://schemas.openxmlformats.org/drawingml/2006/main">
              <a:ext uri="{FF2B5EF4-FFF2-40B4-BE49-F238E27FC236}">
                <a16:creationId xmlns:a16="http://schemas.microsoft.com/office/drawing/2014/main" id="{4539779C-8681-4596-BA4F-17CD862A32F5}"/>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Identify the actor, service and action.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Check scope and delay before interpreting empty results.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Restrict access to identity-rich logs.</a:t>
            </a:r>
          </a:p>
        </p:txBody>
      </p:sp>
      <p:sp>
        <p:nvSpPr>
          <p:cNvPr id="3" name="">
            <a:extLst xmlns:a="http://schemas.openxmlformats.org/drawingml/2006/main">
              <a:ext uri="{FF2B5EF4-FFF2-40B4-BE49-F238E27FC236}">
                <a16:creationId xmlns:a16="http://schemas.microsoft.com/office/drawing/2014/main" id="{B8D178CA-D19C-4D7E-859F-7D5C95F18676}"/>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A0CB18F-083D-4679-9562-F6CE83F8E05E}"/>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32</a:t>
            </a:r>
          </a:p>
        </p:txBody>
      </p:sp>
    </p:spTree>
    <p:extLst>
      <p:ext uri="{BB962C8B-B14F-4D97-AF65-F5344CB8AC3E}">
        <p14:creationId xmlns:p14="http://schemas.microsoft.com/office/powerpoint/2010/main" val="206314619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0D1AC3-4712-4C21-880D-4E5AAA7B461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Privacy techniques</a:t>
            </a:r>
          </a:p>
        </p:txBody>
      </p:sp>
      <p:graphicFrame>
        <p:nvGraphicFramePr>
          <p:cNvPr id="6" name=""/>
          <p:cNvGraphicFramePr/>
          <p:nvPr/>
        </p:nvGraphicFramePr>
        <p:xfrm>
          <a:off xmlns:a="http://schemas.openxmlformats.org/drawingml/2006/main" x="647700" y="1743075"/>
          <a:ext xmlns:a="http://schemas.openxmlformats.org/drawingml/2006/main" cx="10858500" cy="3190875"/>
        </p:xfrm>
        <a:graphic xmlns:a="http://schemas.openxmlformats.org/drawingml/2006/main">
          <a:graphicData uri="http://schemas.openxmlformats.org/drawingml/2006/table">
            <a:tbl>
              <a:tblPr/>
              <a:tblGrid>
                <a:gridCol w="5429250"/>
                <a:gridCol w="5429250"/>
              </a:tblGrid>
              <a:tr h="638175">
                <a:tc>
                  <a:txBody>
                    <a:bodyPr/>
                    <a:lstStyle/>
                    <a:p>
                      <a:r>
                        <a:rPr sz="1875" b="1">
                          <a:solidFill>
                            <a:srgbClr val="FFFFFF"/>
                          </a:solidFill>
                          <a:latin typeface="Calibri"/>
                          <a:ea typeface="Calibri"/>
                          <a:cs typeface="Calibri"/>
                        </a:rPr>
                        <a:t>Technique</a:t>
                      </a:r>
                    </a:p>
                  </a:txBody>
                  <a:tcPr marL="91440" marR="91440" marT="45720" marB="45720">
                    <a:solidFill>
                      <a:srgbClr val="132F43"/>
                    </a:solidFill>
                  </a:tcPr>
                </a:tc>
                <a:tc>
                  <a:txBody>
                    <a:bodyPr/>
                    <a:lstStyle/>
                    <a:p>
                      <a:r>
                        <a:rPr sz="1875" b="1">
                          <a:solidFill>
                            <a:srgbClr val="FFFFFF"/>
                          </a:solidFill>
                          <a:latin typeface="Calibri"/>
                          <a:ea typeface="Calibri"/>
                          <a:cs typeface="Calibri"/>
                        </a:rPr>
                        <a:t>Simple example</a:t>
                      </a:r>
                    </a:p>
                  </a:txBody>
                  <a:tcPr marL="91440" marR="91440" marT="45720" marB="45720">
                    <a:solidFill>
                      <a:srgbClr val="132F43"/>
                    </a:solidFill>
                  </a:tcPr>
                </a:tc>
              </a:tr>
              <a:tr h="638175">
                <a:tc>
                  <a:txBody>
                    <a:bodyPr/>
                    <a:lstStyle/>
                    <a:p>
                      <a:r>
                        <a:rPr sz="1875" b="0">
                          <a:solidFill>
                            <a:srgbClr val="132F43"/>
                          </a:solidFill>
                          <a:latin typeface="Calibri"/>
                          <a:ea typeface="Calibri"/>
                          <a:cs typeface="Calibri"/>
                        </a:rPr>
                        <a:t>Masking</a:t>
                      </a:r>
                    </a:p>
                  </a:txBody>
                  <a:tcPr marL="91440" marR="91440" marT="45720" marB="45720">
                    <a:solidFill>
                      <a:srgbClr val="F1F6F8"/>
                    </a:solidFill>
                  </a:tcPr>
                </a:tc>
                <a:tc>
                  <a:txBody>
                    <a:bodyPr/>
                    <a:lstStyle/>
                    <a:p>
                      <a:r>
                        <a:rPr sz="1875" b="0">
                          <a:solidFill>
                            <a:srgbClr val="132F43"/>
                          </a:solidFill>
                          <a:latin typeface="Calibri"/>
                          <a:ea typeface="Calibri"/>
                          <a:cs typeface="Calibri"/>
                        </a:rPr>
                        <a:t>Email becomes REDACTED</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Pseudonymization</a:t>
                      </a:r>
                    </a:p>
                  </a:txBody>
                  <a:tcPr marL="91440" marR="91440" marT="45720" marB="45720">
                    <a:solidFill>
                      <a:srgbClr val="FFFFFF"/>
                    </a:solidFill>
                  </a:tcPr>
                </a:tc>
                <a:tc>
                  <a:txBody>
                    <a:bodyPr/>
                    <a:lstStyle/>
                    <a:p>
                      <a:r>
                        <a:rPr sz="1875" b="0">
                          <a:solidFill>
                            <a:srgbClr val="132F43"/>
                          </a:solidFill>
                          <a:latin typeface="Calibri"/>
                          <a:ea typeface="Calibri"/>
                          <a:cs typeface="Calibri"/>
                        </a:rPr>
                        <a:t>Customer ID becomes a token</a:t>
                      </a:r>
                    </a:p>
                  </a:txBody>
                  <a:tcPr marL="91440" marR="91440" marT="45720" marB="45720">
                    <a:solidFill>
                      <a:srgbClr val="FFFFFF"/>
                    </a:solidFill>
                  </a:tcPr>
                </a:tc>
              </a:tr>
              <a:tr h="638175">
                <a:tc>
                  <a:txBody>
                    <a:bodyPr/>
                    <a:lstStyle/>
                    <a:p>
                      <a:r>
                        <a:rPr sz="1875" b="0">
                          <a:solidFill>
                            <a:srgbClr val="132F43"/>
                          </a:solidFill>
                          <a:latin typeface="Calibri"/>
                          <a:ea typeface="Calibri"/>
                          <a:cs typeface="Calibri"/>
                        </a:rPr>
                        <a:t>Generalization</a:t>
                      </a:r>
                    </a:p>
                  </a:txBody>
                  <a:tcPr marL="91440" marR="91440" marT="45720" marB="45720">
                    <a:solidFill>
                      <a:srgbClr val="F1F6F8"/>
                    </a:solidFill>
                  </a:tcPr>
                </a:tc>
                <a:tc>
                  <a:txBody>
                    <a:bodyPr/>
                    <a:lstStyle/>
                    <a:p>
                      <a:r>
                        <a:rPr sz="1875" b="0">
                          <a:solidFill>
                            <a:srgbClr val="132F43"/>
                          </a:solidFill>
                          <a:latin typeface="Calibri"/>
                          <a:ea typeface="Calibri"/>
                          <a:cs typeface="Calibri"/>
                        </a:rPr>
                        <a:t>Age becomes a decade band</a:t>
                      </a:r>
                    </a:p>
                  </a:txBody>
                  <a:tcPr marL="91440" marR="91440" marT="45720" marB="45720">
                    <a:solidFill>
                      <a:srgbClr val="F1F6F8"/>
                    </a:solidFill>
                  </a:tcPr>
                </a:tc>
              </a:tr>
              <a:tr h="638175">
                <a:tc>
                  <a:txBody>
                    <a:bodyPr/>
                    <a:lstStyle/>
                    <a:p>
                      <a:r>
                        <a:rPr sz="1875" b="0">
                          <a:solidFill>
                            <a:srgbClr val="132F43"/>
                          </a:solidFill>
                          <a:latin typeface="Calibri"/>
                          <a:ea typeface="Calibri"/>
                          <a:cs typeface="Calibri"/>
                        </a:rPr>
                        <a:t>Aggregation</a:t>
                      </a:r>
                    </a:p>
                  </a:txBody>
                  <a:tcPr marL="91440" marR="91440" marT="45720" marB="45720">
                    <a:solidFill>
                      <a:srgbClr val="FFFFFF"/>
                    </a:solidFill>
                  </a:tcPr>
                </a:tc>
                <a:tc>
                  <a:txBody>
                    <a:bodyPr/>
                    <a:lstStyle/>
                    <a:p>
                      <a:r>
                        <a:rPr sz="1875" b="0">
                          <a:solidFill>
                            <a:srgbClr val="132F43"/>
                          </a:solidFill>
                          <a:latin typeface="Calibri"/>
                          <a:ea typeface="Calibri"/>
                          <a:cs typeface="Calibri"/>
                        </a:rPr>
                        <a:t>Customer count by city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DD9F1C5-9C6B-427D-BF46-234EF27CEC51}"/>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7C285BF-7C53-45A4-9791-7F97613B6788}"/>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33</a:t>
            </a:r>
          </a:p>
        </p:txBody>
      </p:sp>
    </p:spTree>
    <p:extLst>
      <p:ext uri="{BB962C8B-B14F-4D97-AF65-F5344CB8AC3E}">
        <p14:creationId xmlns:p14="http://schemas.microsoft.com/office/powerpoint/2010/main" val="168925226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D515CA-E14B-463B-BE1D-CD3A2E4DC28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Hashing limitations</a:t>
            </a:r>
          </a:p>
        </p:txBody>
      </p:sp>
      <p:sp>
        <p:nvSpPr>
          <p:cNvPr id="2" name="">
            <a:extLst xmlns:a="http://schemas.openxmlformats.org/drawingml/2006/main">
              <a:ext uri="{FF2B5EF4-FFF2-40B4-BE49-F238E27FC236}">
                <a16:creationId xmlns:a16="http://schemas.microsoft.com/office/drawing/2014/main" id="{BB477A59-48BF-472D-A28C-AB42D64E6489}"/>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stable hash can still link records.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Predictable inputs can be guessed and hashed.</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hash alone is not proof of anonymity.</a:t>
            </a:r>
          </a:p>
        </p:txBody>
      </p:sp>
      <p:sp>
        <p:nvSpPr>
          <p:cNvPr id="3" name="">
            <a:extLst xmlns:a="http://schemas.openxmlformats.org/drawingml/2006/main">
              <a:ext uri="{FF2B5EF4-FFF2-40B4-BE49-F238E27FC236}">
                <a16:creationId xmlns:a16="http://schemas.microsoft.com/office/drawing/2014/main" id="{B63561DC-0F84-4A9B-9303-A4E0B2D46846}"/>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92AD4A6A-95D5-4998-80FF-D7D8A0FF03FB}"/>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34</a:t>
            </a:r>
          </a:p>
        </p:txBody>
      </p:sp>
    </p:spTree>
    <p:extLst>
      <p:ext uri="{BB962C8B-B14F-4D97-AF65-F5344CB8AC3E}">
        <p14:creationId xmlns:p14="http://schemas.microsoft.com/office/powerpoint/2010/main" val="20787155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E08B2E-DE42-43C0-A531-81636616E94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Anonymization assessment</a:t>
            </a:r>
          </a:p>
        </p:txBody>
      </p:sp>
      <p:sp>
        <p:nvSpPr>
          <p:cNvPr id="2" name="">
            <a:extLst xmlns:a="http://schemas.openxmlformats.org/drawingml/2006/main">
              <a:ext uri="{FF2B5EF4-FFF2-40B4-BE49-F238E27FC236}">
                <a16:creationId xmlns:a16="http://schemas.microsoft.com/office/drawing/2014/main" id="{62F22214-5D8F-4CFC-AC43-72B1BCADA544}"/>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Removing names can leave identifying combinations.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Small groups may reveal one person.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Assess reidentification risk before claiming anonymity.</a:t>
            </a:r>
          </a:p>
        </p:txBody>
      </p:sp>
      <p:sp>
        <p:nvSpPr>
          <p:cNvPr id="3" name="">
            <a:extLst xmlns:a="http://schemas.openxmlformats.org/drawingml/2006/main">
              <a:ext uri="{FF2B5EF4-FFF2-40B4-BE49-F238E27FC236}">
                <a16:creationId xmlns:a16="http://schemas.microsoft.com/office/drawing/2014/main" id="{AAD96524-A166-42BE-9D4B-51071D60C802}"/>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F51B104-EB94-41CD-863A-D8B238B3FEF0}"/>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35</a:t>
            </a:r>
          </a:p>
        </p:txBody>
      </p:sp>
    </p:spTree>
    <p:extLst>
      <p:ext uri="{BB962C8B-B14F-4D97-AF65-F5344CB8AC3E}">
        <p14:creationId xmlns:p14="http://schemas.microsoft.com/office/powerpoint/2010/main" val="182801047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316714-55EB-4191-861F-E484FCF18FA5}"/>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GDPR engineering support</a:t>
            </a:r>
          </a:p>
        </p:txBody>
      </p:sp>
      <p:sp>
        <p:nvSpPr>
          <p:cNvPr id="2" name="">
            <a:extLst xmlns:a="http://schemas.openxmlformats.org/drawingml/2006/main">
              <a:ext uri="{FF2B5EF4-FFF2-40B4-BE49-F238E27FC236}">
                <a16:creationId xmlns:a16="http://schemas.microsoft.com/office/drawing/2014/main" id="{D2DE988C-C834-48B8-91FC-AC0459F673E5}"/>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Collect only the data needed for the purpose.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Restrict access and follow approved retention.</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Support applicable rights through verified processes.</a:t>
            </a:r>
          </a:p>
        </p:txBody>
      </p:sp>
      <p:sp>
        <p:nvSpPr>
          <p:cNvPr id="3" name="">
            <a:extLst xmlns:a="http://schemas.openxmlformats.org/drawingml/2006/main">
              <a:ext uri="{FF2B5EF4-FFF2-40B4-BE49-F238E27FC236}">
                <a16:creationId xmlns:a16="http://schemas.microsoft.com/office/drawing/2014/main" id="{47D30705-6DD3-4181-97FF-659AC92C0790}"/>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3A01E9B-263A-4F09-9261-AFF8BFB88714}"/>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36</a:t>
            </a:r>
          </a:p>
        </p:txBody>
      </p:sp>
    </p:spTree>
    <p:extLst>
      <p:ext uri="{BB962C8B-B14F-4D97-AF65-F5344CB8AC3E}">
        <p14:creationId xmlns:p14="http://schemas.microsoft.com/office/powerpoint/2010/main" val="152940175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491F6D-FF3F-48FD-833A-AC0E07E39FF4}"/>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CCPA engineering support</a:t>
            </a:r>
          </a:p>
        </p:txBody>
      </p:sp>
      <p:sp>
        <p:nvSpPr>
          <p:cNvPr id="2" name="">
            <a:extLst xmlns:a="http://schemas.openxmlformats.org/drawingml/2006/main">
              <a:ext uri="{FF2B5EF4-FFF2-40B4-BE49-F238E27FC236}">
                <a16:creationId xmlns:a16="http://schemas.microsoft.com/office/drawing/2014/main" id="{96EC7220-0010-4FE6-B873-1F774616D2A8}"/>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Support applicable access, correction and deletion requests.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Respect relevant sale or sharing opt-out requirements.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Record decisions and approved exceptions.</a:t>
            </a:r>
          </a:p>
        </p:txBody>
      </p:sp>
      <p:sp>
        <p:nvSpPr>
          <p:cNvPr id="3" name="">
            <a:extLst xmlns:a="http://schemas.openxmlformats.org/drawingml/2006/main">
              <a:ext uri="{FF2B5EF4-FFF2-40B4-BE49-F238E27FC236}">
                <a16:creationId xmlns:a16="http://schemas.microsoft.com/office/drawing/2014/main" id="{21D7C8F2-5EB6-4D6B-8D29-04B53068604F}"/>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E5C8F5E1-7A04-4594-88AE-1D71E46F456D}"/>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37</a:t>
            </a:r>
          </a:p>
        </p:txBody>
      </p:sp>
    </p:spTree>
    <p:extLst>
      <p:ext uri="{BB962C8B-B14F-4D97-AF65-F5344CB8AC3E}">
        <p14:creationId xmlns:p14="http://schemas.microsoft.com/office/powerpoint/2010/main" val="2462014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52B3D3-005B-4BB8-9C19-EB8FCA58E5AF}"/>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The deletion exercise</a:t>
            </a:r>
          </a:p>
        </p:txBody>
      </p:sp>
      <p:sp>
        <p:nvSpPr>
          <p:cNvPr id="2" name="">
            <a:extLst xmlns:a="http://schemas.openxmlformats.org/drawingml/2006/main">
              <a:ext uri="{FF2B5EF4-FFF2-40B4-BE49-F238E27FC236}">
                <a16:creationId xmlns:a16="http://schemas.microsoft.com/office/drawing/2014/main" id="{88168DC6-C2EF-41C6-A1A7-8959E2E25BD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Delete fake C002 from one disposable table.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Verify absence from its current snapshot.</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Trace source files, history and downstream copies separately.</a:t>
            </a:r>
          </a:p>
        </p:txBody>
      </p:sp>
      <p:sp>
        <p:nvSpPr>
          <p:cNvPr id="3" name="">
            <a:extLst xmlns:a="http://schemas.openxmlformats.org/drawingml/2006/main">
              <a:ext uri="{FF2B5EF4-FFF2-40B4-BE49-F238E27FC236}">
                <a16:creationId xmlns:a16="http://schemas.microsoft.com/office/drawing/2014/main" id="{A2774533-9B14-4277-94A7-B61E0C247E7F}"/>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27E20294-49E1-4701-AA1D-724C7C232EC3}"/>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38</a:t>
            </a:r>
          </a:p>
        </p:txBody>
      </p:sp>
    </p:spTree>
    <p:extLst>
      <p:ext uri="{BB962C8B-B14F-4D97-AF65-F5344CB8AC3E}">
        <p14:creationId xmlns:p14="http://schemas.microsoft.com/office/powerpoint/2010/main" val="129916958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E7B99D-19EC-42F3-9C42-549EFEC0C39C}"/>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Retention and physical removal</a:t>
            </a:r>
          </a:p>
        </p:txBody>
      </p:sp>
      <p:sp>
        <p:nvSpPr>
          <p:cNvPr id="2" name="">
            <a:extLst xmlns:a="http://schemas.openxmlformats.org/drawingml/2006/main">
              <a:ext uri="{FF2B5EF4-FFF2-40B4-BE49-F238E27FC236}">
                <a16:creationId xmlns:a16="http://schemas.microsoft.com/office/drawing/2014/main" id="{86FA5077-8352-4CF9-A903-B75E77717CE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A logical DELETE can leave retained data files.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Follow approved maintenance and backup lifecycles.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Keep retention safety checks enabled.</a:t>
            </a:r>
          </a:p>
        </p:txBody>
      </p:sp>
      <p:sp>
        <p:nvSpPr>
          <p:cNvPr id="3" name="">
            <a:extLst xmlns:a="http://schemas.openxmlformats.org/drawingml/2006/main">
              <a:ext uri="{FF2B5EF4-FFF2-40B4-BE49-F238E27FC236}">
                <a16:creationId xmlns:a16="http://schemas.microsoft.com/office/drawing/2014/main" id="{ECF8F1B5-8AA9-40CB-A824-AC93A1917FBE}"/>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F0ABA736-172C-42C0-A870-5F9B37CD2531}"/>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39</a:t>
            </a:r>
          </a:p>
        </p:txBody>
      </p:sp>
    </p:spTree>
    <p:extLst>
      <p:ext uri="{BB962C8B-B14F-4D97-AF65-F5344CB8AC3E}">
        <p14:creationId xmlns:p14="http://schemas.microsoft.com/office/powerpoint/2010/main" val="199309170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0C68D1-AA6D-4FAE-AE52-8B1CEDC60356}"/>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ADF integration check</a:t>
            </a:r>
          </a:p>
        </p:txBody>
      </p:sp>
      <p:sp>
        <p:nvSpPr>
          <p:cNvPr id="2" name="">
            <a:extLst xmlns:a="http://schemas.openxmlformats.org/drawingml/2006/main">
              <a:ext uri="{FF2B5EF4-FFF2-40B4-BE49-F238E27FC236}">
                <a16:creationId xmlns:a16="http://schemas.microsoft.com/office/drawing/2014/main" id="{D3D11DF3-D63E-4536-A71A-F127E62DB009}"/>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Clone the Day 21 pipeline for Day 22.</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Verify the automation identity permissions.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Compare output after the first run and the rerun.</a:t>
            </a:r>
          </a:p>
        </p:txBody>
      </p:sp>
      <p:sp>
        <p:nvSpPr>
          <p:cNvPr id="3" name="">
            <a:extLst xmlns:a="http://schemas.openxmlformats.org/drawingml/2006/main">
              <a:ext uri="{FF2B5EF4-FFF2-40B4-BE49-F238E27FC236}">
                <a16:creationId xmlns:a16="http://schemas.microsoft.com/office/drawing/2014/main" id="{AD3D5EBA-4B19-426B-BAD5-E551FC09540B}"/>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D7689D19-017D-491B-AC7A-1203B9D4F257}"/>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40</a:t>
            </a:r>
          </a:p>
        </p:txBody>
      </p:sp>
    </p:spTree>
    <p:extLst>
      <p:ext uri="{BB962C8B-B14F-4D97-AF65-F5344CB8AC3E}">
        <p14:creationId xmlns:p14="http://schemas.microsoft.com/office/powerpoint/2010/main" val="123570761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4BD23E-0CC6-4942-8433-9F812D541560}"/>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Assessment evidence</a:t>
            </a:r>
          </a:p>
        </p:txBody>
      </p:sp>
      <p:sp>
        <p:nvSpPr>
          <p:cNvPr id="2" name="">
            <a:extLst xmlns:a="http://schemas.openxmlformats.org/drawingml/2006/main">
              <a:ext uri="{FF2B5EF4-FFF2-40B4-BE49-F238E27FC236}">
                <a16:creationId xmlns:a16="http://schemas.microsoft.com/office/drawing/2014/main" id="{D6EC7529-2E3C-45BB-A959-427F247DC03E}"/>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Validated ETL and ELT results.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Measured performance and cost observations.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Successful restricted-view and denied-base tests.</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Privacy request scope and remaining copies.</a:t>
            </a:r>
          </a:p>
        </p:txBody>
      </p:sp>
      <p:sp>
        <p:nvSpPr>
          <p:cNvPr id="3" name="">
            <a:extLst xmlns:a="http://schemas.openxmlformats.org/drawingml/2006/main">
              <a:ext uri="{FF2B5EF4-FFF2-40B4-BE49-F238E27FC236}">
                <a16:creationId xmlns:a16="http://schemas.microsoft.com/office/drawing/2014/main" id="{866ABFAA-4F8E-42AC-888B-3A44361DB979}"/>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13E492E3-E3D2-484E-86FB-3FFB9784E9F1}"/>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41</a:t>
            </a:r>
          </a:p>
        </p:txBody>
      </p:sp>
    </p:spTree>
    <p:extLst>
      <p:ext uri="{BB962C8B-B14F-4D97-AF65-F5344CB8AC3E}">
        <p14:creationId xmlns:p14="http://schemas.microsoft.com/office/powerpoint/2010/main" val="72317418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08D80C-6B43-4548-966C-2460092CFAB7}"/>
              </a:ext>
            </a:extLst>
          </p:cNvPr>
          <p:cNvSpPr>
            <a:spLocks xmlns:a="http://schemas.openxmlformats.org/drawingml/2006/main" noGrp="1"/>
          </p:cNvSpPr>
          <p:nvPr/>
        </p:nvSpPr>
        <p:spPr>
          <a:xfrm xmlns:a="http://schemas.openxmlformats.org/drawingml/2006/main">
            <a:off x="609600" y="42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3"/>
                </a:solidFill>
                <a:latin typeface="Calibri"/>
                <a:ea typeface="Calibri"/>
                <a:cs typeface="Calibri"/>
              </a:defRPr>
            </a:pPr>
            <a:r>
              <a:rPr sz="3150" b="1">
                <a:solidFill>
                  <a:srgbClr val="132F43"/>
                </a:solidFill>
                <a:latin typeface="Calibri"/>
                <a:ea typeface="Calibri"/>
                <a:cs typeface="Calibri"/>
              </a:rPr>
              <a:t>Classroom review</a:t>
            </a:r>
          </a:p>
        </p:txBody>
      </p:sp>
      <p:sp>
        <p:nvSpPr>
          <p:cNvPr id="2" name="">
            <a:extLst xmlns:a="http://schemas.openxmlformats.org/drawingml/2006/main">
              <a:ext uri="{FF2B5EF4-FFF2-40B4-BE49-F238E27FC236}">
                <a16:creationId xmlns:a16="http://schemas.microsoft.com/office/drawing/2014/main" id="{65D8FF30-BE03-4CC5-923F-0260300799C3}"/>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Why might more workers fail to help?</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Why does a masked display not prove access control?</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Why can a deleted record still exist elsewhere?</a:t>
            </a:r>
          </a:p>
          <a:p xmlns:a="http://schemas.openxmlformats.org/drawingml/2006/main">
            <a:r>
              <a:t/>
            </a:r>
          </a:p>
          <a:p xmlns:a="http://schemas.openxmlformats.org/drawingml/2006/main">
            <a:pPr>
              <a:defRPr sz="2175" b="0">
                <a:solidFill>
                  <a:srgbClr val="132F43"/>
                </a:solidFill>
                <a:latin typeface="Calibri"/>
                <a:ea typeface="Calibri"/>
                <a:cs typeface="Calibri"/>
              </a:defRPr>
            </a:pPr>
            <a:r>
              <a:rPr sz="2175" b="0">
                <a:solidFill>
                  <a:srgbClr val="132F43"/>
                </a:solidFill>
                <a:latin typeface="Calibri"/>
                <a:ea typeface="Calibri"/>
                <a:cs typeface="Calibri"/>
              </a:rPr>
              <a:t>What does a budget alert actually do?</a:t>
            </a:r>
          </a:p>
        </p:txBody>
      </p:sp>
      <p:sp>
        <p:nvSpPr>
          <p:cNvPr id="3" name="">
            <a:extLst xmlns:a="http://schemas.openxmlformats.org/drawingml/2006/main">
              <a:ext uri="{FF2B5EF4-FFF2-40B4-BE49-F238E27FC236}">
                <a16:creationId xmlns:a16="http://schemas.microsoft.com/office/drawing/2014/main" id="{DDF480BE-F72B-4F03-A7C8-44C125150668}"/>
              </a:ext>
            </a:extLst>
          </p:cNvPr>
          <p:cNvSpPr>
            <a:spLocks xmlns:a="http://schemas.openxmlformats.org/drawingml/2006/main" noGrp="1"/>
          </p:cNvSpPr>
          <p:nvPr/>
        </p:nvSpPr>
        <p:spPr>
          <a:xfrm xmlns:a="http://schemas.openxmlformats.org/drawingml/2006/main">
            <a:off x="647700" y="64293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887"/>
                </a:solidFill>
                <a:latin typeface="Calibri"/>
                <a:ea typeface="Calibri"/>
                <a:cs typeface="Calibri"/>
              </a:defRPr>
            </a:pPr>
            <a:r>
              <a:rPr sz="1125" b="0">
                <a:solidFill>
                  <a:srgbClr val="647887"/>
                </a:solidFill>
                <a:latin typeface="Calibri"/>
                <a:ea typeface="Calibri"/>
                <a:cs typeface="Calibri"/>
              </a:rPr>
              <a:t>DAY 22  •  AZURE DATABRICKS</a:t>
            </a:r>
          </a:p>
        </p:txBody>
      </p:sp>
      <p:sp>
        <p:nvSpPr>
          <p:cNvPr id="4" name="">
            <a:extLst xmlns:a="http://schemas.openxmlformats.org/drawingml/2006/main">
              <a:ext uri="{FF2B5EF4-FFF2-40B4-BE49-F238E27FC236}">
                <a16:creationId xmlns:a16="http://schemas.microsoft.com/office/drawing/2014/main" id="{3F74C4DF-EFDE-429E-B4FA-4348700CF1FB}"/>
              </a:ext>
            </a:extLst>
          </p:cNvPr>
          <p:cNvSpPr>
            <a:spLocks xmlns:a="http://schemas.openxmlformats.org/drawingml/2006/main" noGrp="1"/>
          </p:cNvSpPr>
          <p:nvPr/>
        </p:nvSpPr>
        <p:spPr>
          <a:xfrm xmlns:a="http://schemas.openxmlformats.org/drawingml/2006/main">
            <a:off x="113347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887"/>
                </a:solidFill>
                <a:latin typeface="Calibri"/>
                <a:ea typeface="Calibri"/>
                <a:cs typeface="Calibri"/>
              </a:defRPr>
            </a:pPr>
            <a:r>
              <a:rPr sz="1200" b="0">
                <a:solidFill>
                  <a:srgbClr val="647887"/>
                </a:solidFill>
                <a:latin typeface="Calibri"/>
                <a:ea typeface="Calibri"/>
                <a:cs typeface="Calibri"/>
              </a:rPr>
              <a:t>42</a:t>
            </a:r>
          </a:p>
        </p:txBody>
      </p:sp>
    </p:spTree>
    <p:extLst>
      <p:ext uri="{BB962C8B-B14F-4D97-AF65-F5344CB8AC3E}">
        <p14:creationId xmlns:p14="http://schemas.microsoft.com/office/powerpoint/2010/main" val="907692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2026-09-25T06:11:23.9680000Z</dcterms:created>
  <dcterms:modified xsi:type="dcterms:W3CDTF">2026-09-25T06:11:23.9680000Z</dcterms:modified>
</coreProperties>
</file>