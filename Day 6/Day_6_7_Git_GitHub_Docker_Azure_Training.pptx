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167074b7034e32" /><Relationship Type="http://schemas.openxmlformats.org/officeDocument/2006/relationships/extended-properties" Target="/docProps/app.xml" Id="R1637c86511f347ca" /><Relationship Type="http://schemas.openxmlformats.org/officeDocument/2006/relationships/officeDocument" Target="/ppt/presentation.xml" Id="R8a7aa10fa50b4f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a528acc95f404c"/>
  </p:sldMasterIdLst>
  <p:notesMasterIdLst>
    <p:notesMasterId xmlns:r="http://schemas.openxmlformats.org/officeDocument/2006/relationships" r:id="R79cfbcf2ec2c4398"/>
  </p:notesMasterIdLst>
  <p:sldIdLst>
    <p:sldId xmlns:r="http://schemas.openxmlformats.org/officeDocument/2006/relationships" id="256" r:id="Re939062f35bf4f95"/>
    <p:sldId xmlns:r="http://schemas.openxmlformats.org/officeDocument/2006/relationships" id="257" r:id="Rf82c535e77e54ab2"/>
    <p:sldId xmlns:r="http://schemas.openxmlformats.org/officeDocument/2006/relationships" id="258" r:id="R7ddd4bb1d31e4ce9"/>
    <p:sldId xmlns:r="http://schemas.openxmlformats.org/officeDocument/2006/relationships" id="259" r:id="Rb6c4bf2a649a495e"/>
    <p:sldId xmlns:r="http://schemas.openxmlformats.org/officeDocument/2006/relationships" id="260" r:id="R96db8cff2b2f4139"/>
    <p:sldId xmlns:r="http://schemas.openxmlformats.org/officeDocument/2006/relationships" id="261" r:id="R99c7ca3beaeb45c0"/>
    <p:sldId xmlns:r="http://schemas.openxmlformats.org/officeDocument/2006/relationships" id="262" r:id="R11ed4d88ce8b4bc1"/>
    <p:sldId xmlns:r="http://schemas.openxmlformats.org/officeDocument/2006/relationships" id="263" r:id="R8deec64fe9a74f9c"/>
    <p:sldId xmlns:r="http://schemas.openxmlformats.org/officeDocument/2006/relationships" id="264" r:id="Rfcee77e27a844dd2"/>
    <p:sldId xmlns:r="http://schemas.openxmlformats.org/officeDocument/2006/relationships" id="265" r:id="R6dd80bcc42b645d9"/>
    <p:sldId xmlns:r="http://schemas.openxmlformats.org/officeDocument/2006/relationships" id="266" r:id="R9b87d455ea8a4bba"/>
    <p:sldId xmlns:r="http://schemas.openxmlformats.org/officeDocument/2006/relationships" id="267" r:id="R4303b96b77d4473b"/>
    <p:sldId xmlns:r="http://schemas.openxmlformats.org/officeDocument/2006/relationships" id="268" r:id="R32f3352f2e8b4c0f"/>
    <p:sldId xmlns:r="http://schemas.openxmlformats.org/officeDocument/2006/relationships" id="269" r:id="R2b123d6dc55948f2"/>
    <p:sldId xmlns:r="http://schemas.openxmlformats.org/officeDocument/2006/relationships" id="270" r:id="R7ceb4800cf20472c"/>
    <p:sldId xmlns:r="http://schemas.openxmlformats.org/officeDocument/2006/relationships" id="271" r:id="Re7575d57a76a4a2d"/>
    <p:sldId xmlns:r="http://schemas.openxmlformats.org/officeDocument/2006/relationships" id="272" r:id="R5d8a5006176c4b95"/>
    <p:sldId xmlns:r="http://schemas.openxmlformats.org/officeDocument/2006/relationships" id="273" r:id="R3c84c4c172634f00"/>
    <p:sldId xmlns:r="http://schemas.openxmlformats.org/officeDocument/2006/relationships" id="274" r:id="Rb23bc2f4004040db"/>
    <p:sldId xmlns:r="http://schemas.openxmlformats.org/officeDocument/2006/relationships" id="275" r:id="R8848206ce5454c91"/>
    <p:sldId xmlns:r="http://schemas.openxmlformats.org/officeDocument/2006/relationships" id="276" r:id="Rcaec70bbd1984f4a"/>
    <p:sldId xmlns:r="http://schemas.openxmlformats.org/officeDocument/2006/relationships" id="277" r:id="R368c59b8e6064903"/>
    <p:sldId xmlns:r="http://schemas.openxmlformats.org/officeDocument/2006/relationships" id="278" r:id="Rdb4d3dfcf65f43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c6b60164d54abe" /><Relationship Type="http://schemas.openxmlformats.org/officeDocument/2006/relationships/slideMaster" Target="/ppt/slideMasters/slideMaster1.xml" Id="Rbaa528acc95f404c" /><Relationship Type="http://schemas.openxmlformats.org/officeDocument/2006/relationships/notesMaster" Target="/ppt/notesMasters/notesMaster1.xml" Id="R79cfbcf2ec2c4398" /><Relationship Type="http://schemas.openxmlformats.org/officeDocument/2006/relationships/presProps" Target="/ppt/presProps.xml" Id="R65a1e853d88e4f60" /><Relationship Type="http://schemas.openxmlformats.org/officeDocument/2006/relationships/tableStyles" Target="/ppt/tableStyles.xml" Id="R201b83ddedda4a61" /><Relationship Type="http://schemas.openxmlformats.org/officeDocument/2006/relationships/slide" Target="/ppt/slides/slide1.xml" Id="Re939062f35bf4f95" /><Relationship Type="http://schemas.openxmlformats.org/officeDocument/2006/relationships/slide" Target="/ppt/slides/slide2.xml" Id="Rf82c535e77e54ab2" /><Relationship Type="http://schemas.openxmlformats.org/officeDocument/2006/relationships/slide" Target="/ppt/slides/slide3.xml" Id="R7ddd4bb1d31e4ce9" /><Relationship Type="http://schemas.openxmlformats.org/officeDocument/2006/relationships/slide" Target="/ppt/slides/slide4.xml" Id="Rb6c4bf2a649a495e" /><Relationship Type="http://schemas.openxmlformats.org/officeDocument/2006/relationships/slide" Target="/ppt/slides/slide5.xml" Id="R96db8cff2b2f4139" /><Relationship Type="http://schemas.openxmlformats.org/officeDocument/2006/relationships/slide" Target="/ppt/slides/slide6.xml" Id="R99c7ca3beaeb45c0" /><Relationship Type="http://schemas.openxmlformats.org/officeDocument/2006/relationships/slide" Target="/ppt/slides/slide7.xml" Id="R11ed4d88ce8b4bc1" /><Relationship Type="http://schemas.openxmlformats.org/officeDocument/2006/relationships/slide" Target="/ppt/slides/slide8.xml" Id="R8deec64fe9a74f9c" /><Relationship Type="http://schemas.openxmlformats.org/officeDocument/2006/relationships/slide" Target="/ppt/slides/slide9.xml" Id="Rfcee77e27a844dd2" /><Relationship Type="http://schemas.openxmlformats.org/officeDocument/2006/relationships/slide" Target="/ppt/slides/slide10.xml" Id="R6dd80bcc42b645d9" /><Relationship Type="http://schemas.openxmlformats.org/officeDocument/2006/relationships/slide" Target="/ppt/slides/slide11.xml" Id="R9b87d455ea8a4bba" /><Relationship Type="http://schemas.openxmlformats.org/officeDocument/2006/relationships/slide" Target="/ppt/slides/slide12.xml" Id="R4303b96b77d4473b" /><Relationship Type="http://schemas.openxmlformats.org/officeDocument/2006/relationships/slide" Target="/ppt/slides/slide13.xml" Id="R32f3352f2e8b4c0f" /><Relationship Type="http://schemas.openxmlformats.org/officeDocument/2006/relationships/slide" Target="/ppt/slides/slide14.xml" Id="R2b123d6dc55948f2" /><Relationship Type="http://schemas.openxmlformats.org/officeDocument/2006/relationships/slide" Target="/ppt/slides/slide15.xml" Id="R7ceb4800cf20472c" /><Relationship Type="http://schemas.openxmlformats.org/officeDocument/2006/relationships/slide" Target="/ppt/slides/slide16.xml" Id="Re7575d57a76a4a2d" /><Relationship Type="http://schemas.openxmlformats.org/officeDocument/2006/relationships/slide" Target="/ppt/slides/slide17.xml" Id="R5d8a5006176c4b95" /><Relationship Type="http://schemas.openxmlformats.org/officeDocument/2006/relationships/slide" Target="/ppt/slides/slide18.xml" Id="R3c84c4c172634f00" /><Relationship Type="http://schemas.openxmlformats.org/officeDocument/2006/relationships/slide" Target="/ppt/slides/slide19.xml" Id="Rb23bc2f4004040db" /><Relationship Type="http://schemas.openxmlformats.org/officeDocument/2006/relationships/slide" Target="/ppt/slides/slide20.xml" Id="R8848206ce5454c91" /><Relationship Type="http://schemas.openxmlformats.org/officeDocument/2006/relationships/slide" Target="/ppt/slides/slide21.xml" Id="Rcaec70bbd1984f4a" /><Relationship Type="http://schemas.openxmlformats.org/officeDocument/2006/relationships/slide" Target="/ppt/slides/slide22.xml" Id="R368c59b8e6064903" /><Relationship Type="http://schemas.openxmlformats.org/officeDocument/2006/relationships/slide" Target="/ppt/slides/slide23.xml" Id="Rdb4d3dfcf65f43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7f912167c349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cce7f884d4454f" /><Relationship Type="http://schemas.openxmlformats.org/officeDocument/2006/relationships/notesMaster" Target="/ppt/notesMasters/notesMaster1.xml" Id="R92f21afa6a934b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1dc1151073453c" /><Relationship Type="http://schemas.openxmlformats.org/officeDocument/2006/relationships/notesMaster" Target="/ppt/notesMasters/notesMaster1.xml" Id="Rb5e740b233fa44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2a10a06a764ca5" /><Relationship Type="http://schemas.openxmlformats.org/officeDocument/2006/relationships/notesMaster" Target="/ppt/notesMasters/notesMaster1.xml" Id="Rdb04f7567b714a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ab767bc9de422c" /><Relationship Type="http://schemas.openxmlformats.org/officeDocument/2006/relationships/notesMaster" Target="/ppt/notesMasters/notesMaster1.xml" Id="R02785384c97d42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35d28717c45fb" /><Relationship Type="http://schemas.openxmlformats.org/officeDocument/2006/relationships/notesMaster" Target="/ppt/notesMasters/notesMaster1.xml" Id="Re1b5ac8166ec41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75bfc134e54f11" /><Relationship Type="http://schemas.openxmlformats.org/officeDocument/2006/relationships/notesMaster" Target="/ppt/notesMasters/notesMaster1.xml" Id="Rea62370175d149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10c655c6ec467d" /><Relationship Type="http://schemas.openxmlformats.org/officeDocument/2006/relationships/notesMaster" Target="/ppt/notesMasters/notesMaster1.xml" Id="Ra6f21113a04949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67aed8b6f446ce" /><Relationship Type="http://schemas.openxmlformats.org/officeDocument/2006/relationships/notesMaster" Target="/ppt/notesMasters/notesMaster1.xml" Id="R77163b0a76c14d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4c555f9bf0469c" /><Relationship Type="http://schemas.openxmlformats.org/officeDocument/2006/relationships/notesMaster" Target="/ppt/notesMasters/notesMaster1.xml" Id="R915ac8f3918445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bab6c7c5f74b40" /><Relationship Type="http://schemas.openxmlformats.org/officeDocument/2006/relationships/notesMaster" Target="/ppt/notesMasters/notesMaster1.xml" Id="R1d8566ce3f2348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666c8ec2f14b56" /><Relationship Type="http://schemas.openxmlformats.org/officeDocument/2006/relationships/notesMaster" Target="/ppt/notesMasters/notesMaster1.xml" Id="R9734f74a304c43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33909f45a54f4a" /><Relationship Type="http://schemas.openxmlformats.org/officeDocument/2006/relationships/notesMaster" Target="/ppt/notesMasters/notesMaster1.xml" Id="Rbc70fe6fedd448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6c6a506bd940a7" /><Relationship Type="http://schemas.openxmlformats.org/officeDocument/2006/relationships/notesMaster" Target="/ppt/notesMasters/notesMaster1.xml" Id="R10d01fac8ca94f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4305eee0104399" /><Relationship Type="http://schemas.openxmlformats.org/officeDocument/2006/relationships/notesMaster" Target="/ppt/notesMasters/notesMaster1.xml" Id="R5d2452e082b443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cd43c45a6a45c0" /><Relationship Type="http://schemas.openxmlformats.org/officeDocument/2006/relationships/notesMaster" Target="/ppt/notesMasters/notesMaster1.xml" Id="R9d4d329a5efc4f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ac09a2e19a463b" /><Relationship Type="http://schemas.openxmlformats.org/officeDocument/2006/relationships/notesMaster" Target="/ppt/notesMasters/notesMaster1.xml" Id="Rac2c16d4eb5641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d59d2734d944e0" /><Relationship Type="http://schemas.openxmlformats.org/officeDocument/2006/relationships/notesMaster" Target="/ppt/notesMasters/notesMaster1.xml" Id="R911a8917e3d54b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19f68c2269461f" /><Relationship Type="http://schemas.openxmlformats.org/officeDocument/2006/relationships/notesMaster" Target="/ppt/notesMasters/notesMaster1.xml" Id="R93a3bfece77345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6a9137b8234c71" /><Relationship Type="http://schemas.openxmlformats.org/officeDocument/2006/relationships/notesMaster" Target="/ppt/notesMasters/notesMaster1.xml" Id="Rdacac18cc64f4c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e9d03fe60a43c1" /><Relationship Type="http://schemas.openxmlformats.org/officeDocument/2006/relationships/notesMaster" Target="/ppt/notesMasters/notesMaster1.xml" Id="Rcec3d3dc405c4f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e1489fcba64e8f" /><Relationship Type="http://schemas.openxmlformats.org/officeDocument/2006/relationships/notesMaster" Target="/ppt/notesMasters/notesMaster1.xml" Id="R26cde02de792434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d11e96654dc4e18" /><Relationship Type="http://schemas.openxmlformats.org/officeDocument/2006/relationships/notesMaster" Target="/ppt/notesMasters/notesMaster1.xml" Id="R53f5681cf6cf49c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688a70e3934e7b" /><Relationship Type="http://schemas.openxmlformats.org/officeDocument/2006/relationships/notesMaster" Target="/ppt/notesMasters/notesMaster1.xml" Id="R30eb1b505117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showing the final destination: one source change will become a versioned image and a running Azure endpoint.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Day 6 and Day 7: Git supplies the trusted source history; container delivery builds on that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familiar example of folders named final, final-v2 and final-really-final. Git provides ordered, attributable checkpoints.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https://git-scm.com/docs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git status before editing, after editing, after git add and after git commit. The learner should observe the same file changing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unrelated edits. Ask whether they belong in one commit. Separate commits improve traceability.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a bad commit has already been pulled by five teammates—reset or revert? Expected: revert.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https://git-scm.com/docs/git-reset</a:t>
            </a:r>
          </a:p>
          <a:p xmlns:a="http://schemas.openxmlformats.org/drawingml/2006/main">
            <a:r>
              <a:t>- https://git-scm.com/docs/git-revert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feature/payment and show that the branch is instant. First demonstrate fast-forward, then create divergence for a three-way merge.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https://git-scm.com/docs/git-merge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students type both versions. Do not resolve it for them. A clean compilation/test should follow conflict resolution.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rebase does not “move” existing commits; it recreates equivalent commits with new parents and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https://git-scm.com/docs/git-rebase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git add does not upload anything. Use git remote -v and push -u origin main to connect the two worlds.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detailed lab guide for exact commands and marking rubric. Require each learner to explain their 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saying a container is exactly a small VM. It shares the host kernel and isolates processes, files and networking.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https://docs.docker.com/get-started/docker-concepts/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every Dockerfile line aloud. Point out that EXPOSE documents the port; -p publishes it. USER node avoids root.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port is on the host. The second is inside the container. Binding to container localhost makes the service unreachable externally.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one short-lived container writing a file and another reading it from the same named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https://docs.docker.com/engine/storage/volumes/</a:t>
            </a:r>
          </a:p>
          <a:p xmlns:a="http://schemas.openxmlformats.org/drawingml/2006/main">
            <a:r>
              <a:t>- https://docs.docker.com/compose/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GITHUB_TOKEN can publish from Actions when packages: write is granted. A private image consumer such as ACI needs its own registry pull credential.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https://docs.github.com/packages/working-with-a-github-packages-registry/working-with-the-container-registry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an actual Actions run and map each UI step to this pipeline. Explain permissions, jobs, runs-on, uses, with, env and secrets.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https://docs.github.com/actions/guides/publishing-docker-images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Never display credentials in terminal screenshots or commit them. Grant only resource-group Contributor for the lab, not subscription Owner.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ACI avoids orchestration overhead for a single teaching container. Container Apps adds managed revisions and scaling. AKS is appropriate when Kubernetes control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https://learn.microsoft.com/azure/container-instances/</a:t>
            </a:r>
          </a:p>
          <a:p xmlns:a="http://schemas.openxmlformats.org/drawingml/2006/main">
            <a:r>
              <a:t>- https://learn.microsoft.com/azure/container-apps/overview</a:t>
            </a:r>
          </a:p>
          <a:p xmlns:a="http://schemas.openxmlformats.org/drawingml/2006/main">
            <a:r>
              <a:t>- https://learn.microsoft.com/azure/aks/what-is-aks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az container show and az container logs. Require the learner to show the SHA tag and endpoint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https://learn.microsoft.com/azure/container-instances/container-instances-github-action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evidence: docker logs, Actions step logs, az container show and az container logs. Avoid random configuration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az group delete --name &lt;resource-group&gt; --yes --no-wait. Confirm later that the group has disappeared.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learners to locate the commit SHA, GHCR tag, Actions run and ACI endpoint. Those four artifacts prove traceability.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ccf45ba2147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8a52b0eaaa48bb" /><Relationship Type="http://schemas.openxmlformats.org/officeDocument/2006/relationships/slideLayout" Target="/ppt/slideLayouts/slideLayout1.xml" Id="Rbd53d65b5cb744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53d65b5cb744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d8ee228fc4a1d" /><Relationship Type="http://schemas.openxmlformats.org/officeDocument/2006/relationships/notesSlide" Target="/ppt/notesSlides/notesSlide1.xml" Id="R03f8f5c8f30840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e70c80fe74e3b" /><Relationship Type="http://schemas.openxmlformats.org/officeDocument/2006/relationships/notesSlide" Target="/ppt/notesSlides/notesSlide2.xml" Id="Rc8b80acea07f4d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873ad1d734bca" /><Relationship Type="http://schemas.openxmlformats.org/officeDocument/2006/relationships/notesSlide" Target="/ppt/notesSlides/notesSlide3.xml" Id="R14a8f7f53b9545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e60606b964930" /><Relationship Type="http://schemas.openxmlformats.org/officeDocument/2006/relationships/notesSlide" Target="/ppt/notesSlides/notesSlide4.xml" Id="Rdc395ba077bd47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202b7532541de" /><Relationship Type="http://schemas.openxmlformats.org/officeDocument/2006/relationships/notesSlide" Target="/ppt/notesSlides/notesSlide5.xml" Id="Re0ba31aec62f41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a272873c5433d" /><Relationship Type="http://schemas.openxmlformats.org/officeDocument/2006/relationships/notesSlide" Target="/ppt/notesSlides/notesSlide6.xml" Id="Rfc95d5f5f72640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22cd5e7754ae6" /><Relationship Type="http://schemas.openxmlformats.org/officeDocument/2006/relationships/notesSlide" Target="/ppt/notesSlides/notesSlide7.xml" Id="R8e78c766f064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5491625bb43d5" /><Relationship Type="http://schemas.openxmlformats.org/officeDocument/2006/relationships/notesSlide" Target="/ppt/notesSlides/notesSlide8.xml" Id="R1591e63024704c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6e598cf884ae4" /><Relationship Type="http://schemas.openxmlformats.org/officeDocument/2006/relationships/notesSlide" Target="/ppt/notesSlides/notesSlide9.xml" Id="R7377c4fca9644d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63e5ccf534db9" /><Relationship Type="http://schemas.openxmlformats.org/officeDocument/2006/relationships/notesSlide" Target="/ppt/notesSlides/notesSlide10.xml" Id="R1ebc0d50cbf443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9b805d17642be" /><Relationship Type="http://schemas.openxmlformats.org/officeDocument/2006/relationships/notesSlide" Target="/ppt/notesSlides/notesSlide11.xml" Id="R9f8b2f964b2e4e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7b91b0fe24309" /><Relationship Type="http://schemas.openxmlformats.org/officeDocument/2006/relationships/notesSlide" Target="/ppt/notesSlides/notesSlide12.xml" Id="Rf515c11331294c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39af4e48b496e" /><Relationship Type="http://schemas.openxmlformats.org/officeDocument/2006/relationships/notesSlide" Target="/ppt/notesSlides/notesSlide13.xml" Id="Rb287a3ef8c2443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e17af47e54fac" /><Relationship Type="http://schemas.openxmlformats.org/officeDocument/2006/relationships/notesSlide" Target="/ppt/notesSlides/notesSlide14.xml" Id="R003afde0c6374c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f6d4fc5ca48a3" /><Relationship Type="http://schemas.openxmlformats.org/officeDocument/2006/relationships/notesSlide" Target="/ppt/notesSlides/notesSlide15.xml" Id="R2cddb2a4015844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1501cb180436b" /><Relationship Type="http://schemas.openxmlformats.org/officeDocument/2006/relationships/notesSlide" Target="/ppt/notesSlides/notesSlide16.xml" Id="Rff0346d23b0640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26e238f894998" /><Relationship Type="http://schemas.openxmlformats.org/officeDocument/2006/relationships/notesSlide" Target="/ppt/notesSlides/notesSlide17.xml" Id="Raa44806d42a346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ce4eebcfe4cb3" /><Relationship Type="http://schemas.openxmlformats.org/officeDocument/2006/relationships/notesSlide" Target="/ppt/notesSlides/notesSlide18.xml" Id="R5c11c6457f874b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afc1e32dc4737" /><Relationship Type="http://schemas.openxmlformats.org/officeDocument/2006/relationships/notesSlide" Target="/ppt/notesSlides/notesSlide19.xml" Id="R0d07ad99a9324c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64c1bf52f4848" /><Relationship Type="http://schemas.openxmlformats.org/officeDocument/2006/relationships/notesSlide" Target="/ppt/notesSlides/notesSlide20.xml" Id="Rf9cbdb13c0f64f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b50aba39544b5" /><Relationship Type="http://schemas.openxmlformats.org/officeDocument/2006/relationships/notesSlide" Target="/ppt/notesSlides/notesSlide21.xml" Id="R225a84c2b5da41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5803379984a31" /><Relationship Type="http://schemas.openxmlformats.org/officeDocument/2006/relationships/notesSlide" Target="/ppt/notesSlides/notesSlide22.xml" Id="R9dadae32a1394c0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28d7c16044001" /><Relationship Type="http://schemas.openxmlformats.org/officeDocument/2006/relationships/notesSlide" Target="/ppt/notesSlides/notesSlide23.xml" Id="R088ea1241d7f42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4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5F309-DDC2-4C13-B8D1-D0AD2FC6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0"/>
                </a:solidFill>
              </a:defRPr>
            </a:pPr>
            <a:r>
              <a:rPr sz="1050" b="1">
                <a:solidFill>
                  <a:srgbClr val="19A7A0"/>
                </a:solidFill>
              </a:rPr>
              <a:t>CLOUD · DATA · GENAI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29688-DCC8-4FBD-88FC-D6E14B90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Git to Azure Containers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C81C2-5493-4CC4-827B-E517C72F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DAE8"/>
                </a:solidFill>
              </a:defRPr>
            </a:pPr>
            <a:r>
              <a:rPr sz="2100" b="1">
                <a:solidFill>
                  <a:srgbClr val="B9DAE8"/>
                </a:solidFill>
              </a:rPr>
              <a:t>Day 6 &amp; Day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49013-232E-4C5D-B4E2-18010630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Git • GitHub • Docker • GHCR • GitHub Actions • Azure Container Instances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EDCFC-719F-4849-B619-23B92ADC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AE8"/>
                </a:solidFill>
              </a:defRPr>
            </a:pPr>
            <a:r>
              <a:rPr sz="1200" b="0">
                <a:solidFill>
                  <a:srgbClr val="B9DAE8"/>
                </a:solidFill>
              </a:rPr>
              <a:t>Trainer-ready learning deck</a:t>
            </a:r>
          </a:p>
        </p:txBody>
      </p:sp>
    </p:spTree>
    <p:extLst>
      <p:ext uri="{BB962C8B-B14F-4D97-AF65-F5344CB8AC3E}">
        <p14:creationId xmlns:p14="http://schemas.microsoft.com/office/powerpoint/2010/main" val="2009883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449E6-FB47-4990-B173-91A58FED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LEARNING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4FE8C-6B7F-4948-96F2-6982F1FB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819FD-AB82-4042-AC46-7A30D6B3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035FC-0001-4D57-8D4E-C5A76D3F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Two days move from source history to cloud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FBD79-7197-47EA-86AD-6D1C6040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Every block produces evidence the learner can verify.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A9ADE-0C8D-489A-8B92-21751EB0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54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EFD36-739A-4FAC-82FE-B0B9837B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99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DAY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1B8B1-F461-4067-BD23-826DA89B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997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Create history safely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Branch, merge and resolve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Collaborate through 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FB74C-DB9F-4613-B53A-0BB5A7C4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190750"/>
            <a:ext cx="3454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5EA6A-FDDC-44A5-8B17-A949FB87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457450"/>
            <a:ext cx="299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DAY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1ACDE-200B-4F13-802A-B7C7D50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190875"/>
            <a:ext cx="2997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Package with Docker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Publish to GHCR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Deploy to ACI through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11783-510C-4CBD-B942-38A88059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190750"/>
            <a:ext cx="3454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4E0A0-94D5-4DC1-8C84-B1E58CBF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457450"/>
            <a:ext cx="299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733BE-4363-463A-A0E6-080E03D1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190875"/>
            <a:ext cx="2997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A traceable path from commit SHA to a running container endpoint</a:t>
            </a:r>
          </a:p>
        </p:txBody>
      </p:sp>
    </p:spTree>
    <p:extLst>
      <p:ext uri="{BB962C8B-B14F-4D97-AF65-F5344CB8AC3E}">
        <p14:creationId xmlns:p14="http://schemas.microsoft.com/office/powerpoint/2010/main" val="715007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79FC4-B642-440C-A145-90E4C672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51A60-EEA7-4DB2-94FF-49C67416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DF851-FF34-46B9-AE69-96C15913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CB1FC-ED9C-4DB4-8B93-BD45E421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Git solves the “final-final-v3”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32D6B-FB1D-43D7-8D14-804D1336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It replaces file-copy chaos with a searchable history of project snapshots.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E77C1-5A1D-4141-9A82-A0C31767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FFD95-D29F-4445-B3F5-44D33D7F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See exactly what changed, who changed it and why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D669D-BBC5-4AE6-8AB4-3EB9B80F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0A6D1-F219-48D3-A838-6A205277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28925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Create safe parallel work without duplicating the whole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A91BB-9BFB-421D-9241-4E8A7B74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9C9EF-31F8-4AC1-A83E-CD73BFEB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Return to a known working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1C228-ED08-4B36-9579-FB0D735E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05FC4-9E55-42FD-AA3E-92810AE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05275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Share history and collaborate through a remote repository</a:t>
            </a:r>
          </a:p>
        </p:txBody>
      </p:sp>
    </p:spTree>
    <p:extLst>
      <p:ext uri="{BB962C8B-B14F-4D97-AF65-F5344CB8AC3E}">
        <p14:creationId xmlns:p14="http://schemas.microsoft.com/office/powerpoint/2010/main" val="1728926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C2C8C-C070-4B8E-8F61-1A5AD36E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601C4-CCFB-4159-BF22-331DAF71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31071-2149-49D4-89E8-87C9FEF4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808CF-73E1-4C82-952A-162674CB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The Git workflow has three local areas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00D5A-1574-4658-88B2-A24DAA0D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A change is not part of history until it is staged and committed.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4E41D-FF42-414D-BFC9-F86DEB96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0375"/>
            <a:ext cx="6667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FF4E0-C30D-4043-BB09-103FB18A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00375"/>
            <a:ext cx="6667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9DF07-FACE-431F-8F70-EC39B4D3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ACE5F-A43F-4905-A19B-F98E7E3F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1462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C94"/>
                </a:solidFill>
              </a:defRPr>
            </a:pPr>
            <a:r>
              <a:rPr sz="1650" b="1">
                <a:solidFill>
                  <a:srgbClr val="146C94"/>
                </a:solidFill>
              </a:rPr>
              <a:t>WORKING TREE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56932-059D-46B9-BEDB-B864CC08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86125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Files being edited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4476C-A419-442D-8534-8471BCC2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528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git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CC577-1440-4E4B-9AFC-8F94740A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00C7D-F1DA-4816-BE43-7008A54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C94"/>
                </a:solidFill>
              </a:defRPr>
            </a:pPr>
            <a:r>
              <a:rPr sz="1650" b="1">
                <a:solidFill>
                  <a:srgbClr val="146C94"/>
                </a:solidFill>
              </a:rPr>
              <a:t>STAGING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28C49-221D-4DA4-A63E-485572A8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86125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Exact next 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25622-E6A8-472C-B16C-6F11D597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528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git add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E5000-18DF-42AE-867F-14A68444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FF3EA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85EDA-59D2-4318-882B-BB5319EC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94B"/>
                </a:solidFill>
              </a:defRPr>
            </a:pPr>
            <a:r>
              <a:rPr sz="1650" b="1">
                <a:solidFill>
                  <a:srgbClr val="16794B"/>
                </a:solidFill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20657-5C7A-4664-A906-BA5A3269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86125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Saved commit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7D97D-E130-4D47-9639-92446067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528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git commit</a:t>
            </a:r>
          </a:p>
        </p:txBody>
      </p:sp>
    </p:spTree>
    <p:extLst>
      <p:ext uri="{BB962C8B-B14F-4D97-AF65-F5344CB8AC3E}">
        <p14:creationId xmlns:p14="http://schemas.microsoft.com/office/powerpoint/2010/main" val="1525093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07A8D-134E-489A-A5AD-822EE1F8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DB1E0-103A-4D60-8DE6-81E10E5B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B6488-C962-48CF-A91E-C8647791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15968-9ED9-474C-A18A-3C28A1EB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Commits should tell a useful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2E47B-44C6-48CB-B461-E8F07D36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Small, coherent checkpoints make review, debugging and rollback easier.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75A16-E011-4D92-A82F-BD797E41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952D5-6B94-49F7-9A1B-4E79B651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38375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Stage only the changes that belong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2812C-CA42-4285-B5AF-8968F8A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DC730-E381-48EC-B3AC-E7DCE53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Write an action-oriented message: feat:, fix:, docs:, chore: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274C0-E3E7-4F92-B795-D40C5587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056FC-E7F5-4B71-B09D-2CDC1B41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71875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Inspect before committing: git diff --staged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93CE0-8961-4A1D-A8CF-B167636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329D0-6DC4-4EBA-B727-4F1A253B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Use git log --oneline --graph --decorate --all to read history</a:t>
            </a:r>
          </a:p>
        </p:txBody>
      </p:sp>
    </p:spTree>
    <p:extLst>
      <p:ext uri="{BB962C8B-B14F-4D97-AF65-F5344CB8AC3E}">
        <p14:creationId xmlns:p14="http://schemas.microsoft.com/office/powerpoint/2010/main" val="329550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E07AB-F920-4E92-8576-1CD2B0D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601DF-3DAA-4F64-97B8-9A075E46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59EF6-D029-4D97-8410-69AFC99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22F87-2FF9-4159-B5DA-BEADD9CB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Choose the undo command by asking: “Has it been shared?”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090EB-A53A-4EA4-88AF-C9EDA190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Restore affects file content; reset moves history; revert adds safe counter-history.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93BB1-F971-45AB-AC8A-6348F397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454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AAA7F-9C84-4D5F-A6C2-11F1CC2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299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RESTORE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AC606-2A24-40C3-A51E-B5D2313C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997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Undo an uncommitted edit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or unstage a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3B2A0-7282-4C30-9F70-68975ABC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54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1065C-2DC8-44BA-B56D-9EBAD68F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05075"/>
            <a:ext cx="299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F31B0-D34B-428C-B378-FFA1A528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238500"/>
            <a:ext cx="2997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Move a local branch pointer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Use cautiously before sharing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6069E-EA21-4DF8-8F2E-7746C637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38375"/>
            <a:ext cx="3454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6E527-F758-44C2-9861-0C275245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505075"/>
            <a:ext cx="299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REVERT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87375-1A97-42CF-9ADB-8D1DF935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238500"/>
            <a:ext cx="2997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Create a new inverse commit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Preferred for shared history</a:t>
            </a:r>
          </a:p>
        </p:txBody>
      </p:sp>
    </p:spTree>
    <p:extLst>
      <p:ext uri="{BB962C8B-B14F-4D97-AF65-F5344CB8AC3E}">
        <p14:creationId xmlns:p14="http://schemas.microsoft.com/office/powerpoint/2010/main" val="1814341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B3105-D651-4587-97F6-E48D21B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3A805-D5D7-4224-9CC0-4F5B2B5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A75AC-5E60-431D-9760-9A22DC5A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736C6-5F00-4A98-853E-04E7FA5C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Branches let teams work in parallel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1B6B9-EA92-40A3-9D8D-86388587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A branch is a lightweight movable reference—not a full project copy.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656C0-4968-43CA-A379-3DA9FB10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54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A18BA-290A-4A9A-BA03-8F047C16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99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F9073-6938-4C27-A6A6-EFBD0E80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997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Stable integration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0A31D-626A-4D63-AD49-EF723F6F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86000"/>
            <a:ext cx="3454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41F89-BB55-4982-A6E4-7519B5E4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52700"/>
            <a:ext cx="299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feature/payment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25813-5CFB-4BCC-8DD0-A43E15F2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286125"/>
            <a:ext cx="2997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Independent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B123F-87D4-423E-8107-663FEA7F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86000"/>
            <a:ext cx="3454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F4853-F3D9-4768-B446-36F3DC9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552700"/>
            <a:ext cx="299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merge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557CD-965A-4FA2-AB01-0BA505B7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286125"/>
            <a:ext cx="2997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Combine verified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8B355-06C3-4ACF-9966-DFD651B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44D"/>
                </a:solidFill>
              </a:defRPr>
            </a:pPr>
            <a:r>
              <a:rPr sz="1500" b="1">
                <a:solidFill>
                  <a:srgbClr val="12344D"/>
                </a:solidFill>
              </a:rPr>
              <a:t>Fast-forward: main has not moved  •  Three-way merge: both histories changed</a:t>
            </a:r>
          </a:p>
        </p:txBody>
      </p:sp>
    </p:spTree>
    <p:extLst>
      <p:ext uri="{BB962C8B-B14F-4D97-AF65-F5344CB8AC3E}">
        <p14:creationId xmlns:p14="http://schemas.microsoft.com/office/powerpoint/2010/main" val="192387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5D3FB-D1AE-4150-8FC2-4AC8E030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BF10C-8934-4B11-8452-9B781774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E7033-7184-4044-B4D7-4A19181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E7D23-02EE-403D-8894-FE6848C1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A merge conflict is a request for human intent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3FE6C-4956-43CF-8DA0-047996D7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Git stops only when overlapping histories cannot be combined safely.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3BA29-064F-4197-B0BB-2D03095B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4953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F5D3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AAB3C-11D1-45B6-8F45-812B06AF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&lt;&lt;&lt;&lt;&lt;&lt;&lt; HEAD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city=Mysuru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=======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city=Bengaluru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</a:defRPr>
            </a:pPr>
            <a:r>
              <a:rPr sz="1725" b="1">
                <a:solidFill>
                  <a:srgbClr val="172B3A"/>
                </a:solidFill>
              </a:rPr>
              <a:t>&gt;&gt;&gt;&gt;&gt;&gt;&gt; feature/city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5A609-9C8C-4B00-92B1-7D3A2959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A7A0"/>
                </a:solidFill>
              </a:defRPr>
            </a:pPr>
            <a:r>
              <a:rPr sz="1800" b="1">
                <a:solidFill>
                  <a:srgbClr val="19A7A0"/>
                </a:solidFill>
              </a:rPr>
              <a:t>Resolve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E1E77-E3F5-46AD-B0CD-D65BB7F1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1. Read both intentions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2. Edit the correct final content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3. Remove all markers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4. git add + git commit</a:t>
            </a:r>
          </a:p>
        </p:txBody>
      </p:sp>
    </p:spTree>
    <p:extLst>
      <p:ext uri="{BB962C8B-B14F-4D97-AF65-F5344CB8AC3E}">
        <p14:creationId xmlns:p14="http://schemas.microsoft.com/office/powerpoint/2010/main" val="518055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CC6E5-5955-485E-9C82-2CD5A47F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D4703-5ECF-4572-A53F-33B8791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01A18-960D-44A1-9758-F0165097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5AFFF-3575-4525-B5F9-8EDA0D7D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Merge preserves topology; rebase rewrites a linear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1DA1E-6034-4110-830A-634D562E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Rebase creates new commit IDs, so scope it to private/unpublished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33CE5-20F8-43C4-9219-89831716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295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750FC-0CF8-4940-8B03-CF3693C8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MERGE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439ED-B552-471E-9132-89CD4B44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4838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Keeps the real branch structure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Safe, explicit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DAEB1-B5C2-40B0-95BB-666C7AA0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5295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B021F-E986-47C5-9809-E521F89E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REBASE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FF864-0D53-47D8-9F10-13C4544F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81375"/>
            <a:ext cx="4838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Replays commits on a new base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Cleaner line, rewritten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FC174-C1F4-4792-81D4-84E885BA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44D"/>
                </a:solidFill>
              </a:defRPr>
            </a:pPr>
            <a:r>
              <a:rPr sz="1500" b="1">
                <a:solidFill>
                  <a:srgbClr val="12344D"/>
                </a:solidFill>
              </a:rPr>
              <a:t>Rule of thumb: merge shared branches; rebase your own unpublished branch when policy allows.</a:t>
            </a:r>
          </a:p>
        </p:txBody>
      </p:sp>
    </p:spTree>
    <p:extLst>
      <p:ext uri="{BB962C8B-B14F-4D97-AF65-F5344CB8AC3E}">
        <p14:creationId xmlns:p14="http://schemas.microsoft.com/office/powerpoint/2010/main" val="2583997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F8536-C450-406C-9AD1-F9BBCE5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5F0A5-B929-43B2-BDAB-B6F0512A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05EAE-6212-4D55-8829-BD4F0231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056D9-7F37-4712-AC95-5566CE78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Git is local; GitHub adds hosted collaboration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254B2-338C-4882-9DBE-E4CCCFC9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Push transfers commits. Issues, pull requests, Actions and packages extend the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08D8F-8488-44D9-8228-E3B64EB3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295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D5946-C73F-49B9-B2DF-131E8913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LOCAL 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DD285-87C4-4105-BC7D-93B11CF1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838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init • add • commit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branch • merge •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D4B46-F6C4-4A8B-B05F-48224993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295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3CAF8-FB23-4E3D-BE6C-2DB50F1B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0325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REMOTE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DBB73-C4C1-42C2-BD7D-17ED42FF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4838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clone • fetch • pull • push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issues • PRs • Actions</a:t>
            </a:r>
          </a:p>
        </p:txBody>
      </p:sp>
    </p:spTree>
    <p:extLst>
      <p:ext uri="{BB962C8B-B14F-4D97-AF65-F5344CB8AC3E}">
        <p14:creationId xmlns:p14="http://schemas.microsoft.com/office/powerpoint/2010/main" val="8938064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C0CB5-621B-4AE3-BBDA-E633518C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6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8CFB5-B159-4E75-B4DA-A202CC4A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FB96D-9E0A-4FFD-9B08-AC6CBAB4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BB64A-804F-4C1A-B505-F221B053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Day 6 evidence is visible in the commit graph and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BA756-0B48-4716-A44F-81CDE37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Learners finish with history they can explain—not just commands they copied.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FCE6D-54F7-40E9-961F-8B9BFFCA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A7A0"/>
                </a:solidFill>
              </a:defRPr>
            </a:pPr>
            <a:r>
              <a:rPr sz="1800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0041E-1A5B-4185-A53B-3C7892F9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Three or more meaningful commits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25D21-C595-4439-9C0A-83796E2B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A7A0"/>
                </a:solidFill>
              </a:defRPr>
            </a:pPr>
            <a:r>
              <a:rPr sz="1800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113E7-5323-4EEC-891E-AB455885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 feature branch and completed merge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438EE-100C-4D21-B0F7-08D68F72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A7A0"/>
                </a:solidFill>
              </a:defRPr>
            </a:pPr>
            <a:r>
              <a:rPr sz="1800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D8A58-E7D7-4DF9-962A-E87D2718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One deliberately created and resolved conflict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B2F45-6DA1-42C9-A26E-D1D766A6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A7A0"/>
                </a:solidFill>
              </a:defRPr>
            </a:pPr>
            <a:r>
              <a:rPr sz="1800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14F12-0944-4535-B90B-DBC85160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 demonstrated stash or revert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6E289-F364-4E2D-91C4-7AC96B5F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A7A0"/>
                </a:solidFill>
              </a:defRPr>
            </a:pPr>
            <a:r>
              <a:rPr sz="1800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205FB-4CB3-4071-8CAE-4C32CE06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 GitHub repository plus one issue</a:t>
            </a:r>
          </a:p>
        </p:txBody>
      </p:sp>
    </p:spTree>
    <p:extLst>
      <p:ext uri="{BB962C8B-B14F-4D97-AF65-F5344CB8AC3E}">
        <p14:creationId xmlns:p14="http://schemas.microsoft.com/office/powerpoint/2010/main" val="726751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81D5E-BA05-4F9D-AE98-D2242158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80F5F-98DC-4D4A-A711-4ABFFEA8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F8D59-4B9D-4D23-AFA6-926097D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164F9-C7A2-4701-A805-0E13376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Containers make the runtime part of the deliverable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69774-99FB-4B2E-A995-893DF89F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The same image becomes the repeatable unit across laptop, CI runner and Azure.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3836E-32D2-492E-A0C3-DCA9E6A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AF366-3E4A-4F55-B5AC-C2E45704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Image: packaged, read-only application and runtime layers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928C0-EC3C-4393-8B18-5B0C26DF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1AF09-09D8-4B95-8626-9106DE71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Container: running image with an isolated writable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86696-7F7E-41A4-81CC-D14800DE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FFA56-401D-4B6D-B623-2A6D5FEB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Registry: remote storage and distribution for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DA764-FDB1-40EE-B535-0399D0BB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45CF4-797D-4D8C-ACC5-C197DBC9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Volume: data lifecycle independent of one container</a:t>
            </a:r>
          </a:p>
        </p:txBody>
      </p:sp>
    </p:spTree>
    <p:extLst>
      <p:ext uri="{BB962C8B-B14F-4D97-AF65-F5344CB8AC3E}">
        <p14:creationId xmlns:p14="http://schemas.microsoft.com/office/powerpoint/2010/main" val="3992279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CC794-041E-4198-AB47-542C0C76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F31CB-601D-4E90-BCBB-1921B0B4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1929C-7661-49E9-A1AF-AA5CA4AB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A86DB-CE55-4D20-BE40-FD5DA55B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The Dockerfile builds; the runtime starts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ED065-F2B8-4D2B-8E83-A1955931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Each instruction contributes to a reproducible image.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3876B-266C-4C12-A1F1-2FFA35BF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5300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57A46-5CE7-4FA9-8AF6-3562B5B9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333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FROM node:22-alpine</a:t>
            </a:r>
          </a:p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WORKDIR /app</a:t>
            </a:r>
          </a:p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COPY package.json ./</a:t>
            </a:r>
          </a:p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COPY app.js ./</a:t>
            </a:r>
          </a:p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ENV PORT=8080</a:t>
            </a:r>
          </a:p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EXPOSE 8080</a:t>
            </a:r>
          </a:p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USER node</a:t>
            </a:r>
          </a:p>
          <a:p xmlns:a="http://schemas.openxmlformats.org/drawingml/2006/main">
            <a:pPr algn="l">
              <a:defRPr sz="1650" b="1">
                <a:solidFill>
                  <a:srgbClr val="172B3A"/>
                </a:solidFill>
              </a:defRPr>
            </a:pPr>
            <a:r>
              <a:rPr sz="1650" b="1">
                <a:solidFill>
                  <a:srgbClr val="172B3A"/>
                </a:solidFill>
              </a:rPr>
              <a:t>CMD ["node", "app.js"]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F71FC-C59F-47B7-9BA2-DDC53C6F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A7A0"/>
                </a:solidFill>
              </a:defRPr>
            </a:pPr>
            <a:r>
              <a:rPr sz="157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71A33-F4AD-4218-B115-B62687DC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57175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Build: docker build -t cloud-orders:v1 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2A728-5D3F-4FE0-8138-72DC13B7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147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A7A0"/>
                </a:solidFill>
              </a:defRPr>
            </a:pPr>
            <a:r>
              <a:rPr sz="157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0136A-E462-47D8-A042-686418E7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147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Run: docker run -p 8080:8080 cloud-orders:v1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92C69-344F-438E-9B93-9E6FCE77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576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A7A0"/>
                </a:solidFill>
              </a:defRPr>
            </a:pPr>
            <a:r>
              <a:rPr sz="157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E5B7E-8B9C-4C91-8270-E266EC65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5765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Validate: browser, curl, logs and docker ps</a:t>
            </a:r>
          </a:p>
        </p:txBody>
      </p:sp>
    </p:spTree>
    <p:extLst>
      <p:ext uri="{BB962C8B-B14F-4D97-AF65-F5344CB8AC3E}">
        <p14:creationId xmlns:p14="http://schemas.microsoft.com/office/powerpoint/2010/main" val="10220063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C43C8-B9B5-4FD3-AFB5-D1203284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120B0-293A-4D5F-AEFD-F790247D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38853-2EC4-4996-92FF-2E3CF9F1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B3FB0-3C4E-475E-B161-D2BD2128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Port mapping connects host traffic to the container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A5D1C-1F51-4F14-8224-ED867337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The process must listen on 0.0.0.0 inside the container.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9C21A-1EEC-484F-A4CB-1010CBD9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3FB3F-2FB9-46E0-93D2-3EB50991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6C94"/>
                </a:solidFill>
              </a:defRPr>
            </a:pPr>
            <a:r>
              <a:rPr sz="1950" b="1">
                <a:solidFill>
                  <a:srgbClr val="146C94"/>
                </a:solidFill>
              </a:rPr>
              <a:t>HOST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F8070-8AD8-4292-BA67-26F007A8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localhost:8080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B6032-9060-4541-A4F3-59E347F7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095500" cy="619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E7561-2046-4EC9-939E-FC6D9DCE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44D"/>
                </a:solidFill>
              </a:defRPr>
            </a:pPr>
            <a:r>
              <a:rPr sz="1425" b="1">
                <a:solidFill>
                  <a:srgbClr val="12344D"/>
                </a:solidFill>
              </a:rPr>
              <a:t>-p 8080:8080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2C967-61AE-4921-BEF1-6B55631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FF3EA"/>
          </a:solidFill>
          <a:ln xmlns:a="http://schemas.openxmlformats.org/drawingml/2006/main" w="9525">
            <a:solidFill>
              <a:srgbClr val="B8DF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6B3F9-7F59-4A9B-A33B-AD97A652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794B"/>
                </a:solidFill>
              </a:defRPr>
            </a:pPr>
            <a:r>
              <a:rPr sz="1950" b="1">
                <a:solidFill>
                  <a:srgbClr val="16794B"/>
                </a:solidFill>
              </a:rPr>
              <a:t>CONTAINER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D3FD3-627F-4B03-8871-82ADF924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0.0.0.0:8080</a:t>
            </a:r>
          </a:p>
        </p:txBody>
      </p:sp>
    </p:spTree>
    <p:extLst>
      <p:ext uri="{BB962C8B-B14F-4D97-AF65-F5344CB8AC3E}">
        <p14:creationId xmlns:p14="http://schemas.microsoft.com/office/powerpoint/2010/main" val="4981592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697CC-031A-4A2D-9F77-C2BAFC68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BE16D-6C6B-4F46-8EA0-B06D9EC4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BD921-1D0D-4A5C-AC3D-6DAC385A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48C80-624F-4224-B5A4-204A16C8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Volumes preserve data; Compose describes the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9733E-4D87-448C-AA80-EBED48A0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A Dockerfile defines an image. Compose defines running services, networks and volumes.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4E797-62A4-4244-8FBC-102A29C2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295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690AF-298A-4250-9E31-97D40825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NAMED VOLUME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424F9-78F1-450A-B4B5-5C159541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838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Survives container removal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Managed by Docker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791D3-F6F2-450D-9A5D-6E2D1C95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295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F9230-5664-4EEB-963A-26D5A211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0325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COMPOSE YAML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89E06-7C9A-4097-9EEC-5C8735A5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4838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Starts app + supporting services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with one 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CC4C4-CFAD-4A58-B41D-531C32A5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44D"/>
                </a:solidFill>
              </a:defRPr>
            </a:pPr>
            <a:r>
              <a:rPr sz="1425" b="1">
                <a:solidFill>
                  <a:srgbClr val="12344D"/>
                </a:solidFill>
              </a:rPr>
              <a:t>docker compose up -d --build  •  docker compose ps  •  docker compose down</a:t>
            </a:r>
          </a:p>
        </p:txBody>
      </p:sp>
    </p:spTree>
    <p:extLst>
      <p:ext uri="{BB962C8B-B14F-4D97-AF65-F5344CB8AC3E}">
        <p14:creationId xmlns:p14="http://schemas.microsoft.com/office/powerpoint/2010/main" val="250081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3A4C2-664D-4D10-88F5-CF32913B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35D90-C25F-4CB3-8543-1CE0FD3B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822E7-C753-447B-8899-4D3125A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C572A-F174-446A-ABDD-24ACC604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GHCR connects source history to versioned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5E532-347D-41EC-8CB0-FC902756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Use the commit SHA as an immutable deployment tag; treat latest as a movable convenience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3BF68-9028-4170-8CCA-0E6A460E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9334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D990A-31F9-448F-B9B0-A41A663B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B6770"/>
                </a:solidFill>
              </a:defRPr>
            </a:pPr>
            <a:r>
              <a:rPr sz="1425" b="1">
                <a:solidFill>
                  <a:srgbClr val="5B6770"/>
                </a:solidFill>
              </a:rPr>
              <a:t>SOURCE COMMIT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03513-43A8-48C6-8903-22874144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44D"/>
                </a:solidFill>
              </a:defRPr>
            </a:pPr>
            <a:r>
              <a:rPr sz="2400" b="1">
                <a:solidFill>
                  <a:srgbClr val="12344D"/>
                </a:solidFill>
              </a:rPr>
              <a:t>a84f2c9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8D457-2562-45F3-B422-C708AD47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381125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FBE95-852A-4253-ABF6-EA7F476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B6770"/>
                </a:solidFill>
              </a:defRPr>
            </a:pPr>
            <a:r>
              <a:rPr sz="1425" b="1">
                <a:solidFill>
                  <a:srgbClr val="5B6770"/>
                </a:solidFill>
              </a:rPr>
              <a:t>GHCR IMAGE TAGS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3B195-5851-408C-A8C7-49AECA82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94B"/>
                </a:solidFill>
              </a:defRPr>
            </a:pPr>
            <a:r>
              <a:rPr sz="2100" b="1">
                <a:solidFill>
                  <a:srgbClr val="16794B"/>
                </a:solidFill>
              </a:rPr>
              <a:t>:a84f2c9   +   :latest</a:t>
            </a:r>
          </a:p>
        </p:txBody>
      </p:sp>
    </p:spTree>
    <p:extLst>
      <p:ext uri="{BB962C8B-B14F-4D97-AF65-F5344CB8AC3E}">
        <p14:creationId xmlns:p14="http://schemas.microsoft.com/office/powerpoint/2010/main" val="21399513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4C661-38F6-45FE-9946-A6CA51D7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3D43B-4F1A-41A1-BB3F-02B2C8AE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CE8D2-9AE3-41D0-BC3B-392E8DE1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64D23-3D65-435F-A040-F8DCD72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GitHub Actions turns a push into a delivery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041F8-4CF5-4B56-8DE1-0557AA1F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The workflow is a sequence of explicit, auditable stages.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B6434-4C99-4ADB-9B2B-864A3C6E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05150"/>
            <a:ext cx="523875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E4"/>
          </a:solidFill>
          <a:ln xmlns:a="http://schemas.openxmlformats.org/drawingml/2006/main" w="0">
            <a:solidFill>
              <a:srgbClr val="BFD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EE980-AE56-412C-9885-F605A83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714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A1545-2C00-46ED-9B05-BAC4A005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28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0"/>
                </a:solidFill>
              </a:defRPr>
            </a:pPr>
            <a:r>
              <a:rPr sz="1050" b="1">
                <a:solidFill>
                  <a:srgbClr val="19A7A0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439E4-7738-43EC-B444-EE2E571C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44D"/>
                </a:solidFill>
              </a:defRPr>
            </a:pPr>
            <a:r>
              <a:rPr sz="1425" b="1">
                <a:solidFill>
                  <a:srgbClr val="12344D"/>
                </a:solidFill>
              </a:rPr>
              <a:t>Checkout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15C0B-5009-4AAE-AE02-F86F9D4D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05150"/>
            <a:ext cx="523875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E4"/>
          </a:solidFill>
          <a:ln xmlns:a="http://schemas.openxmlformats.org/drawingml/2006/main" w="0">
            <a:solidFill>
              <a:srgbClr val="BFD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F5A7-48E4-48EE-ABE5-334DBC98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67000"/>
            <a:ext cx="1714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27F5C-82B3-452D-9A4A-6922C914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0"/>
                </a:solidFill>
              </a:defRPr>
            </a:pPr>
            <a:r>
              <a:rPr sz="1050" b="1">
                <a:solidFill>
                  <a:srgbClr val="19A7A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FF246-E770-4699-9163-874D74EE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44D"/>
                </a:solidFill>
              </a:defRPr>
            </a:pPr>
            <a:r>
              <a:rPr sz="1425" b="1">
                <a:solidFill>
                  <a:srgbClr val="12344D"/>
                </a:solidFill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12C13-4AB7-4F31-8ABD-58261F37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523875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E4"/>
          </a:solidFill>
          <a:ln xmlns:a="http://schemas.openxmlformats.org/drawingml/2006/main" w="0">
            <a:solidFill>
              <a:srgbClr val="BFD9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A8F27-D1E0-4F1C-BC2A-8A3F7751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1714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359D7-3B44-484A-874F-2355358B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28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0"/>
                </a:solidFill>
              </a:defRPr>
            </a:pPr>
            <a:r>
              <a:rPr sz="1050" b="1">
                <a:solidFill>
                  <a:srgbClr val="19A7A0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A0FC2-2279-4FBE-8878-AA78E1DB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44D"/>
                </a:solidFill>
              </a:defRPr>
            </a:pPr>
            <a:r>
              <a:rPr sz="1425" b="1">
                <a:solidFill>
                  <a:srgbClr val="12344D"/>
                </a:solidFill>
              </a:rPr>
              <a:t>Push GHCR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1676F-8987-49D6-8061-017E66CB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05150"/>
            <a:ext cx="523875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9E4"/>
          </a:solidFill>
          <a:ln xmlns:a="http://schemas.openxmlformats.org/drawingml/2006/main" w="0">
            <a:solidFill>
              <a:srgbClr val="BFD9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87753-545D-47F4-8049-7559154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667000"/>
            <a:ext cx="1714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58C22-EF8A-4B80-A26C-E5713894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28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0"/>
                </a:solidFill>
              </a:defRPr>
            </a:pPr>
            <a:r>
              <a:rPr sz="1050" b="1">
                <a:solidFill>
                  <a:srgbClr val="19A7A0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75BA7-35D3-4D74-9463-AFA3E061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44D"/>
                </a:solidFill>
              </a:defRPr>
            </a:pPr>
            <a:r>
              <a:rPr sz="1425" b="1">
                <a:solidFill>
                  <a:srgbClr val="12344D"/>
                </a:solidFill>
              </a:rPr>
              <a:t>Azure login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23031-C174-443E-AE2E-AD24BB4B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714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FF3EA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23C59-463E-4694-A23D-6A5F469D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28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0"/>
                </a:solidFill>
              </a:defRPr>
            </a:pPr>
            <a:r>
              <a:rPr sz="1050" b="1">
                <a:solidFill>
                  <a:srgbClr val="19A7A0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2ECDF-5F8E-4BC0-A860-D8205CC4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94B"/>
                </a:solidFill>
              </a:defRPr>
            </a:pPr>
            <a:r>
              <a:rPr sz="1425" b="1">
                <a:solidFill>
                  <a:srgbClr val="16794B"/>
                </a:solidFill>
              </a:rPr>
              <a:t>Deploy ACI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A2AFF-B1B9-4CDF-98A0-B9F64FE1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6770"/>
                </a:solidFill>
              </a:defRPr>
            </a:pPr>
            <a:r>
              <a:rPr sz="1500" b="1">
                <a:solidFill>
                  <a:srgbClr val="5B6770"/>
                </a:solidFill>
              </a:rPr>
              <a:t>Trigger: push to main or workflow_dispatch</a:t>
            </a:r>
          </a:p>
        </p:txBody>
      </p:sp>
    </p:spTree>
    <p:extLst>
      <p:ext uri="{BB962C8B-B14F-4D97-AF65-F5344CB8AC3E}">
        <p14:creationId xmlns:p14="http://schemas.microsoft.com/office/powerpoint/2010/main" val="19278685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96FD5-AE11-4740-9E95-50EE984A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7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D3A47-FD51-4C7B-9917-196978AD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3E7C3-22CB-4230-BA84-2DA55A05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AEBB1-4D84-460D-A0AA-00DC3B8E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Short-lived identity is the enterprise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273D1-4A88-4A81-A182-15313659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The classroom can use a scoped service-principal secret; production should prefer GitHub OIDC federation.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2C783-D88E-4B10-BB0C-597403C0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295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D158C-8676-4BDB-A701-E3B721FA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CLASSROOM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23EE5-C1C4-4013-87AE-A7E7626B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4838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AZURE_CREDENTIALS secret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Scoped to one lab resource group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Delete after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1B94F-106F-4FBF-B283-6CA50791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5295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C8DF4-037C-4063-B8C2-1BEF6131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PRODUCTION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89D82-C4E1-4C32-93A0-5EF399F3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86125"/>
            <a:ext cx="4838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GitHub OIDC federation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Short-lived Azure token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No stored client secret</a:t>
            </a:r>
          </a:p>
        </p:txBody>
      </p:sp>
    </p:spTree>
    <p:extLst>
      <p:ext uri="{BB962C8B-B14F-4D97-AF65-F5344CB8AC3E}">
        <p14:creationId xmlns:p14="http://schemas.microsoft.com/office/powerpoint/2010/main" val="15369437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E8BA5-CE6E-4BB5-BE61-D2DD4269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7 AZURE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465BD-C25C-4F16-A786-B142C9CE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D3792-DF25-4B9E-95EB-077700CC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C2D11-DF3E-41CA-B6EB-4AAC287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Choose the runtime by the operational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C9AF2-7F15-4503-875D-8A3A7473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Today uses ACI for clarity; production choices depend on scaling and control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D408F-7103-47FE-8646-180EF7A7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5C7B0-3415-4271-A172-5AAA5D63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BEST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88F88-2AE2-4C8F-A58D-528E13A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85ED1-CD8B-4FCF-9582-67E67950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038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3EA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E91AB-1F37-4E0A-AD59-A9127ABD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94B"/>
                </a:solidFill>
              </a:defRPr>
            </a:pPr>
            <a:r>
              <a:rPr sz="1500" b="1">
                <a:solidFill>
                  <a:srgbClr val="16794B"/>
                </a:solidFill>
              </a:rPr>
              <a:t>ACI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775C2-BF4F-48E8-9AC1-92276882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Direct container, job or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49E45-8A1C-47D6-8B48-D6126E04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770"/>
                </a:solidFill>
              </a:defRPr>
            </a:pPr>
            <a:r>
              <a:rPr sz="1350" b="1">
                <a:solidFill>
                  <a:srgbClr val="5B6770"/>
                </a:solidFill>
              </a:rPr>
              <a:t>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6BDDA-B43D-4973-AC30-BAD7F3C4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38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8DB77-4EF6-44DE-A928-80E6D592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C94"/>
                </a:solidFill>
              </a:defRPr>
            </a:pPr>
            <a:r>
              <a:rPr sz="1500" b="1">
                <a:solidFill>
                  <a:srgbClr val="146C94"/>
                </a:solidFill>
              </a:rPr>
              <a:t>Container Apps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1CCF2-29B3-497F-8E7B-65000B2C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Serverless microservices + revisions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C4EDA-156E-40D9-B37A-271C1DD0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770"/>
                </a:solidFill>
              </a:defRPr>
            </a:pPr>
            <a:r>
              <a:rPr sz="1350" b="1">
                <a:solidFill>
                  <a:srgbClr val="5B6770"/>
                </a:solidFill>
              </a:rPr>
              <a:t>Low–medium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2B311-49E1-4EA3-867F-E41B79BB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38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45CAD-EAED-4B07-8573-9D18A2A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C94"/>
                </a:solidFill>
              </a:defRPr>
            </a:pPr>
            <a:r>
              <a:rPr sz="1500" b="1">
                <a:solidFill>
                  <a:srgbClr val="146C94"/>
                </a:solidFill>
              </a:rPr>
              <a:t>AKS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BEB82-F481-426F-9BE6-DDFF1B1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Full Kubernetes platform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CD954-558B-4D69-9342-32754B07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770"/>
                </a:solidFill>
              </a:defRPr>
            </a:pPr>
            <a:r>
              <a:rPr sz="1350" b="1">
                <a:solidFill>
                  <a:srgbClr val="5B6770"/>
                </a:solidFill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8929A-CEAA-4256-AD29-915DB5B1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38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5EB26-E23E-472D-8F36-B0BCA04F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38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C94"/>
                </a:solidFill>
              </a:defRPr>
            </a:pPr>
            <a:r>
              <a:rPr sz="1500" b="1">
                <a:solidFill>
                  <a:srgbClr val="146C94"/>
                </a:solidFill>
              </a:rPr>
              <a:t>Functions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C3722-7D78-4AA1-88F7-7D854F4C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387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Event-driven function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CB0EA-E5AF-4188-8093-CD56043B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38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770"/>
                </a:solidFill>
              </a:defRPr>
            </a:pPr>
            <a:r>
              <a:rPr sz="1350" b="1">
                <a:solidFill>
                  <a:srgbClr val="5B6770"/>
                </a:solidFill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4363843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BCAE1-4B8C-4660-82ED-860CE84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DAY 7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39FA7-CCF3-4506-9B49-C836D21E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A5F35-E8AE-4FB6-AA30-3D682C66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95A02-FC88-4316-AC70-02BE112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The final evidence links code, image and 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9D699-7F87-4468-90CD-DDBEF18D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A successful green workflow is necessary—but the endpoint and deployed tag must also be verified.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29FB8-8A7B-420C-B667-B72E0FAD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8E44D-8F43-410E-8FD8-C451CF27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47875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GitHub commit SHA matches the published GHCR image 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966D5-0931-4DB0-9412-39624CD5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F08F7-857A-49F8-906A-FBAB0036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Actions run shows checkout, build, push and deploy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8FB3F-97D8-4F8D-85AF-05EE1AA7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B19A1-11FF-40A4-8E60-F11280FD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86125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ACI state is Running and logs show “Listening on 8080”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91160-6747-4070-B191-B9AD7E99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911C1-051E-4568-930F-9A85ABE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Browser endpoint returns service status and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69764-6866-46A2-87AF-F205CC9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0195B-2D2C-44F8-82AA-8A7198B7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24375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A second commit produces a new SHA and response version</a:t>
            </a:r>
          </a:p>
        </p:txBody>
      </p:sp>
    </p:spTree>
    <p:extLst>
      <p:ext uri="{BB962C8B-B14F-4D97-AF65-F5344CB8AC3E}">
        <p14:creationId xmlns:p14="http://schemas.microsoft.com/office/powerpoint/2010/main" val="16673554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667F2-32E5-4E34-A270-E66D4F63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TROUBLESHOOTING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6680-8350-4A1D-9891-64E0AC4C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340BA-9637-40FA-971E-726AA994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CF852-F092-4452-81DD-3A76BFC7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Most failures sit at one of four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2BF90-6D67-447C-898B-E662ACB7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Identify the failing boundary before changing configuration.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E26A5-9B08-4703-97B3-8FA9DA46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533650" cy="28575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168D7-FA72-4611-9E4D-B4CB04CE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1E087-3CFA-4350-A742-9B139205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076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Docker engine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Port already used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4808E-EEE7-4144-BD72-FC271294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533650" cy="28575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D953A-93EE-46ED-ACB1-892CA997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5270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REGISTRY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2AF85-215F-436C-B255-F5B4C97C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86125"/>
            <a:ext cx="2076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Package permission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Private pull credential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60460-0A3E-4165-A2F1-1802BC26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533650" cy="28575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94E1D-DF31-445E-84FF-9DEF8984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94BE7-C583-45C9-9CC2-780E7D2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86125"/>
            <a:ext cx="2076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Azure login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Role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188A9-3808-434C-8DE2-68344846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2533650" cy="28575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23ACA-622C-4375-A2E7-D086CBFD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9651F-ACA4-4A02-87CF-2CE556AC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86125"/>
            <a:ext cx="2076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DNS label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Port/binding/logs</a:t>
            </a:r>
          </a:p>
        </p:txBody>
      </p:sp>
    </p:spTree>
    <p:extLst>
      <p:ext uri="{BB962C8B-B14F-4D97-AF65-F5344CB8AC3E}">
        <p14:creationId xmlns:p14="http://schemas.microsoft.com/office/powerpoint/2010/main" val="16854103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EE8D4-ACDE-4D01-986C-C4366F2F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CLEANUP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EA69A-4D0E-4DF5-B6AE-D21729BD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BC831-B60A-4E1D-BA8D-7BCAC943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73382-3AA6-4D3B-8054-08F5E490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Cleanup completes the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34D25-A47E-4AD1-BFE0-40EB50B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Remove resources and credentials as part of the operational lifecycle.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03CCC-C927-4C49-880F-15C2FAF7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53668-EAB4-433C-95F0-68302AA3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Delete the dedicated Azure resource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3F52A-2345-4E7B-AE84-2B9F0BC8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B6781-E7CB-424E-8EDE-C884A27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33675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Delete or expire the classroom service-principal credential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86014-14EB-44A5-B05E-14FF299D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26358-C9FA-46FB-88E5-237EE258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Delete the GHCR PAT and repository secrets if no longer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42D85-3126-4351-8524-6DE112D2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9F015-DE3C-4AB9-8AC1-BF3F8C2E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Remove unwanted GHCR packages and local Docker resources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8F262-5B96-4580-88C7-0E894D85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A7A0"/>
                </a:solidFill>
              </a:defRPr>
            </a:pPr>
            <a:r>
              <a:rPr sz="1725" b="1">
                <a:solidFill>
                  <a:srgbClr val="19A7A0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26DF4-BFF8-4CB1-A1A0-513A0CE0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Trainer verifies cleanup for every learner</a:t>
            </a:r>
          </a:p>
        </p:txBody>
      </p:sp>
    </p:spTree>
    <p:extLst>
      <p:ext uri="{BB962C8B-B14F-4D97-AF65-F5344CB8AC3E}">
        <p14:creationId xmlns:p14="http://schemas.microsoft.com/office/powerpoint/2010/main" val="9493943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0D67C-D273-4545-8A1C-32C8CA3E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A7A0"/>
                </a:solidFill>
              </a:defRPr>
            </a:pPr>
            <a:r>
              <a:rPr sz="900" b="1">
                <a:solidFill>
                  <a:srgbClr val="19A7A0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B22FD-8EED-4320-88AE-CC530543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770"/>
                </a:solidFill>
              </a:defRPr>
            </a:pPr>
            <a:r>
              <a:rPr sz="900" b="1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4E22C-305B-418A-9BCF-9049E47F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0FD3F-943D-4AF2-9F93-6F061460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4D"/>
                </a:solidFill>
              </a:defRPr>
            </a:pPr>
            <a:r>
              <a:rPr sz="2850" b="1">
                <a:solidFill>
                  <a:srgbClr val="12344D"/>
                </a:solidFill>
              </a:rPr>
              <a:t>One traceable chain proves what is running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F7750-E7E8-4A25-9394-5810C8C9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Commit intentionally. Build once. Tag immutably. Deploy with least privilege. Verify and clean 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A4997-3D03-45AE-96A0-6341EE09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C94"/>
                </a:solidFill>
              </a:defRPr>
            </a:pPr>
            <a:r>
              <a:rPr sz="1650" b="1">
                <a:solidFill>
                  <a:srgbClr val="146C94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1FD64-FE57-40D5-A385-7E9BB61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B942"/>
                </a:solidFill>
              </a:defRPr>
            </a:pPr>
            <a:r>
              <a:rPr sz="2100" b="1">
                <a:solidFill>
                  <a:srgbClr val="F4B94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ED380-DC89-49B6-9009-A4BD8E1A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C94"/>
                </a:solidFill>
              </a:defRPr>
            </a:pPr>
            <a:r>
              <a:rPr sz="1650" b="1">
                <a:solidFill>
                  <a:srgbClr val="146C94"/>
                </a:solidFill>
              </a:rPr>
              <a:t>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3206C-715D-4894-9B4B-2B9FF8C0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B942"/>
                </a:solidFill>
              </a:defRPr>
            </a:pPr>
            <a:r>
              <a:rPr sz="2100" b="1">
                <a:solidFill>
                  <a:srgbClr val="F4B94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2999B-BE86-4D99-B1A7-BF67C868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C94"/>
                </a:solidFill>
              </a:defRPr>
            </a:pPr>
            <a:r>
              <a:rPr sz="1650" b="1">
                <a:solidFill>
                  <a:srgbClr val="146C94"/>
                </a:solidFill>
              </a:rPr>
              <a:t>REGISTRY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70C44-37DA-4FF6-BBCB-390FA1D5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B942"/>
                </a:solidFill>
              </a:defRPr>
            </a:pPr>
            <a:r>
              <a:rPr sz="2100" b="1">
                <a:solidFill>
                  <a:srgbClr val="F4B942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9EE2F-D601-4992-830D-7BDDA51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94B"/>
                </a:solidFill>
              </a:defRPr>
            </a:pPr>
            <a:r>
              <a:rPr sz="1650" b="1">
                <a:solidFill>
                  <a:srgbClr val="16794B"/>
                </a:solidFill>
              </a:rPr>
              <a:t>AZURE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CE78F-CB17-462E-A90F-1B761C84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44D"/>
                </a:solidFill>
              </a:defRPr>
            </a:pPr>
            <a:r>
              <a:rPr sz="1800" b="1">
                <a:solidFill>
                  <a:srgbClr val="12344D"/>
                </a:solidFill>
              </a:rPr>
              <a:t>Learner exit question: “Can you prove which commit is running?”</a:t>
            </a:r>
          </a:p>
        </p:txBody>
      </p:sp>
    </p:spTree>
    <p:extLst>
      <p:ext uri="{BB962C8B-B14F-4D97-AF65-F5344CB8AC3E}">
        <p14:creationId xmlns:p14="http://schemas.microsoft.com/office/powerpoint/2010/main" val="944286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2026-09-01T17:15:01.4310000Z</dcterms:created>
  <dcterms:modified xsi:type="dcterms:W3CDTF">2026-09-01T17:15:01.4320000Z</dcterms:modified>
</coreProperties>
</file>