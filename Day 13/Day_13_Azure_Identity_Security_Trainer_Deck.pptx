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c307e6d81f4171" /><Relationship Type="http://schemas.openxmlformats.org/officeDocument/2006/relationships/extended-properties" Target="/docProps/app.xml" Id="Rd9d6ed22bbbe4260" /><Relationship Type="http://schemas.openxmlformats.org/officeDocument/2006/relationships/officeDocument" Target="/ppt/presentation.xml" Id="Rbac56ea8b38a40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9a1acc99884a82"/>
  </p:sldMasterIdLst>
  <p:notesMasterIdLst>
    <p:notesMasterId xmlns:r="http://schemas.openxmlformats.org/officeDocument/2006/relationships" r:id="R1eeb495b33e44f3f"/>
  </p:notesMasterIdLst>
  <p:sldIdLst>
    <p:sldId xmlns:r="http://schemas.openxmlformats.org/officeDocument/2006/relationships" id="256" r:id="R998be2320a5d47e9"/>
    <p:sldId xmlns:r="http://schemas.openxmlformats.org/officeDocument/2006/relationships" id="257" r:id="Ree0daed4cdb14224"/>
    <p:sldId xmlns:r="http://schemas.openxmlformats.org/officeDocument/2006/relationships" id="258" r:id="R3367505acaa348ea"/>
    <p:sldId xmlns:r="http://schemas.openxmlformats.org/officeDocument/2006/relationships" id="259" r:id="Rac9fdd4525dd49cf"/>
    <p:sldId xmlns:r="http://schemas.openxmlformats.org/officeDocument/2006/relationships" id="260" r:id="R197bb19e94c444cc"/>
    <p:sldId xmlns:r="http://schemas.openxmlformats.org/officeDocument/2006/relationships" id="261" r:id="Rd4870ba93596489f"/>
    <p:sldId xmlns:r="http://schemas.openxmlformats.org/officeDocument/2006/relationships" id="262" r:id="Rfde14a10014d4938"/>
    <p:sldId xmlns:r="http://schemas.openxmlformats.org/officeDocument/2006/relationships" id="263" r:id="R495b58f0158947e8"/>
    <p:sldId xmlns:r="http://schemas.openxmlformats.org/officeDocument/2006/relationships" id="264" r:id="R39e8fff5272e4c4f"/>
    <p:sldId xmlns:r="http://schemas.openxmlformats.org/officeDocument/2006/relationships" id="265" r:id="Rd5618598734442d4"/>
    <p:sldId xmlns:r="http://schemas.openxmlformats.org/officeDocument/2006/relationships" id="266" r:id="R53cf44755d044934"/>
    <p:sldId xmlns:r="http://schemas.openxmlformats.org/officeDocument/2006/relationships" id="267" r:id="Rdec3fa1f49ca4d0e"/>
    <p:sldId xmlns:r="http://schemas.openxmlformats.org/officeDocument/2006/relationships" id="268" r:id="Rdd4fecc4aaad4a56"/>
    <p:sldId xmlns:r="http://schemas.openxmlformats.org/officeDocument/2006/relationships" id="269" r:id="R63166ac3bd5e47bd"/>
    <p:sldId xmlns:r="http://schemas.openxmlformats.org/officeDocument/2006/relationships" id="270" r:id="R92614761bd6d4255"/>
    <p:sldId xmlns:r="http://schemas.openxmlformats.org/officeDocument/2006/relationships" id="271" r:id="R0e15bbe4057a44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de5d9cd39d42d9" /><Relationship Type="http://schemas.openxmlformats.org/officeDocument/2006/relationships/slideMaster" Target="/ppt/slideMasters/slideMaster1.xml" Id="Re89a1acc99884a82" /><Relationship Type="http://schemas.openxmlformats.org/officeDocument/2006/relationships/notesMaster" Target="/ppt/notesMasters/notesMaster1.xml" Id="R1eeb495b33e44f3f" /><Relationship Type="http://schemas.openxmlformats.org/officeDocument/2006/relationships/presProps" Target="/ppt/presProps.xml" Id="R5408f141963b4dde" /><Relationship Type="http://schemas.openxmlformats.org/officeDocument/2006/relationships/tableStyles" Target="/ppt/tableStyles.xml" Id="Rff4d19e4de104de4" /><Relationship Type="http://schemas.openxmlformats.org/officeDocument/2006/relationships/slide" Target="/ppt/slides/slide1.xml" Id="R998be2320a5d47e9" /><Relationship Type="http://schemas.openxmlformats.org/officeDocument/2006/relationships/slide" Target="/ppt/slides/slide2.xml" Id="Ree0daed4cdb14224" /><Relationship Type="http://schemas.openxmlformats.org/officeDocument/2006/relationships/slide" Target="/ppt/slides/slide3.xml" Id="R3367505acaa348ea" /><Relationship Type="http://schemas.openxmlformats.org/officeDocument/2006/relationships/slide" Target="/ppt/slides/slide4.xml" Id="Rac9fdd4525dd49cf" /><Relationship Type="http://schemas.openxmlformats.org/officeDocument/2006/relationships/slide" Target="/ppt/slides/slide5.xml" Id="R197bb19e94c444cc" /><Relationship Type="http://schemas.openxmlformats.org/officeDocument/2006/relationships/slide" Target="/ppt/slides/slide6.xml" Id="Rd4870ba93596489f" /><Relationship Type="http://schemas.openxmlformats.org/officeDocument/2006/relationships/slide" Target="/ppt/slides/slide7.xml" Id="Rfde14a10014d4938" /><Relationship Type="http://schemas.openxmlformats.org/officeDocument/2006/relationships/slide" Target="/ppt/slides/slide8.xml" Id="R495b58f0158947e8" /><Relationship Type="http://schemas.openxmlformats.org/officeDocument/2006/relationships/slide" Target="/ppt/slides/slide9.xml" Id="R39e8fff5272e4c4f" /><Relationship Type="http://schemas.openxmlformats.org/officeDocument/2006/relationships/slide" Target="/ppt/slides/slide10.xml" Id="Rd5618598734442d4" /><Relationship Type="http://schemas.openxmlformats.org/officeDocument/2006/relationships/slide" Target="/ppt/slides/slide11.xml" Id="R53cf44755d044934" /><Relationship Type="http://schemas.openxmlformats.org/officeDocument/2006/relationships/slide" Target="/ppt/slides/slide12.xml" Id="Rdec3fa1f49ca4d0e" /><Relationship Type="http://schemas.openxmlformats.org/officeDocument/2006/relationships/slide" Target="/ppt/slides/slide13.xml" Id="Rdd4fecc4aaad4a56" /><Relationship Type="http://schemas.openxmlformats.org/officeDocument/2006/relationships/slide" Target="/ppt/slides/slide14.xml" Id="R63166ac3bd5e47bd" /><Relationship Type="http://schemas.openxmlformats.org/officeDocument/2006/relationships/slide" Target="/ppt/slides/slide15.xml" Id="R92614761bd6d4255" /><Relationship Type="http://schemas.openxmlformats.org/officeDocument/2006/relationships/slide" Target="/ppt/slides/slide16.xml" Id="R0e15bbe4057a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9478c3580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da42a4de364adb" /><Relationship Type="http://schemas.openxmlformats.org/officeDocument/2006/relationships/notesMaster" Target="/ppt/notesMasters/notesMaster1.xml" Id="R2ee2a55de92d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7ac556137f43d7" /><Relationship Type="http://schemas.openxmlformats.org/officeDocument/2006/relationships/notesMaster" Target="/ppt/notesMasters/notesMaster1.xml" Id="Rd770c1eed9aa4c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a6dc95a19549b7" /><Relationship Type="http://schemas.openxmlformats.org/officeDocument/2006/relationships/notesMaster" Target="/ppt/notesMasters/notesMaster1.xml" Id="R0f6517ef5f6a4b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48027a38245e7" /><Relationship Type="http://schemas.openxmlformats.org/officeDocument/2006/relationships/notesMaster" Target="/ppt/notesMasters/notesMaster1.xml" Id="R42a9dd637bfe4a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755ca5d82047d8" /><Relationship Type="http://schemas.openxmlformats.org/officeDocument/2006/relationships/notesMaster" Target="/ppt/notesMasters/notesMaster1.xml" Id="R10cb4c5b739a4f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affad5bee5487e" /><Relationship Type="http://schemas.openxmlformats.org/officeDocument/2006/relationships/notesMaster" Target="/ppt/notesMasters/notesMaster1.xml" Id="R2e6f74ce6de648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64e3ce54749e7" /><Relationship Type="http://schemas.openxmlformats.org/officeDocument/2006/relationships/notesMaster" Target="/ppt/notesMasters/notesMaster1.xml" Id="R6d21d19c58b143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e12cade7d74953" /><Relationship Type="http://schemas.openxmlformats.org/officeDocument/2006/relationships/notesMaster" Target="/ppt/notesMasters/notesMaster1.xml" Id="R10089e1d4ef646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320ac0eae646dc" /><Relationship Type="http://schemas.openxmlformats.org/officeDocument/2006/relationships/notesMaster" Target="/ppt/notesMasters/notesMaster1.xml" Id="Rab9a52ed78cb4d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aaf89aa7dd438c" /><Relationship Type="http://schemas.openxmlformats.org/officeDocument/2006/relationships/notesMaster" Target="/ppt/notesMasters/notesMaster1.xml" Id="R59ee1e8956a54c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05651b4b424540" /><Relationship Type="http://schemas.openxmlformats.org/officeDocument/2006/relationships/notesMaster" Target="/ppt/notesMasters/notesMaster1.xml" Id="Rb745e473692442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1ea9f592bb4ec2" /><Relationship Type="http://schemas.openxmlformats.org/officeDocument/2006/relationships/notesMaster" Target="/ppt/notesMasters/notesMaster1.xml" Id="R77153dca6b8e41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5db559958f47d0" /><Relationship Type="http://schemas.openxmlformats.org/officeDocument/2006/relationships/notesMaster" Target="/ppt/notesMasters/notesMaster1.xml" Id="R3fdd278ded1b41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9cce68a96b439f" /><Relationship Type="http://schemas.openxmlformats.org/officeDocument/2006/relationships/notesMaster" Target="/ppt/notesMasters/notesMaster1.xml" Id="R01252ae66e4a4b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84eba6ec11433c" /><Relationship Type="http://schemas.openxmlformats.org/officeDocument/2006/relationships/notesMaster" Target="/ppt/notesMasters/notesMaster1.xml" Id="R87bb709c19af4f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f69bc3641044b8" /><Relationship Type="http://schemas.openxmlformats.org/officeDocument/2006/relationships/notesMaster" Target="/ppt/notesMasters/notesMaster1.xml" Id="Rdd98b60b6db2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080edc0f34a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fae62360184c77" /><Relationship Type="http://schemas.openxmlformats.org/officeDocument/2006/relationships/slideLayout" Target="/ppt/slideLayouts/slideLayout1.xml" Id="R7e36e63a817a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36e63a817a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eca0ba255446a" /><Relationship Type="http://schemas.openxmlformats.org/officeDocument/2006/relationships/notesSlide" Target="/ppt/notesSlides/notesSlide1.xml" Id="Ra0fea9f8ad3140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b370bbace4fc4" /><Relationship Type="http://schemas.openxmlformats.org/officeDocument/2006/relationships/notesSlide" Target="/ppt/notesSlides/notesSlide2.xml" Id="R6917b721311f4a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d01fc59f5464c" /><Relationship Type="http://schemas.openxmlformats.org/officeDocument/2006/relationships/notesSlide" Target="/ppt/notesSlides/notesSlide3.xml" Id="R94e34bbb015345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3671a8b08490c" /><Relationship Type="http://schemas.openxmlformats.org/officeDocument/2006/relationships/notesSlide" Target="/ppt/notesSlides/notesSlide4.xml" Id="Rde651e85a8e244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3bdac6e7c435e" /><Relationship Type="http://schemas.openxmlformats.org/officeDocument/2006/relationships/notesSlide" Target="/ppt/notesSlides/notesSlide5.xml" Id="R6441319fa66c4c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5c2d9678d4143" /><Relationship Type="http://schemas.openxmlformats.org/officeDocument/2006/relationships/notesSlide" Target="/ppt/notesSlides/notesSlide6.xml" Id="Rf05ba0b0c8044e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e776e06654f78" /><Relationship Type="http://schemas.openxmlformats.org/officeDocument/2006/relationships/notesSlide" Target="/ppt/notesSlides/notesSlide7.xml" Id="R207a3c8ef02c44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4c512edb34dac" /><Relationship Type="http://schemas.openxmlformats.org/officeDocument/2006/relationships/notesSlide" Target="/ppt/notesSlides/notesSlide8.xml" Id="Rb4de3f5e95c04d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f0c638b924831" /><Relationship Type="http://schemas.openxmlformats.org/officeDocument/2006/relationships/notesSlide" Target="/ppt/notesSlides/notesSlide9.xml" Id="R9bce2168c5804a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ca715ba2e49ed" /><Relationship Type="http://schemas.openxmlformats.org/officeDocument/2006/relationships/notesSlide" Target="/ppt/notesSlides/notesSlide10.xml" Id="Re318e39f38644e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03a6b0b824b7a" /><Relationship Type="http://schemas.openxmlformats.org/officeDocument/2006/relationships/notesSlide" Target="/ppt/notesSlides/notesSlide11.xml" Id="R7f603aabcb694f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730537b6c4187" /><Relationship Type="http://schemas.openxmlformats.org/officeDocument/2006/relationships/notesSlide" Target="/ppt/notesSlides/notesSlide12.xml" Id="Rfcb77c27f3d84d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60001dc8f4691" /><Relationship Type="http://schemas.openxmlformats.org/officeDocument/2006/relationships/notesSlide" Target="/ppt/notesSlides/notesSlide13.xml" Id="R2dc9be98d9984e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1f5f3d524a8f" /><Relationship Type="http://schemas.openxmlformats.org/officeDocument/2006/relationships/notesSlide" Target="/ppt/notesSlides/notesSlide14.xml" Id="Re2cee3806dd942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7c4b6d3a74aee" /><Relationship Type="http://schemas.openxmlformats.org/officeDocument/2006/relationships/notesSlide" Target="/ppt/notesSlides/notesSlide15.xml" Id="Rd0f1e8007b5f44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fa75389e043e3" /><Relationship Type="http://schemas.openxmlformats.org/officeDocument/2006/relationships/notesSlide" Target="/ppt/notesSlides/notesSlide16.xml" Id="R4f472b5d36f1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600DA-BF6D-438D-9BDF-BEFC9FDB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5AB48-CC3B-488F-A770-B8A17CED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CLOUD DATA AND GENAI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DFB52-1103-4B0E-84C1-895166CB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85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7365D"/>
                </a:solidFill>
              </a:defRPr>
            </a:pPr>
            <a:r>
              <a:rPr sz="4275" b="1">
                <a:solidFill>
                  <a:srgbClr val="17365D"/>
                </a:solidFill>
              </a:rPr>
              <a:t>Azure Identity</a:t>
            </a:r>
          </a:p>
          <a:p xmlns:a="http://schemas.openxmlformats.org/drawingml/2006/main">
            <a:pPr algn="l">
              <a:defRPr sz="4275" b="1">
                <a:solidFill>
                  <a:srgbClr val="17365D"/>
                </a:solidFill>
              </a:defRPr>
            </a:pPr>
            <a:r>
              <a:rPr sz="4275" b="1">
                <a:solidFill>
                  <a:srgbClr val="17365D"/>
                </a:solidFill>
              </a:rPr>
              <a:t>and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83F91-DF2C-4345-AC98-75476A17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Microsoft Entra ID, RBAC, MFA, service principals, SAS and Microsoft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F7FBA-7A45-4AB2-8E97-D568BFAC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3BB6B-7A7A-40F2-8B6B-83B4E60C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</a:defRPr>
            </a:pPr>
            <a:r>
              <a:rPr sz="1125" b="1">
                <a:solidFill>
                  <a:srgbClr val="1F4E79"/>
                </a:solidFill>
              </a:rPr>
              <a:t>Day 13 trainer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0D414-4E2D-48D8-B6F9-B442A307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A0110-733D-44AC-81AB-145BC489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05F2D-2633-47A1-8B02-D309AF13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2833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A3FEC-0DE1-4A80-9100-09377441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B2F98-7C11-4CDA-8A75-EC1A3A12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Identity is the starting point of Azure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D6B22-87CF-4D93-AA4E-F6FD3105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First prove who is requesting access. Then decide what that identity may 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E5B85-C6A8-4115-9C0F-61A8EDA2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0FB05-178D-427A-8BE7-746977A0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Different identities need different access: people, applications and temporary external consumers.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9D62E-84A1-40B4-9B33-EBFA7911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44798-DD69-40D3-87F1-3E624C4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safest access is limited by role, scope and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A3D47-A84E-49C4-85C7-CA4E2C27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B6842-B11B-4CB0-A6E9-F92E32EF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Security controls must enable delivery, not become shared-password workarounds.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2984B-84F0-48CA-ABFD-E8AAA342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9E10C-5D3C-4614-8896-02B16745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40DEF-FEBF-4524-80D3-841BFF5D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4270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C6E8D-424F-4E08-8F43-2DA88384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6E8E8-5528-4E3E-A7D2-0BC4EBF3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A simple healthcare application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C1C69-8D83-4ACB-89BF-60EA7F72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one scenario throughout the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A9076-88EC-4CF2-A9D7-38209620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816CD-3E47-48C6-80C1-B168D1D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Ravi</a:t>
            </a:r>
          </a:p>
          <a:p xmlns:a="http://schemas.openxmlformats.org/drawingml/2006/main">
            <a:pPr algn="ctr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developer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16251-2D22-463D-B8E2-793508ED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MFA + Contributor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on one project RG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79B51-9B9E-4562-82BF-60CD5FC9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AA561-C11B-424F-B787-D652A649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Deploy bot</a:t>
            </a:r>
          </a:p>
          <a:p xmlns:a="http://schemas.openxmlformats.org/drawingml/2006/main">
            <a:pPr algn="ctr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F85C2-F59E-4B13-8FE6-334B1E2E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Service principal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scoped to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1E710-BE58-4678-BCD5-125D6548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4A25-93FF-470F-8D89-8FB69B4F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Data analyst</a:t>
            </a:r>
          </a:p>
          <a:p xmlns:a="http://schemas.openxmlformats.org/drawingml/2006/main">
            <a:pPr algn="ctr"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external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EFE28-806D-46A1-8AFD-C283D60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Short-lived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read-only SAS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FE56D-8BD6-47FB-931D-6E583752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820F0-81C9-4683-83C3-23BDC97F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28776-96DC-4E95-868A-BDA78D60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343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C6C34-18FA-4504-8877-48CF6C98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F8841-BBB6-49B8-A924-0C28A8F4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Authentication and authorization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C7B03-77AA-4EEC-ABBF-08DE107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Both are required for a secure sign-in.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7815B-D316-4B0C-8E7D-F3E0B421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64127-8D4D-4ED7-B174-D903C074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4E79"/>
                </a:solidFill>
              </a:defRPr>
            </a:pPr>
            <a:r>
              <a:rPr sz="2100" b="1">
                <a:solidFill>
                  <a:srgbClr val="1F4E79"/>
                </a:solidFill>
              </a:rPr>
              <a:t>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5AD36-E21F-424E-9BEE-BC197D2D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432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Who are you?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Password plus MFA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0F19F-6569-4D56-8DC6-01B0E44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1047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5BF90-DAA1-4AD5-A366-0578847B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31BC7-1241-4B86-B148-85056FA8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Authorization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4E5AA-91EF-4949-97CB-967C0508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What can you do?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RBAC role at a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66E4F-F989-4F93-85C0-1F15DE23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1998D-14E1-4324-9D68-E68ADF0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322AE-FF6E-45F5-93A4-9FE5F2F1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63830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602E2-0253-497E-8ED4-59D57187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13311-5FC4-4649-8CB6-B1501194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Microsoft Entra ID manages identities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69C5A-5DE3-4ABF-8A7E-717A8759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It stores and governs users, groups, applications and sign-in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B8D77-9F64-41D5-A4EF-80B7C57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0FBF2-E3FE-41B6-A678-8C9B49B1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Users: identities for people.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776D0-0842-47AF-B115-47D04DE0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48082-F06F-4B57-967B-0CDCB6E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05075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Groups: reusable collections of users.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30719-E1B6-470D-B3BC-508D74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87725-B123-4487-9CE9-B99FEBCF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Applications and service principals: identities for software.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881B9-DB4B-47C0-A55D-5A39A353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98189-DD15-40A1-A2F5-633AA287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9975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MFA and Conditional Access: sign-in protection and policy.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96FEF-24E8-4D51-BEA7-2D1519A7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02B66-1175-4438-9F9D-87E24AC2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D60A7-762C-4454-9028-E4F13971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2949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DBC3F-740D-4646-AC72-1911DE9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2E600-951E-4A56-BC62-D9821738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Azure RBAC controls access to Azure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970F5-5BC4-4D25-93CC-F265CA3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Roles must be assigned at the smallest useful scope.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3661C-24D9-4F2E-81D0-0388106C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8572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5D95-74EE-47D2-9CA0-1C043A7C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050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</a:defRPr>
            </a:pPr>
            <a:r>
              <a:rPr sz="1575" b="1">
                <a:solidFill>
                  <a:srgbClr val="1F4E79"/>
                </a:solidFill>
              </a:rPr>
              <a:t>Subscription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A742A-2F8B-4978-B2AB-CF669BBB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Avoid broad student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99B7E-E1B0-45B2-8CD3-AE1B4524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71800"/>
            <a:ext cx="8572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913CE-7DB5-4573-80B0-D6675801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813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</a:defRPr>
            </a:pPr>
            <a:r>
              <a:rPr sz="1575" b="1">
                <a:solidFill>
                  <a:srgbClr val="1F4E79"/>
                </a:solidFill>
              </a:rPr>
              <a:t>Resource 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2F542-70FE-41F5-8D9D-FF2EB234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Recommended student project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47847-294D-424D-BFEB-230FCCD3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48100"/>
            <a:ext cx="8572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1196C-A2A4-4B38-8D53-12071F2E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576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</a:defRPr>
            </a:pPr>
            <a:r>
              <a:rPr sz="1575" b="1">
                <a:solidFill>
                  <a:srgbClr val="1F4E79"/>
                </a:solidFill>
              </a:rPr>
              <a:t>Resource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E8288-D7CE-4E6D-A68D-41FDE1F2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Use for a single sensitive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7994F-E098-49E1-A7FD-34331CE2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797B5-599E-4EE9-A24E-BBD6BA75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8C517-709D-4B45-8A85-88BBAB37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4068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256A3-DC34-4093-8271-1AB3C1BD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46E2A-475C-4763-9F5E-BC807567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Use least privilege in the class tenant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A59D0-E372-4617-9E70-AE263903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Students should not receive subscription-wide Owner.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8EDC2-A3F8-4642-BFA8-AD025BC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CD08E-62BB-420C-BB28-65E2BDF2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7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Reader: view resources 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FDFCB-9EDE-4E7E-8B8C-272BC1E6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DB023-A1A0-435D-AEE5-AF2110BD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997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Contributor: create and manage resources, but cannot grant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A1CD1-D225-4522-9F6A-D34D21E6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8A173-0468-4E15-A792-68305275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57525"/>
            <a:ext cx="997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Owner: includes access management; reserve for administrators.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D815D-FE99-4AAC-8C55-F08DCE2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CA900-DAB4-4798-B404-370BE65F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9975"/>
            <a:ext cx="9972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Storage Blob Data Contributor: access data inside Blob Storage - separate from Contributor.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06854-3732-4688-B8B6-77831201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3D8B7-1E7B-40AC-A5F1-FCF0E63E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C4A8F-E72F-46B8-992E-251BEE86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8082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C5FB3-42BB-4776-9DAD-D3B7560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3B036-5B9C-4FC5-B157-D833560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Role assignments combine identity, role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9C5DD-0D95-499C-A99D-A5644604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A role alone is not enough; it needs the right identity and target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F8850-D1D9-4173-829A-278E1EC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F4D0E-0EE0-49AB-B99A-830D8F6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4E79"/>
                </a:solidFill>
              </a:defRPr>
            </a:pPr>
            <a:r>
              <a:rPr sz="1725" b="1">
                <a:solidFill>
                  <a:srgbClr val="1F4E79"/>
                </a:solidFill>
              </a:rPr>
              <a:t>Identity</a:t>
            </a:r>
          </a:p>
          <a:p xmlns:a="http://schemas.openxmlformats.org/drawingml/2006/main">
            <a:pPr algn="ctr">
              <a:defRPr sz="1725" b="1">
                <a:solidFill>
                  <a:srgbClr val="1F4E79"/>
                </a:solidFill>
              </a:defRPr>
            </a:pPr>
            <a:r>
              <a:rPr sz="1725" b="1">
                <a:solidFill>
                  <a:srgbClr val="1F4E79"/>
                </a:solidFill>
              </a:rPr>
              <a:t>student01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99BD9-0320-41DC-85B7-7C93DB18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24175"/>
            <a:ext cx="1047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65F90-C655-49EF-B5A2-1301F3E5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2EF57-D64C-42D4-BCB1-2A20BDB7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Role</a:t>
            </a:r>
          </a:p>
          <a:p xmlns:a="http://schemas.openxmlformats.org/drawingml/2006/main">
            <a:pPr algn="ctr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Contributor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C7B88-907F-4D57-ADE0-0F331D0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24175"/>
            <a:ext cx="1047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C0654-9740-4E6E-B4BD-9621AEDB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07C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03255-D3CE-4003-8103-1E0B9567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7C10"/>
                </a:solidFill>
              </a:defRPr>
            </a:pPr>
            <a:r>
              <a:rPr sz="1650" b="1">
                <a:solidFill>
                  <a:srgbClr val="107C10"/>
                </a:solidFill>
              </a:rPr>
              <a:t>Scope</a:t>
            </a:r>
          </a:p>
          <a:p xmlns:a="http://schemas.openxmlformats.org/drawingml/2006/main">
            <a:pPr algn="ctr">
              <a:defRPr sz="1650" b="1">
                <a:solidFill>
                  <a:srgbClr val="107C10"/>
                </a:solidFill>
              </a:defRPr>
            </a:pPr>
            <a:r>
              <a:rPr sz="1650" b="1">
                <a:solidFill>
                  <a:srgbClr val="107C10"/>
                </a:solidFill>
              </a:rPr>
              <a:t>rg-day13-s01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DB02A-C0B6-4113-B2E4-D67CBC93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1EA39-03AA-4EFB-8A6B-E3B49F1D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D922E-534E-4811-BA5D-0C6AE8FA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50594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AC059-A31A-4F0C-BC24-EF596748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384E8-210B-4764-BD51-6CC2E5D1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MFA reduces the impact of password theft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4189A-9408-4E34-A426-D88314C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A password alone should not be enough to enter a cloud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6DE95-2E06-437F-8680-E3F46D5D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Sign-in requires at least two proofs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39A91-8FB7-4B95-84B4-91D8C729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36029-1680-4881-85C9-7CAACAD7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E79"/>
                </a:solidFill>
              </a:defRPr>
            </a:pPr>
            <a:r>
              <a:rPr sz="1425" b="1">
                <a:solidFill>
                  <a:srgbClr val="1F4E79"/>
                </a:solidFill>
              </a:rPr>
              <a:t>Something you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2C76B-F466-42E2-91F2-BEF1E70B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Password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0E4CB-2D80-449D-A295-63640173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01EE1-D37B-44BC-8E8B-A9A4CCA6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E79"/>
                </a:solidFill>
              </a:defRPr>
            </a:pPr>
            <a:r>
              <a:rPr sz="1425" b="1">
                <a:solidFill>
                  <a:srgbClr val="1F4E79"/>
                </a:solidFill>
              </a:rPr>
              <a:t>Something you 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1147E-E44B-44F0-9181-9CF5D638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95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Authenticator app or phone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A037B-AB29-4A08-AC6E-66BD4C9E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9B517-9D95-42AC-8D28-3A4E84DB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4E79"/>
                </a:solidFill>
              </a:defRPr>
            </a:pPr>
            <a:r>
              <a:rPr sz="1425" b="1">
                <a:solidFill>
                  <a:srgbClr val="1F4E79"/>
                </a:solidFill>
              </a:rPr>
              <a:t>Something you 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CCB70-9423-4916-8476-72BC0EF4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95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Biometric factor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3C3D1-EBCD-4547-92F2-5A94DC11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B9DBB-5F69-4D1E-AC94-7C5F83E3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8B778-C520-49D0-9AAD-2C4A8A5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7319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4A1B5-13A1-458D-839B-31446A4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B8BAD-2FC2-4C7E-9EC4-D2FF2D99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Conditional Access applies sign-in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33F24-EFFC-4CE4-82E9-4DE438C9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Introduce it as an if-then policy engine, not a checkbox.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49C14-EC31-4B63-BC08-EA13D3D5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812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4E79"/>
                </a:solidFill>
              </a:defRPr>
            </a:pPr>
            <a:r>
              <a:rPr sz="2175" b="1">
                <a:solidFill>
                  <a:srgbClr val="1F4E79"/>
                </a:solidFill>
              </a:rPr>
              <a:t>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AC566-857E-42C9-9313-E326B63E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administrator signs in to Azure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05261-23F5-4527-A315-CDE90B65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4E79"/>
                </a:solidFill>
              </a:defRPr>
            </a:pPr>
            <a:r>
              <a:rPr sz="2175" b="1">
                <a:solidFill>
                  <a:srgbClr val="1F4E79"/>
                </a:solidFill>
              </a:rPr>
              <a:t>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E7652-A883-404F-B119-59A0B217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the user is outside a trusted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7E2AD-7212-4EBF-84A9-CE607DD7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05250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4E79"/>
                </a:solidFill>
              </a:defRPr>
            </a:pPr>
            <a:r>
              <a:rPr sz="2175" b="1">
                <a:solidFill>
                  <a:srgbClr val="1F4E79"/>
                </a:solidFill>
              </a:rPr>
              <a:t>THEN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30581-1259-4C47-B927-0EBA0B0B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require MFA or block the sign-in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7DE07-3808-408F-A548-24FD81C9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</a:defRPr>
            </a:pPr>
            <a:r>
              <a:rPr sz="1575" b="1">
                <a:solidFill>
                  <a:srgbClr val="B42318"/>
                </a:solidFill>
              </a:rPr>
              <a:t>Pilot first. Exclude an emergency admin account. Review sign-in logs before enforcement.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CF063-8193-4434-AB4D-6B049386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878B0-A88C-4838-9DDD-B90DD39E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88B34-16E0-47F4-B6DE-EFECC7C9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51712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C25DE-84E8-4B23-90AE-3FEFE41E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86963-EBBC-4019-84FD-4BADB32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Service principals are identities for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EA847-A21C-4F9A-ACA9-D93EE4F5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A pipeline should not sign in as a human developer.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9A129-B1AA-49EC-8702-C29A5C1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2DF46-D3EA-4DF8-BC93-ECA53275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for Terraform, GitHub Actions and deployment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953E8-80FF-4814-B13D-6C898223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78C81-36FC-4690-90A4-9F73804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Grant a scoped role such as Contributor on only the deployment resource group.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EEAAC-0880-457B-8557-E5CEA9C3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0DB1B-412A-43D6-9B1F-D7B11B2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57525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Prefer workload identity federation/OIDC over long-lived client secrets.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0199F-6FBD-4C11-A20C-A43DE6B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FB637-3972-4D81-A63D-0B861DAA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9975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Store any unavoidable secret in a secure vault and rotate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58325-07D4-4030-9D89-46D8DFD1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6CE87-C39A-4FE2-81E0-0FDFD98F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EBFE0-61E4-4B28-BB2F-2E6A0AEE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35579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44D8E-75C0-42B4-8A50-9F6AFBD0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498FE-A694-41AF-8B32-71B745B8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SAS grants limited temporary Storage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05A0C-6031-4805-A799-85BA1A54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short expiry, minimum permissions and HTTPS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EFD41-BCE1-412B-9F45-A45976C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81250"/>
            <a:ext cx="2857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4557B-6931-47C3-8439-DD2EB53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479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4E79"/>
                </a:solidFill>
              </a:defRPr>
            </a:pPr>
            <a:r>
              <a:rPr sz="1725" b="1">
                <a:solidFill>
                  <a:srgbClr val="1F4E79"/>
                </a:solidFill>
              </a:rPr>
              <a:t>Storage container</a:t>
            </a:r>
          </a:p>
          <a:p xmlns:a="http://schemas.openxmlformats.org/drawingml/2006/main">
            <a:pPr algn="ctr">
              <a:defRPr sz="1725" b="1">
                <a:solidFill>
                  <a:srgbClr val="1F4E79"/>
                </a:solidFill>
              </a:defRPr>
            </a:pPr>
            <a:r>
              <a:rPr sz="1725" b="1">
                <a:solidFill>
                  <a:srgbClr val="1F4E79"/>
                </a:solidFill>
              </a:rPr>
              <a:t>day13-data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7DE9A-4655-46DA-A8BA-CA3CA3E1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33675"/>
            <a:ext cx="14287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B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8745D-B0ED-4852-86FF-9DD16797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3238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93016-C3AF-49E8-A4B6-60B296A2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A3412"/>
                </a:solidFill>
              </a:defRPr>
            </a:pPr>
            <a:r>
              <a:rPr sz="1650" b="1">
                <a:solidFill>
                  <a:srgbClr val="9A3412"/>
                </a:solidFill>
              </a:rPr>
              <a:t>SAS token</a:t>
            </a:r>
          </a:p>
          <a:p xmlns:a="http://schemas.openxmlformats.org/drawingml/2006/main">
            <a:pPr algn="ctr">
              <a:defRPr sz="1650" b="1">
                <a:solidFill>
                  <a:srgbClr val="9A3412"/>
                </a:solidFill>
              </a:defRPr>
            </a:pPr>
            <a:r>
              <a:rPr sz="1650" b="1">
                <a:solidFill>
                  <a:srgbClr val="9A3412"/>
                </a:solidFill>
              </a:rPr>
              <a:t>Read + List / two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CF627-C739-44F0-A4E7-2AAECD00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76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Do not place SAS tokens in Git, chat, screenshots or public URLs.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B4B4A-31EB-4A2E-B047-F1DC519F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6F3E2-73D1-4399-B43E-0665FCB3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4EDE0-2140-4698-BFA2-09A478F7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3889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0FAF4-B94E-48AF-9C28-8FE19796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B3C20-78B7-4FAC-97DC-AC452F6F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Microsoft Graph is the API gateway for identity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F1FB1-E863-4756-BB99-339FA99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Applications request precise API permissions before they can read or modify directory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7418C-A57B-47FB-98FC-7C764F86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CA978-BB9C-4FF3-A9AE-4E4D03EF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52625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Example: /me reads the signed-in user profile.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777A4-174A-4DFD-95A1-B59095B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B6029-47A6-43B9-A1CF-B96B65FF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05075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Permissions must match the required data and operation.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3C18A-827B-4973-BC26-8DC89E9B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F4A92-D62F-492A-8DD9-03A1D583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57525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High-impact permissions may require administrator consent.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62673-94BC-4B3A-BCEC-50CEAD50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1BA40-8F5F-46C8-81C8-23E212EC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09975"/>
            <a:ext cx="987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delegated permissions for a signed-in user; application permissions for background service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03FE4-B42F-4207-8CA9-7B870116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59007-FA8E-46B7-8285-F6CF8627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F1CD5-DFDB-4C55-91A8-FA37DAAB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118718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932DB-25A7-4E32-A244-E05A6DA3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ABA44-47CD-4EF1-9197-F9D835A2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Day 13 hands-on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D0D88-C2EF-4013-850D-8CA8E090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Students practice security without expanding tenant-wide permissions.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B5F3C-1223-4819-BD40-D68BE4AA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0BA89-9BD9-4551-9C6D-C781A3D8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1. Verify account and subscription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54FAE-3160-4A65-9C13-4B4645D1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07288-BE0F-48CF-98B5-B5B6EB01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2. Create own RG +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6A67F-44BA-4CEB-A149-4069AC57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95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9F44D-2BB7-4A89-B866-8B65ACD6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3. Observe / receive scoped RBAC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5769D-DE55-4CA1-8CBA-5F4DF379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85A5C-82DE-45A5-9C15-80FA391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4. Create short-lived SAS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68E5B-1190-4D72-B1B3-4C410836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24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0494C-FFA8-48CD-9C47-DE52A733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5. Service principal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FB5B2-319A-4A72-B5A2-33D5FD2B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24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BBE9D-E94D-4873-BF8A-8EFD2258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6. Graph concept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ECE8A-8B67-470A-8E87-936CF4B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B5571-3BFC-44E3-BEC9-DA1CF7C2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F24ED-205A-483B-97E9-949D946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94916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20FF5-0263-449D-ADD8-5A929A6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D2022-9BC6-4D61-8869-B4D3E586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Common errors can be classified quickly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4E038-8A35-4947-9047-A6417CE7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Separate Azure management permissions from data permissions and directory permissions.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D0C3B-7C52-435F-8DA1-A57485C1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382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A0C6D-21FB-4E79-A50A-DD1129C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43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</a:defRPr>
            </a:pPr>
            <a:r>
              <a:rPr sz="1425" b="1">
                <a:solidFill>
                  <a:srgbClr val="1F4E79"/>
                </a:solidFill>
              </a:rPr>
              <a:t>AuthorizationFailed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A74BA-B5EA-4A57-8204-9217FC5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Wrong Azure role or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78680-0681-48AA-A6AB-46995C3B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10382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B3204-C974-4C37-B240-E6A81F79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24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</a:defRPr>
            </a:pPr>
            <a:r>
              <a:rPr sz="1425" b="1">
                <a:solidFill>
                  <a:srgbClr val="1F4E79"/>
                </a:solidFill>
              </a:rPr>
              <a:t>403 listing blobs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52F95-EC53-4755-B295-AE740312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241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Missing Storage Blob Data Contributor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5AD76-E61F-4E1D-B753-2221EC77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14725"/>
            <a:ext cx="10382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D8269-7CBB-4562-93B0-2A2DFF63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05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</a:defRPr>
            </a:pPr>
            <a:r>
              <a:rPr sz="1425" b="1">
                <a:solidFill>
                  <a:srgbClr val="1F4E79"/>
                </a:solidFill>
              </a:rPr>
              <a:t>Insufficient privileges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96308-462D-4A1A-9074-6412C93E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052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No Microsoft Entra directory permission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15379-F758-4C8B-BA6A-2011941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95775"/>
            <a:ext cx="10382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87902-17AD-44DD-AF88-9CC9DE1D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86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</a:defRPr>
            </a:pPr>
            <a:r>
              <a:rPr sz="1425" b="1">
                <a:solidFill>
                  <a:srgbClr val="1F4E79"/>
                </a:solidFill>
              </a:rPr>
              <a:t>App cannot 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12C97-04F8-4602-A7CD-2CE337C7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8627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Service principal scope/role/credential issue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DD6FA-33AB-44AC-B22E-404C08B5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A1317-BF97-4727-96E5-F8D7F0D3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5D1DD-9668-4B67-8E58-E139991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992739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C4D51-3403-401E-B351-F457AC55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DAY 13 /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BCB48-EEAE-4FE8-A1CD-C14F54A2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5D"/>
                </a:solidFill>
              </a:defRPr>
            </a:pPr>
            <a:r>
              <a:rPr sz="2775" b="1">
                <a:solidFill>
                  <a:srgbClr val="17365D"/>
                </a:solidFill>
              </a:rPr>
              <a:t>Exit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E869E-7D7F-4FE6-B908-ABCED54B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Students should be able to choose the right identity and minimum permission.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31428-B1D0-440D-9755-9CC0E662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33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42263-1D08-4E62-8B2F-3ECDE3E3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47875"/>
            <a:ext cx="959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Why is MFA authentication and RBAC authorization?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E263E-EECF-4A29-A283-EA615E3A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6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AFA21-2C87-47EC-95C5-4655A4C9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0325"/>
            <a:ext cx="959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Why can Contributor still receive 403 for Blob data?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7B141-5ACF-4767-94F0-0A0452CD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BBFA1-1EA3-474C-B72D-9A2FEDBD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52775"/>
            <a:ext cx="959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Which identity should a deployment pipeline use?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AA5DB-9CCF-4366-A9A6-1BD88B73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69631-EB0C-4E73-B8CB-23A084ED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05225"/>
            <a:ext cx="959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What makes a SAS token safer than sharing a Storage Account key?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00D2A-9F30-49BC-9996-E98298C9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A6E11-F6C1-4AE5-B81C-E28EC07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66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and GenAI | Day 13 Azure Identity and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3AE9E-70ED-45D5-8AD5-7EB09556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45772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2026-09-10T09:51:29.0160000Z</dcterms:created>
  <dcterms:modified xsi:type="dcterms:W3CDTF">2026-09-10T09:51:29.0170000Z</dcterms:modified>
</coreProperties>
</file>