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7365D"/>
                </a:solidFill>
              </a:rPr>
              <a:t>Day 4: Develop for Azure Data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F5597"/>
                </a:solidFill>
              </a:rPr>
              <a:t>Azure SQL Database • Azure Database for PostgreSQL • Azure Cosmos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Day 4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and configure managed relational databases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Understand security, backup, performance and scaling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Deploy PostgreSQL and connect with a client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Cosmos DB consistency, change feed and global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Where Day 4 Fits in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Day 1 introduced Azure and App Service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Day 2 introduced networking and compute basics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Day 3 introduced storage and blobs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Day 4 moves into managed cloud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Core Question of the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Where should enterprise application data live?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How do we secure and back up that data?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How do we scale database workloads?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When do we choose SQL, PostgreSQL or NoSQL?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4/100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Day 4 Lab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One central subscription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14 student resource groups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Each learner creates resources only in own RG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Trainer controls SKU, cost and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Data Services Big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Application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865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2971" y="2377440"/>
            <a:ext cx="1962851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Managed DB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0102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4422" y="2377440"/>
            <a:ext cx="1962851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Security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3155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5873" y="2377440"/>
            <a:ext cx="1962851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Backup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3004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97324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Azure SQL Basic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Client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865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2971" y="2377440"/>
            <a:ext cx="1962851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Firewall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0102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4422" y="2377440"/>
            <a:ext cx="1962851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SQL Server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3155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5873" y="2377440"/>
            <a:ext cx="1962851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3004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97324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Basic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Client Tool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865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2971" y="2377440"/>
            <a:ext cx="1962851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Firewall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0102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4422" y="2377440"/>
            <a:ext cx="1962851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Flexible Server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3155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5873" y="2377440"/>
            <a:ext cx="1962851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appdb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3004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97324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DB Basic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App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4865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2971" y="2377440"/>
            <a:ext cx="1962851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Account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0102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4422" y="2377440"/>
            <a:ext cx="1962851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Database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3155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05873" y="2377440"/>
            <a:ext cx="1962851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Container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3004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97324" y="2377440"/>
            <a:ext cx="1962851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9/100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Module 1: Azure SQL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Relational database as a managed Azure service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for business applications and structured transactional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Key objects: logical server, database, firewall, compute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10/100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What Is Azure SQL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PaaS relational database service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Database engine compatibility with SQL Server ecosystem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Microsoft manages platform operations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You manage schema, users, queries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11/100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Why Use Azure 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 VM database patching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Built-in high availability capabilities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Automated backups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Scale and performance options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Security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12/100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Azure SQL Logical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Management boundary for one or more databases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Contains firewall/network settings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Hosts authentication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Not the same as a 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13/100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Single Database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Dedicated database resource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Good for simple apps or isolated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Easy for training and demos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Students will use this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14/100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Elastic Pool 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10713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Multiple databases share resources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9651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2377440"/>
            <a:ext cx="2510713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Useful for many small variable databases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2377440"/>
            <a:ext cx="2510713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Can improve cost efficiency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7514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2377440"/>
            <a:ext cx="2510713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Not required for Day 4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15/100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Managed Instance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Closer compatibility for SQL Server migration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VNet-integrated managed platform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Good for lift-and-shift scenarios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More advanced than Day 4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16/100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Deployment and Pricing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Region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Compute model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Storage size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Backup retention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High availability and redundancy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17/100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DTU vs vCore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DTU is blended measure of compute/database resources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vCore is more transparent compute model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only at high level today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Do not overcomplicate 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18/100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Serverless vs Provisioned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Provisioned: resources allocated for steady usage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Serverless: can scale with intermittent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May auto-pause based on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Always verify cost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19/100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Creating Azure SQL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subscription and student RG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logical server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Select low-cost tier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Configure networking and authentication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Review and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20/100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SQL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Simple for classroom labs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Uses server admin username/password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Must be handled securely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Not ideal as only enterprise auth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21/100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Microsoft Entra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Enterprise identity-based access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Can reduce password sharing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Better governance and auditing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Requires trainer/admin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22/100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Firewall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Control which client IPs can connect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Default should not allow everyone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Add only required client IPs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Remove unnecessary rules after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23/100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Connection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Contain server endpoint, database and auth details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Used by apps and tools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Never commit secrets to Git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 Key Vault in enterprise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24/100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Azure SQL Query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Products table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sample rows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Run SELECT and GROUP BY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Confirm connection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25/100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SQL Lab Script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TABLE defines structure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adds records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SELECT validates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GROUP BY performs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26/100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Security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Identity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Network access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Authorization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Encryption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Auditing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Backup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27/100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Encryption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Encryption at rest protects stored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TLS protects traffic in transit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Encryption is necessary but not sufficient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Access control still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28/100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Backup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Automated platform backups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Point-in-time restore concept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Geo-restore concept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Retention decisions affect recovery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29/100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Performance Tuning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correct service tier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 indexes appropriately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Avoid inefficient queries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Monitor CPU, IO and waits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Scale only when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30/100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Scaling Azure 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Scale up for more compute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Serverless can scale based on usage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Elastic pools share capacity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Always weigh cost and performance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Monitoring Azure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Metrics show usage trends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Query performance tools help optimization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Alerts help operational response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Monitoring is part of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32/100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Common Azure SQL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Firewall blocks connection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server name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login or password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Expensive SKU selected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Query is inefficient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33/100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Azure SQL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relational database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Best for structured data and transactions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Requires security and network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Includes backup and scaling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34/100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Module 2: Azure Database for PostgreSQL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10713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Managed PostgreSQL service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9651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2377440"/>
            <a:ext cx="2510713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Flexible Server is practical for training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2377440"/>
            <a:ext cx="2510713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Good for open-source relational workloads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7514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2377440"/>
            <a:ext cx="2510713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Day 4 practical exercise focuses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35/100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Why PostgreSQL?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Open-source database ecosystem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Strong SQL and relational features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Popular with cloud-native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when PostgreSQL compatibility is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36/100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Flexible Server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PostgreSQL server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compute, storage and region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Configure access and backups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one or more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37/100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vs Azure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Both are relational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Different engines and ecosystems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SQL dialect differences exist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based on app needs and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38/100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flexible server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Configure networking/firewall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appdb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Connect using client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and query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39/100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Naming and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Server name must be unique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Admin username/password required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Port 5432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SSL is typically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40/100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Public access with selected IP for training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Private access for enterprise designs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Firewall must allow client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Avoid broad public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41/100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Azure Data Studio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Data Studio can connect to PostgreSQL with extension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pgAdmin and psql are also valid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Data Explorer is a separate Kusto service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 correct client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42/100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Query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customers table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sample customers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Run aggregation by city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Validate connectivity and SQL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43/100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Backup and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manages platform operations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Backup options depend on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Students should know restore concept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Do not perform unnecessary restores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44/100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Compute tier controls capacity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Storage grows based on settings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Burstable options are good for training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Scale carefully to control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45/100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Firewall not configured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SSL mode missing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server endpoint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password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Server not fully provisioned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46/100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PostgreSQL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open-source relational service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Suitable for PostgreSQL-compatible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Requires network and auth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Students should run SQL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47/100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Module 3: Azure Cosmos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Globally distributed NoSQL database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Stores JSON items in containers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Designed for low latency and scale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 as concept/demo if cost-sensitive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48/100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DB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User profiles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IoT telemetry metadata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Shopping carts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Catalogs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Globally distributed app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49/100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DB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NoSQL API is common for JSON documents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MongoDB API for Mongo-compatible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PostgreSQL/Cassandra/Gremlin options exist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API based on app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50/100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Top-level Cosmos DB resource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Defines API and distribution settings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Contains databases and containers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Region selection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51/100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Logical grouping of containers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Not the same as relational database engine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Can be throughput-scoped in some designs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for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52/100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Stores JSON items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Defines partition key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Throughput and indexing are important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Main scalability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53/100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Item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JSON document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Has an id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Can contain flexible properties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Schema can evolve at app level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54/100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Partition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10713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Distributes data across partitions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9651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2377440"/>
            <a:ext cx="2510713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Impacts performance and cost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2377440"/>
            <a:ext cx="2510713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Should match access pattern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7514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2377440"/>
            <a:ext cx="2510713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Bad partition key causes hot partitions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55/100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RU/s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Request Units measure operation cost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Reads, writes and queries consume RUs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Higher throughput costs more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Optimize queries and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56/100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Consistency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Trade-off between freshness, latency and availability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Session consistency is common for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Strongest consistency is not always best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with business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57/100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Strong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Reads see latest committed writes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when absolute freshness is critical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Can impact latency/global scale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Discuss as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58/100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Session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User sees own writes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Often practical for web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Good balance for many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Easy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59/100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Eventual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Replicas converge over time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Fast and available for many scenarios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Reads may be stale temporarily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for non-critical freshness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60/100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Change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Stream of changes from a container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Useful for event-driven processing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Can update search, analytics or notifications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Bridge to future data engineering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61/100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Global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Replicate data to multiple regions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Improve user latency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Increase resilience options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Cost and consistency must be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62/100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DB Lab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Trainer demo recommended if cost-sensitive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NoSQL account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container with partition key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JSON item and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63/100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Cosmos DB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NoSQL JSON database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Designed for scale and global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Partition key is critical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Consistency and throughput are design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64/100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Comparing Azure Data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SQL: relational SQL Server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PostgreSQL: open-source relational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Cosmos DB: JSON/NoSQL/global scale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based on workload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65/100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Need strict relational schema? SQL or PostgreSQL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Need SQL Server ecosystem? Azure SQL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Need PostgreSQL compatibility? PostgreSQL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Need JSON global scale? Cosmos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66/100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Security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All need identity and network controls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All require least privilege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Secrets should not be stored in code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Production should prefer managed identity/Key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67/100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Backup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backups simplify operations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Restore strategy must be tested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 deletion mistakes still matter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Backup is not a substitute for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68/100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Cost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Compute tier matters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Storage matters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Throughput matters in Cosmos DB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Delete unused training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69/100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Lab Environment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 account works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Assigned RG visible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Contributor access verified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Region and SKU confirmed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Client tools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70/100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Student Lab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Open resource group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Verify subscription context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List existing resources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Do not use another student 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71/100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Student Lab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Azure SQL Database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logical server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Configure firewall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Connect and run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72/100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Student Lab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SQL scaling settings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backup options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security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Point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 not scale unless approved</a:t>
                      </a: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73/100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Student Lab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PostgreSQL Flexible Server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appdb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Configure firewall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Connect and run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74/100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Student Lab 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10713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Cosmos DB concept/demo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9651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2377440"/>
            <a:ext cx="2510713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Create account only if approved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2377440"/>
            <a:ext cx="2510713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Insert JSON item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7514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2377440"/>
            <a:ext cx="2510713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Explain partition key and RU/s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75/100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Practical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both relational databases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and query sample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security/firewall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cost and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76/100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Trainer Demo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Create one resource in advance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Show failure before firewall rule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Show successful connection after rule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Keep cost screen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77/100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Common Student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tenant or subscription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Wrong resource group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Choosing expensive SKU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Forgetting firewall rule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Not using SSL for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78/100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Troubleshooting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Read exact error message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Check resource group and region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Check firewall/network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Check credentials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Check provisioning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79/100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Production Architecture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Application uses Key Vault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identity where possible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Private endpoints for databases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Monitoring and alerts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Automated backup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80/100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How This Connects to 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Databases need network access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Traffic management affects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Load balancers and gateways protect access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 services remain behind secure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81/100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How This Connects to Databricks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Databases can become data sources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ADF can copy data from DBs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Databricks can process curated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Lakehouse modules build on this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82/100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How This Connects to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Power BI can connect to relational data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Data model design matters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Security and performance affect reports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Later modules extend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83/100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How This Connects to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Enterprise data can ground AI apps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RAG needs trusted sources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Agents may query approved data services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Security and governance become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84/100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Assessment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Azure SQL vs PostgreSQL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Cosmos DB partition key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firewall rule purpose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backup and restore concept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change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85/100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Mini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a logical SQL server?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does firewall protect?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does scale up mean?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automated backup?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86/100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Mini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PostgreSQL Flexible Server?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Why use SSL?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port 5432?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Which tools can connect?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87/100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Mini Quiz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a Cosmos container?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a partition key?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RU/s?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What is change feed?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88/100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Hands-On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App can connect to SQL DB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PostgreSQL query returns rows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Cosmos concept understood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Resources remain inside assigned 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89/100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Cleanup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510713" cy="1097280"/>
          </a:xfrm>
          <a:prstGeom prst="roundRect">
            <a:avLst/>
          </a:prstGeom>
          <a:solidFill>
            <a:srgbClr val="EBF1F8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Delete unneeded DBs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96513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0833" y="2377440"/>
            <a:ext cx="2510713" cy="1097280"/>
          </a:xfrm>
          <a:prstGeom prst="roundRect">
            <a:avLst/>
          </a:prstGeom>
          <a:solidFill>
            <a:srgbClr val="E1EE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Remove broad firewall rules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5827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147" y="2377440"/>
            <a:ext cx="2510713" cy="1097280"/>
          </a:xfrm>
          <a:prstGeom prst="roundRect">
            <a:avLst/>
          </a:prstGeom>
          <a:solidFill>
            <a:srgbClr val="E6F5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Keep only approved resources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75141" y="2734056"/>
            <a:ext cx="320040" cy="320040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49461" y="2377440"/>
            <a:ext cx="2510713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t>Confirm cost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90/100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Day 4 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Managed data services reduce operations burden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Security and networking are mandatory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Scaling must consider cost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Choose service based on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91/100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SQL handles managed relational SQL Server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PostgreSQL handles open-source relational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Cosmos DB handles globally distributed JSON/NoSQL patterns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One size does not fit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92/100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Appendix: SQL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Products table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products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SELECT all rows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GROUP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93/100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Appendix: PostgreSQL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Customers table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Insert customers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SELECT by city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Validate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94/100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Appendix: Cosmos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Order item example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customerId partition key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status and amount fields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Query by customerId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95/100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Appendix: Cost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Use approved tiers only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Do not experiment with premium sizes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Stop/delete after class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Ask before enabling global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96/100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Appendix: RBAC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Students use own RG only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Contributor at RG scope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No subscription-level Owner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Trainer controls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97/100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Final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Which service would you choose for a banking app?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Which service for shopping cart JSON data?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Which service for PostgreSQL app migration?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Explain your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98/100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Day 4 completed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Next: Network Traffic Management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Bring questions and cleanup proof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End of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99/100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365D"/>
                </a:solidFill>
              </a:rPr>
              <a:t>Day 4 Recap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Azure data services support different workloads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Security, cost and backup must be planned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Students should clean up resources</a:t>
            </a:r>
          </a:p>
          <a:p>
            <a:pPr>
              <a:spcAft>
                <a:spcPts val="1000"/>
              </a:spcAft>
              <a:defRPr sz="2200">
                <a:solidFill>
                  <a:srgbClr val="232323"/>
                </a:solidFill>
              </a:defRPr>
            </a:pPr>
            <a:r>
              <a:t>Ask questions before moving to 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87878"/>
                </a:solidFill>
              </a:rPr>
              <a:t>Day 4 • Develop for Azure Data Services • 100/100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