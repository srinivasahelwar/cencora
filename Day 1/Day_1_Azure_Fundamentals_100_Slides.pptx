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34440"/>
            <a:ext cx="8138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1: Azure Fundamentals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App Service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E8FF"/>
                </a:solidFill>
              </a:rPr>
              <a:t>100-slide trainer deck • Cloud-Data-GenAI Learning Path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212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Srinivasa Ramachandrappa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Azure &amp; Databricks Corporate Trainer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1005840"/>
            <a:ext cx="1828800" cy="1828800"/>
          </a:xfrm>
          <a:prstGeom prst="arc">
            <a:avLst/>
          </a:prstGeom>
          <a:noFill/>
          <a:ln w="12700">
            <a:solidFill>
              <a:srgbClr val="37C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971800"/>
            <a:ext cx="2240280" cy="1051560"/>
          </a:xfrm>
          <a:prstGeom prst="rect">
            <a:avLst>
              <a:gd name="adj" fmla="val 6957"/>
            </a:avLst>
          </a:prstGeom>
          <a:solidFill>
            <a:srgbClr val="1D66B2"/>
          </a:solidFill>
          <a:ln w="12700">
            <a:solidFill>
              <a:srgbClr val="73D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260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Azure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Foundation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Evaluation Purpose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57607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Show cloud foundation knowledge clearly and practically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Demonstrate Azure Portal, CLI, Resource Groups and App Service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Connect concept → architecture → demo → lab → troubleshooting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Prepare students for upcoming networking, storage and data modules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03720" y="1508760"/>
            <a:ext cx="42976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Trainer positioning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1965960"/>
            <a:ext cx="4297680" cy="306324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Today is not only a basic Azure day. It sets the language, lab discipline and architecture thinking for the entire Cloud-Data-GenAI path.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Azure Fundamentals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Storyline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676400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4768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81072" y="1874520"/>
            <a:ext cx="1676400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Azure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7576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22064" y="1874520"/>
            <a:ext cx="1676400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16752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63056" y="1874520"/>
            <a:ext cx="1676400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CLI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5774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4048" y="1874520"/>
            <a:ext cx="1676400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App 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8736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5040" y="1874520"/>
            <a:ext cx="1676400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Monitor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Start with cloud basics, then show how Azure organizes and manages resources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End with a live PaaS app and basic monitoring using Application Insights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Learning Outcomes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Cloud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Explain IaaS, PaaS, SaaS and cloud deployment models.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Azure Core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Understand regions, resource groups, ARM and management tools.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Hands-on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Create Resource Group, use Cloud Shell and deploy a Web App.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Discuss scaling, monitoring, metrics and Application Insights.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Time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Cloud computing foundations – 45 minutes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Azure architecture and portal orientation – 50 minutes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Resource Group and CLI labs – 45 minutes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App Service creation and deployment – 75 minutes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Scaling, monitoring and troubleshooting – 60 minutes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challenge and recap – 45 minutes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1: Cloud Foundations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Set the mental model before opening the Azure portal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Cloud Computing?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Cloud computing delivers compute, storage, networking, databases and software over the internet or private connectivity.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Organizations consume services on-demand instead of building everything in their own datacenter.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The key shift is from owning infrastructure to consuming elastic capabilities.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Business Advantages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Speed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Provision environments in minutes rather than waiting weeks for hardware.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Elasticity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Scale resources up/down based on demand.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Cost Flexibility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Move toward pay-as-you-go and cost visibility.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Global Reach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Deploy close to users through cloud regions.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IT vs Cloud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Traditional IT often requires upfront capacity planning and hardware procurement.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Cloud allows infrastructure and platform capabilities to be provisioned through APIs and automation.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This does not eliminate architecture; it changes the way architecture is implemented.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Responsibility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Provider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Manages physical datacenters, hardware, physical networking and managed platform layers.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Customer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Manages identity, access, configuration, data, application logic and usage controls.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Depends on 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Customer responsibility decreases from IaaS to PaaS to SaaS.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Trainer Note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Use this to explain why cloud does not mean “no responsibility”.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IaaS, PaaS, SaaS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IaaS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Virtual Machines. Customer manages OS, runtime, application and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PaaS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App Service, Azure SQL. Customer focuses more on application and data.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SaaS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Complete business application consumed by users.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Exam Tip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Ask: how much of the stack is managed by the cloud provider?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Azure Fundamentals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Model Progression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IaaS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576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22064" y="1874520"/>
            <a:ext cx="3517392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PaaS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5774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4048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SaaS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More provider management as we move right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Less OS/runtime maintenance for the customer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More focus on business value and application logic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Public, Private and Hybrid Cloud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Public Cloud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Shared provider infrastructure consumed securely by many customers.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Private 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Dedicated environment for one organization, often in a private datacenter.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Hybrid Cloud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Combines on-premises and cloud using integration and connectivity.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Real World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Most enterprises run hybrid for a long time during modernization.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Misconceptions to Correct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Cloud is not automatically cheaper; it must be governed and optimized.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Cloud is not automatically secure; configuration and identity matter.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Cloud does not remove architecture; it increases the need for disciplined design.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Vocabulary Students Must Know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Compute: VM, App Service, containers and serverless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Storage: blob/object, file, disk and data lake storage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Network: VNet, subnet, routing, load balancing and private connectivity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Identity: tenant, users, groups, roles and permissions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Cloud Foundations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Knowledge Check: Cloud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What is the difference between IaaS and PaaS?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Why do companies use cloud elasticity?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does shared responsibility mean?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Give one example each of compute, storage and network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2: Azure Core 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Build the hierarchy: tenant → subscription → resource group → 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Azure Fundamentals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Management Hierarchy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596896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Tenant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5526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1568" y="1874520"/>
            <a:ext cx="2596896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Subscription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16752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63056" y="1874520"/>
            <a:ext cx="2596896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Resource Group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24544" y="1874520"/>
            <a:ext cx="2596896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Resource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Tenant is linked to identity and directory.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Subscription is billing and resource boundary.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Resource Group is a logical container for related resources.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Entra Tenant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Represents an organization’s identity boundary.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Contains users, groups, service principals and applications.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Formerly known as Azure Active Directory in many training materials.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Subscription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 subscription is a billing and management boundary for Azure resources.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Access control can be applied at subscription level.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Training environments usually allocate either shared subscriptions or controlled student resource groups.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Group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 Resource Group is a logical container for related Azure resources.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helps organize resources by application, environment, course day or owner.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Deleting a Resource Group deletes the resources inside it, so use caution.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Resource Manager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ARM is Azure’s deployment and management layer.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Portal, CLI, PowerShell, SDKs and IaC tools communicate with Azure through management APIs.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ARM provides consistent create, update, delete and access-control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Azure Fundamentals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Interfaces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Portal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02966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49270" y="1874520"/>
            <a:ext cx="2044598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CLI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2157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58461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PowerShell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1347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7651" y="1874520"/>
            <a:ext cx="2044598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30538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76842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Resources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Different tools can create the same Azure resource.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The management layer is consistent even when the user interface changes.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Regions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 region is a geographical area containing Azure datacenters.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should understand latency, compliance and service availability reasons for region selection.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one trainer-approved region for most Day 1 labs.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Zones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Availability Zones are physically separate locations within supported regions.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They help build fault-isolated highly available solutions.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Zone support depends on both region and service.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Fault Domains and Update Domains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Fault Domains separate resources across hardware failure boundaries.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Update Domains help prevent all instances from being updated at once.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Keep the explanation conceptual on Day 1; deeper design can come later.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Availability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High availability means designing so the application can continue despite failures.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Avoid single points of failure.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multiple instances, zones, health checks, backup and monitoring depending on the workload.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 Concept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SLA represents expected service availability under defined conditions.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Availability is improved through architecture, not only by choosing one service.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should learn the idea before memorizing exact service-specific numbers.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Portal Orientation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Home and Dashboard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Search bar for services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Resource Groups and Subscriptions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Cloud Shell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Notifications and settings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Portal Teaching Tip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Do not click randomly through too many services on Day 1.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Show the pattern: search service → create → configure → review → deploy → monitor.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This pattern repeats throughout Azure.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Cloud Shell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Cloud Shell provides browser-based Bash or PowerShell.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Useful for training because it reduces local installation issues.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can run az commands without setting up every machine immediately.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CLI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Azure CLI uses the az command.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is useful for repeatability, scripting and automation.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Common commands: az login, az account show, az group list, az resource list.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PowerShell and Bash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Bash is common in Linux and cloud automation environments.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PowerShell is common in Windows and Azure administration.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do not need to master both on Day 1, but should understand both are supported.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 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Knowledge Check: Azure Core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What is the difference between tenant and subscription?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is a Resource Group?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is ARM?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Why do we care about regions and availability zones?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3: Lab Setup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Prepare a clean and repeatable Azure training environment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Preferred Corporate Lab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One controlled Azure subscription or lab environment.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Each student gets a dedicated Resource Group.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naming standards to avoid conflicts and make cleanup easy.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Machine Requirements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Modern browser such as Edge or Chrome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Stable internet connection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Ability to access Azure Portal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Optional local Azure CLI installation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Power BI and Databricks tools are not needed on Day 1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Resource Naming Standard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Resource Group: rg-cloudgenai-day01-s01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App Service Plan: asp-cloudgenai-s01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Web App: app-cloudgenai-s01-unique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Application Insights: appi-cloudgenai-s01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 Selection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Use one approved region for the class.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Central India is a reasonable example if available in the subscription.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Keep Day 1 resources in the same region unless teaching cross-region design.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Control Rules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Use low-cost SKUs where possible.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Create only required resources.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Delete Resource Groups after trainer approval.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Never delete shared or client-owned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Tagging Standard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Environment = Training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Course = CloudDataGenAI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Day = Day01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Owner = StudentID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Tags help with cost, ownership and cleanup.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1: Azure Portal Exploration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Log in to Azure Portal.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Identify Home, Dashboard, Search, Resource Groups and Subscriptions.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Open Cloud Shell but do not run destructive commands.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Search for App Services, Storage Accounts, Virtual Machines and Azure Monitor.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2: Create a Resource Group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Go to Resource Groups → Create.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Select subscription and approved region.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naming standard: rg-cloudgenai-day01-s01.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Review + Create and confirm deployment success.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3: Verify Resource Group using CLI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Cloud Shell in Bash mode.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Run: az account show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Run: az group list --output table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Confirm the newly created Resource Group appears.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4: Create Resource Group using CLI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Demonstrate CLI creation after portal creation.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Command: az group create --name rg-cloudgenai-cli-s01 --location centralindia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Show that Portal and CLI both manage Azure through the same platform.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Commands for Day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az account show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az group list --output table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az group show --name &lt;resource-group&gt;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az resource list --resource-group &lt;resource-group&gt; --output table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Validation: Lab Setup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Every student can access Azure Portal.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Every student has a unique Resource Group.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Cloud Shell opens successfully.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CLI can list Resource Groups.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understand why naming and tagging matter.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4: Azure App Service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Deploy a simple PaaS application and explain the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49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Azure App Service?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Azure App Service is a managed platform for hosting web applications and APIs.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abstracts much of the underlying server management.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is commonly explained as a PaaS service.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App Service on Day 1?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It is visual and easy for beginners.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demonstrates PaaS clearly.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introduces deployment, scaling and monitoring without needing full VM administration.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Basic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596896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Browser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5526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1568" y="1874520"/>
            <a:ext cx="2596896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Web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16752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63056" y="1874520"/>
            <a:ext cx="2596896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App Service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24544" y="1874520"/>
            <a:ext cx="2596896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Azure 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The Web App is the application endpoint.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The App Service Plan provides compute capacity.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Azure manages the platform beneath it.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 vs App Service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Web App is the application resource and URL endpoint.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App Service Plan is the hosting capacity.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Multiple apps can share one plan if designed that way.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Plan Concept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Defines region, pricing tier and compute capacity.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Controls scaling options available to the Web App.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Choosing the right plan affects cost, performance and capabilities.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Stack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App Service supports different runtimes depending on OS and plan.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Examples include .NET, Java, Node.js, Python and PHP.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For Day 1, use the simplest runtime available in the training subscription.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Service Deployment Options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Azure Portal quick start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GitHub integration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Zip deployment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VS Code deployment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Azure CLI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5: Create an Azure Web App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Go to App Services → Create → Web App.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Select Resource Group: rg-cloudgenai-day01-s01.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Choose code publish model and runtime stack.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Create App Service Plan: asp-cloudgenai-s01.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6: Open the Default Web App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After deployment, open App Service → Overview.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Click the Default Domain URL.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Confirm the default application page appears.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Explain DNS name and HTTPS access.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7: Deploy a Simple Web Page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Use a basic HTML or runtime sample.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Display: Welcome to Azure App Service.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Keep deployment simple because Git/GitHub is covered later.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Main objective is proving the PaaS app can be reached.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59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HTML for Day 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Create an index.html page.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Title: Cloud Data GenAI Training.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Body: Day 1 Azure Lab Successfully Completed.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this only as a basic application payload.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Settings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Configuration contains environment variables and app settings.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Connection strings can be stored separately from code.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Avoid hardcoding secrets; use Key Vault concepts later.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Slots: Concept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Deployment slots support staged releases such as staging and production.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Not required for Day 1 hands-on unless time permits.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Introduce the idea now and revisit during CI/CD modules.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Domains: Concept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Default domain is automatically provided by Azure.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Production apps usually use a custom domain and TLS certificate.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Keep Day 1 lab on default domain to avoid DNS complexity.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Authentication: Concept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App Service can integrate with Microsoft identity providers.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Authentication is not mandatory for the basic Day 1 web page.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Security and identity are covered later in the TOC.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App Service Questions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Why is App Service PaaS?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is the difference between App Service and VM?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is App Service Plan?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Can multiple apps share one App Service Plan?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Service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Validation: App Service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Web App resource exists.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App Service Plan resource exists.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Default domain opens in browser.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can explain Web App vs App Service Plan.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5: Scaling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Explain manual scaling and autoscaling through simple diagrams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66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Scaling Matters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Applications must handle changing traffic.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Too little capacity causes slow response or failures.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Too much capacity wastes money.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Scaling balances performance and cost.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Up vs Scale Out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Scale 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Increase the size/capacity of one instance.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3348" y="137160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Scale 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3348" y="178308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Increase the number of instances.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Scale 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Reduce capacity of an instance.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3680460"/>
            <a:ext cx="53263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</a:rPr>
              <a:t>Scale 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3348" y="4091940"/>
            <a:ext cx="5326380" cy="1668780"/>
          </a:xfrm>
          <a:prstGeom prst="rect">
            <a:avLst/>
          </a:prstGeom>
          <a:solidFill>
            <a:srgbClr val="FFFFFF"/>
          </a:solidFill>
          <a:ln>
            <a:solidFill>
              <a:srgbClr val="D7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Reduce number of instances when demand drops.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69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Up Illustration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Small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576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22064" y="1874520"/>
            <a:ext cx="3517392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Medium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5774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4048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Large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Useful when an app needs more CPU/RAM per instance.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May have limits because one machine can only grow so far.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Out Illustration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Instance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5760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22064" y="1874520"/>
            <a:ext cx="3517392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Instance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57744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4048" y="1874520"/>
            <a:ext cx="3517392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Instance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Traffic can be distributed across multiple instances.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Often preferred for highly available web applications.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Autoscaling Concept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Autoscaling adjusts instance count based on rules or metrics.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Example: if CPU stays high, add another instance.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When usage drops, scale in to reduce cost.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Autoscale Rule Example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Condition: average CPU above threshold for a period.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Action: increase instance count by one.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Cooldown: wait before evaluating again.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Always discuss cost impact.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8: Explore Scale 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App Service Plan.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Review available pricing tiers.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Explain that actual options depend on subscription and plan.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Do not upgrade unnecessarily in a cost-sensitive lab.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9: Explore Scale Out / Autoscale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App Service Plan scaling options.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Discuss manual instance count and autoscale concepts.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If permitted, configure a simple autoscale rule.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If not permitted, explain conceptually from the portal.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Scaling Design Discussion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Do we need higher capacity or more instances?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Is the application stateless?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How do we maintain user sessions?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What happens if one instance fails?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Scaling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Scaling Validation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Students can distinguish scale up and scale out.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know where scaling is configured.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understand that cost and tier affect scaling options.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6: Monitoring &amp; Application Insights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Move from deployment to operational awareness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77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Monitoring Matters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Deployment is not the end of engineering.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Teams must know whether the app is available, slow or failing.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Monitoring provides visibility into health, performance and usage.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79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Monitor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Azure Monitor collects and analyzes metrics, logs and alerts.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is the central Azure-native monitoring capability.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Day 1 uses it at a basic level; deeper observability comes later.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vs Logs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Metrics are numerical time-series values such as requests or CPU.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Logs contain detailed records and events.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Both are useful for troubleshooting.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Insights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Application Insights is used for application performance monitoring and diagnostics.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can show requests, failures, response times, dependencies and application maps.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helps developers and operators understand application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Telemetry Flow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02966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49270" y="1874520"/>
            <a:ext cx="2044598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App 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2157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58461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Telemetry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1347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7651" y="1874520"/>
            <a:ext cx="2044598" cy="822960"/>
          </a:xfrm>
          <a:prstGeom prst="rect">
            <a:avLst/>
          </a:prstGeom>
          <a:solidFill>
            <a:srgbClr val="E7F5FF"/>
          </a:solidFill>
          <a:ln>
            <a:solidFill>
              <a:srgbClr val="1D66B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Application Insights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30538" y="20756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76842" y="1874520"/>
            <a:ext cx="2044598" cy="822960"/>
          </a:xfrm>
          <a:prstGeom prst="rect">
            <a:avLst/>
          </a:prstGeom>
          <a:solidFill>
            <a:srgbClr val="ECFDF5"/>
          </a:solidFill>
          <a:ln>
            <a:solidFill>
              <a:srgbClr val="0E9AA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5F"/>
                </a:solidFill>
              </a:rPr>
              <a:t>Azure Monitor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46120"/>
            <a:ext cx="100584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Every request can generate telemetry.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Telemetry helps answer: is the app working and how well?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10: Open Application Insights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Go to App Service → Application Insights.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Confirm whether Application Insights is enabled.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Open the linked Application Insights resource if present.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Show requests, failures and response time areas.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11: Generate Application Traffic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the Web App URL.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Refresh multiple times.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Optionally use an incognito window or second browser.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Return to monitoring views and observe incoming telemetry.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12: View Metrics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App Service → Monitoring → Metrics.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Select available request/response metrics.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Change the time range.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Explain metric charts as operational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Testing: Concept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Synthetic tests simulate user access from different locations.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Useful for checking whether a web endpoint is reachable.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New Relic synthetic monitoring is covered later in the course.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Alerts: Concept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Alerts notify teams when defined conditions occur.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Examples: high failure rate, high response time or downtime.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Day 1 can show where alerts are configured without creating noisy notifications.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Log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Activity Log records management-plane operations.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Examples: resource created, updated or deleted.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Useful for governance and audit discussions.</a:t>
            </a:r>
            <a:endParaRPr lang="en-US" sz="1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Day 1 Labs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89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13: Review Activity Log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Open the Day 1 Resource Group.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Click Activity Log.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Identify creation events for Web App, App Service Plan and monitoring resources.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Discuss how this helps audit resource changes.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Validation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Students know where to find metrics.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understand Application Insights purpose.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can explain difference between resource health and application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7: Student Challenge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Convert guided learning into independent practice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91</a:t>
            </a:r>
            <a:endParaRPr lang="en-US" sz="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Student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Challenge Scenario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You are asked to host a basic training web page for the Cloud-Data-GenAI program.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The page must run on Azure App Service.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It should be tagged, monitored and easy to delete after the lab.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Student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Requirements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Create Resource Group with student naming convention.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Create App Service Plan and Web App.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Deploy or display a simple page with student name and lab completion message.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Enable or review Application Insights.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Add tags for Environment, Course, Day and Owner.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Student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Success Criteria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Web App URL opens successfully.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can show Resource Group and resources.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can explain App Service Plan.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can show one metric or monitoring view.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 can explain cleanup steps.</a:t>
            </a:r>
            <a:endParaRPr lang="en-US" sz="1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Student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Evaluation Rubric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Architecture explanation – 25%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Successful resource creation – 25%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Monitoring demonstration – 20%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CLI awareness – 15%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Cleanup and cost awareness – 15%</a:t>
            </a:r>
            <a:endParaRPr lang="en-US" sz="1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E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3A5F"/>
                </a:solidFill>
              </a:rPr>
              <a:t>Section 8: Troubleshooting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2186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Prepare students to diagnose common Day 1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96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Troubleshooting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Issue: App Name Not Available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Web App names may need to be globally unique.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Fix by appending student ID or random number.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Example: app-cloudgenai-s01-2508.</a:t>
            </a:r>
            <a:endParaRPr lang="en-US" sz="1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Troubleshooting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Issue: Cannot Create Resource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Check subscription access.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Check Resource Group permissions.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Check region policy and quota.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Check if the service provider is available.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Troubleshooting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99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Issue: CLI Wrong Subscription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Run az account show.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Run az account list --output table.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Use az account set --subscription &lt;id&gt; where permitted.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0256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Closing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E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Closing &amp; Next Steps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1143000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106984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Students should now explain cloud models, Azure hierarchy, ARM, Portal and CLI.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Students should demonstrate Resource Group creation, App Service deployment and basic monitoring.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Next day moves into Virtual Networks, subnets, IP addressing, VMs and private connectivity.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Before the next lab, confirm subscription access, naming standards and cleanup discipline.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Azure Fundamentals &amp; App Service - 100 Slide Trainer Deck</dc:title>
  <dc:subject>Day 1 Azure Fundamentals &amp; App Service</dc:subject>
  <dc:creator>OpenAI</dc:creator>
  <cp:lastModifiedBy>OpenAI</cp:lastModifiedBy>
  <cp:revision>1</cp:revision>
  <dcterms:created xsi:type="dcterms:W3CDTF">2026-08-25T14:50:50Z</dcterms:created>
  <dcterms:modified xsi:type="dcterms:W3CDTF">2026-08-25T14:50:50Z</dcterms:modified>
</cp:coreProperties>
</file>