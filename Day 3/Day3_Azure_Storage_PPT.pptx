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0C0"/>
                </a:solidFill>
              </a:rPr>
              <a:t>DAY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4E79"/>
                </a:solidFill>
              </a:rPr>
              <a:t>Azure Storage Fundamentals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808" y="2834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Lab guide + explanation deck aligned to Day 3 TOC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5257800"/>
            <a:ext cx="8961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Azure Storage • Blob • Files • Queue • SAS • CLI/PowerShell • Monitoring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Day 3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What students will learn and build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Create storage account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28803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Standard LRS, region, naming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Blob containers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286000"/>
            <a:ext cx="28803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Upload, tier, metadata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183880" y="173736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9019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Secure access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28803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Private containers + SAS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85800" y="379476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593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Files and queues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28803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File share + order queue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434840" y="379476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9593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Automation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17720" y="4343400"/>
            <a:ext cx="28803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CLI and PowerShell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183880" y="3794760"/>
            <a:ext cx="3246120" cy="1737360"/>
          </a:xfrm>
          <a:prstGeom prst="roundRect">
            <a:avLst>
              <a:gd name="adj" fmla="val 3158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395935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Monitor and optimize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66760" y="4343400"/>
            <a:ext cx="28803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Metrics, alerts, lifecycle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Where Azure Storage fits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Storage is the data foundation for apps, analytics and GenAI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Applications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377440" y="1764792"/>
            <a:ext cx="18288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023360" y="1783080"/>
            <a:ext cx="2011680" cy="2743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Azure Storage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17920" y="1764792"/>
            <a:ext cx="18288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001000" y="1783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Analytics / AI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Examples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CSV files, JSON logs, documents, images, backups, queue messages and shared files.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4434840" y="274320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Cloud data path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3291840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Raw data lands in storage; services such as Databricks, Power BI and AI Search consume it.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92440" y="274320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9077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Training focus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75320" y="3291840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Blob Storage, Azure Files, Queue Storage, SAS access and lifecycle policies.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Storage account object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One account can host multiple storage services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23444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Storage Account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1828800"/>
            <a:ext cx="0" cy="36576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74720" y="210312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B7D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1945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Blob containers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39572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raw / archive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0" y="1527048"/>
            <a:ext cx="731520" cy="667512"/>
          </a:xfrm>
          <a:prstGeom prst="line">
            <a:avLst/>
          </a:prstGeom>
          <a:noFill/>
          <a:ln w="1524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828800" y="1828800"/>
            <a:ext cx="0" cy="1207008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74720" y="2944368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B7D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3035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File shares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323697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training-share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0" y="1527048"/>
            <a:ext cx="731520" cy="1508760"/>
          </a:xfrm>
          <a:prstGeom prst="line">
            <a:avLst/>
          </a:prstGeom>
          <a:noFill/>
          <a:ln w="1524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28800" y="1828800"/>
            <a:ext cx="0" cy="2048256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74720" y="3785616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B7D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8770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Queues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407822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orders-queue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0" y="1527048"/>
            <a:ext cx="731520" cy="2350008"/>
          </a:xfrm>
          <a:prstGeom prst="line">
            <a:avLst/>
          </a:prstGeom>
          <a:noFill/>
          <a:ln w="1524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1828800"/>
            <a:ext cx="438912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993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Important naming rule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12280" y="2377440"/>
            <a:ext cx="402336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The storage account name becomes part of a public endpoint, so it must be globally unique, lowercase, and 3-24 characters.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629400" y="3246120"/>
            <a:ext cx="4389120" cy="1828800"/>
          </a:xfrm>
          <a:prstGeom prst="roundRect">
            <a:avLst>
              <a:gd name="adj" fmla="val 30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3410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Endpoint examples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12280" y="3794760"/>
            <a:ext cx="40233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Blob endpoint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https://account.blob.core.windows.net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DFS endpoint for ADLS Gen2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https://account.dfs.core.windows.net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Standard vs Premium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700" dirty="0">
                <a:solidFill>
                  <a:srgbClr val="222222"/>
                </a:solidFill>
              </a:rPr>
              <a:t>Standard is suitable for most training labs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Use LRS for classroom cost control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Premium is for low-latency/high-performance scenarios</a:t>
            </a:r>
            <a:endParaRPr lang="en-US" sz="1700" dirty="0"/>
          </a:p>
          <a:p>
            <a:r>
              <a:rPr lang="en-US" sz="1700" dirty="0">
                <a:solidFill>
                  <a:srgbClr val="222222"/>
                </a:solidFill>
              </a:rPr>
              <a:t>Avoid premium unless the requirement demands it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92240" y="1874520"/>
            <a:ext cx="4663440" cy="4114800"/>
          </a:xfrm>
          <a:prstGeom prst="roundRect">
            <a:avLst>
              <a:gd name="adj" fmla="val 1333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0391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Trainer message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0" y="2423160"/>
            <a:ext cx="429768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For Day 3, choose Standard + LRS.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Explain cost/performance trade-off before students create resources.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Use consistent region: Central India.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Redundancy options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How Azure keeps copies of storage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LRS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Copies within one region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8346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Use LRS for training. Discuss ZRS/GRS conceptually for resilience and disaster recovery.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ZRS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Copies across zones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28346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Use LRS for training. Discuss ZRS/GRS conceptually for resilience and disaster recovery.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1993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GRS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Copies to paired region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377440"/>
            <a:ext cx="28346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Use LRS for training. Discuss ZRS/GRS conceptually for resilience and disaster recovery.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Lab 1: Create Storage Account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Student creates account inside assigned resource group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Resource group: rg-studentXX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Name: stgenai26studentXX or another unique lowercase name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Region: Central India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Performance: Standard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Redundancy: LRS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Hierarchical namespace: disabled for basic blob lab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1783080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Storage Account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2377440"/>
            <a:ext cx="0" cy="36576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61120" y="265176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B7D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7432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Blob containers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0" y="294436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raw / archive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229600" y="2075688"/>
            <a:ext cx="731520" cy="667512"/>
          </a:xfrm>
          <a:prstGeom prst="line">
            <a:avLst/>
          </a:prstGeom>
          <a:noFill/>
          <a:ln w="1524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15200" y="2377440"/>
            <a:ext cx="0" cy="1207008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961120" y="3493008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B7D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35844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File shares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0" y="378561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training-share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29600" y="2075688"/>
            <a:ext cx="731520" cy="1508760"/>
          </a:xfrm>
          <a:prstGeom prst="line">
            <a:avLst/>
          </a:prstGeom>
          <a:noFill/>
          <a:ln w="1524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15200" y="2377440"/>
            <a:ext cx="0" cy="2048256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61120" y="4334256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F7FBFF"/>
          </a:solidFill>
          <a:ln w="12700">
            <a:solidFill>
              <a:srgbClr val="B7D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442569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Queues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462686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orders-queue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29600" y="2075688"/>
            <a:ext cx="731520" cy="2350008"/>
          </a:xfrm>
          <a:prstGeom prst="line">
            <a:avLst/>
          </a:prstGeom>
          <a:noFill/>
          <a:ln w="1524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Blob Storage basics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Objects, containers and paths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39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Container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Logical grouping of blobs. Example: raw, archive, processed.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39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Blob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The actual file/object. Example: customers.csv or sales.json.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3383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039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Virtual folder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 path-like prefix, such as day3/input/customers.csv.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828800" y="3931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0C0"/>
                </a:solidFill>
              </a:rPr>
              <a:t>raw/day3/input/customers.csv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Lab 2: Containers and upload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Create private containers and upload sample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937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Create raw container with Private access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Create archive container with Private access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Upload customers.csv to raw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Open blob Properties and review URL, tier, metadata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Do not change public access for training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737360"/>
            <a:ext cx="4480560" cy="2011680"/>
          </a:xfrm>
          <a:prstGeom prst="roundRect">
            <a:avLst>
              <a:gd name="adj" fmla="val 2727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019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Sample CSV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286000"/>
            <a:ext cx="41148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customer_id,customer_name,city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101,Srinivasa,Bangalore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102,Priya,Hyderabad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103,Rahul,Chennai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492240" y="3840480"/>
            <a:ext cx="448056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40050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Checkpoint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4389120"/>
            <a:ext cx="41148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Trainer confirms the blob exists and students can explain why private access is safer.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Access tiers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Hot, Cool and Archive are cost/access trade-offs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3154680" cy="1783080"/>
          </a:xfrm>
          <a:prstGeom prst="roundRect">
            <a:avLst>
              <a:gd name="adj" fmla="val 3077"/>
            </a:avLst>
          </a:prstGeom>
          <a:solidFill>
            <a:srgbClr val="FFF2CC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39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Hot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7889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Frequent access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Read often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1783080"/>
          </a:xfrm>
          <a:prstGeom prst="roundRect">
            <a:avLst>
              <a:gd name="adj" fmla="val 3077"/>
            </a:avLst>
          </a:prstGeom>
          <a:solidFill>
            <a:srgbClr val="E2F0D9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039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Cool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423160"/>
            <a:ext cx="27889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Infrequent access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Monthly archives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29600" y="1874520"/>
            <a:ext cx="3154680" cy="1783080"/>
          </a:xfrm>
          <a:prstGeom prst="roundRect">
            <a:avLst>
              <a:gd name="adj" fmla="val 3077"/>
            </a:avLst>
          </a:prstGeom>
          <a:solidFill>
            <a:srgbClr val="EAF3F8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03911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Archive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423160"/>
            <a:ext cx="27889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Rare access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Long-term retention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Lab 3: Metadata and tier change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Teach storage governance early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754880" cy="3931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Open customers.csv blob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Change access tier to Cool for demonstration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Add metadata: source=training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Add metadata: day=day3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Save and verify metadata in properties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783080"/>
            <a:ext cx="4297680" cy="1920240"/>
          </a:xfrm>
          <a:prstGeom prst="roundRect">
            <a:avLst>
              <a:gd name="adj" fmla="val 2857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Why metadata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331720"/>
            <a:ext cx="393192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Metadata helps downstream pipelines, catalogs and governance tools understand where data came from and how it should be handled.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446520" y="3840480"/>
            <a:ext cx="42976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GenAI connection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3931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Later, metadata helps search, filtering, retrieval and grounding.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SAS token concept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Temporary signed access to a storage resource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2011680" cy="41148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Private blob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63240" y="2029968"/>
            <a:ext cx="201168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349240" y="1847088"/>
            <a:ext cx="2194560" cy="777240"/>
          </a:xfrm>
          <a:prstGeom prst="rect">
            <a:avLst/>
          </a:prstGeom>
          <a:solidFill>
            <a:srgbClr val="EAF3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SAS URL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Read-only • expires soon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26680" y="2029968"/>
            <a:ext cx="18288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738360" y="1828800"/>
            <a:ext cx="1828800" cy="41148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Student / app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971800" y="3794760"/>
            <a:ext cx="6309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3959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Rule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54680" y="4343400"/>
            <a:ext cx="5943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Use least privilege: narrow permission, short expiry, specific blob/container, private sharing only.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Lab 4: Generate SAS safely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Practical exercise: read-only access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12064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Open customers.csv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Generate SAS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Choose Read permission only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Set short expiry, for example one hour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Open SAS URL in private browser window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Do not post SAS URL in public chat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828800"/>
            <a:ext cx="4297680" cy="1554480"/>
          </a:xfrm>
          <a:prstGeom prst="roundRect">
            <a:avLst>
              <a:gd name="adj" fmla="val 3529"/>
            </a:avLst>
          </a:prstGeom>
          <a:solidFill>
            <a:srgbClr val="FFF2CC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9933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Trainer warning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20840" y="2377440"/>
            <a:ext cx="393192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 SAS URL is like a temporary key. Anyone with the URL can use it until it expires.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537960" y="3657600"/>
            <a:ext cx="4297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38221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Checkpoint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4206240"/>
            <a:ext cx="3931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Student can download file with SAS but cannot upload or delete.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Azure CLI lab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Repeat portal actions from Cloud Shell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783080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476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List accounts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az storage account list -g rg-student01 -o table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77240" y="2606040"/>
            <a:ext cx="5303520" cy="1143000"/>
          </a:xfrm>
          <a:prstGeom prst="roundRect">
            <a:avLst>
              <a:gd name="adj" fmla="val 48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7063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Create container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az storage container create --name raw --account-name &lt;storageaccount&gt; --auth-mode login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77240" y="406908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336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Upload blob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617720"/>
            <a:ext cx="49377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az storage blob upload --account-name &lt;storageaccount&gt; --container-name raw --name day3/customers.csv --file customers.csv --auth-mode login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903720" y="1920240"/>
            <a:ext cx="41148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Explain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2468880"/>
            <a:ext cx="37490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CLI is useful for repeatable scripts, automation and troubleshooting when UI steps are slow.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PowerShell lab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Azure administration using Az module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39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Get storage account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Get-AzStorageAccount -ResourceGroupName rg-student01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5303520" cy="1143000"/>
          </a:xfrm>
          <a:prstGeom prst="roundRect">
            <a:avLst>
              <a:gd name="adj" fmla="val 48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6207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Get context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$ctx = (Get-AzStorageAccount -ResourceGroupName rg-student01 -Name &lt;storageaccount&gt;).Context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77240" y="4160520"/>
            <a:ext cx="5303520" cy="1005840"/>
          </a:xfrm>
          <a:prstGeom prst="roundRect">
            <a:avLst>
              <a:gd name="adj" fmla="val 5455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32511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Create container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709160"/>
            <a:ext cx="49377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New-AzStorageContainer -Name raw -Context $ctx -Permission Off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903720" y="201168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2176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Explain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6600" y="2560320"/>
            <a:ext cx="374904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PowerShell is common in enterprise Windows automation and administrative scripts.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Azure Files vs Blob Storage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Choose the right storage service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Blob Storage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28803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Object storage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App data, media, logs, datasets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480560" y="187452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Azure Files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423160"/>
            <a:ext cx="28803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Managed file share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Lift-and-shift apps needing shared path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29600" y="187452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Queue Storage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423160"/>
            <a:ext cx="28803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Message queue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Decouple producer and consumer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Lab 7: Azure Files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Create training-share and review mount commands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12064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Open storage account &gt; File shares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Create file share: training-share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Upload a text file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Open Connect and review Windows/Linux commands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Do not mount if SMB port 445 is blocked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389120" cy="1828800"/>
          </a:xfrm>
          <a:prstGeom prst="roundRect">
            <a:avLst>
              <a:gd name="adj" fmla="val 30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93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Trainer note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40233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Azure Files behaves like a managed network file share. Blob Storage behaves like object storage. This distinction matters for app migration.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Queue Storage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Simple asynchronous messaging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828800" cy="731520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Web/API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80360" y="2194560"/>
            <a:ext cx="18288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892040" y="1920240"/>
            <a:ext cx="2194560" cy="502920"/>
          </a:xfrm>
          <a:prstGeom prst="rect">
            <a:avLst/>
          </a:prstGeom>
          <a:solidFill>
            <a:srgbClr val="EAF3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orders-queue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223760" y="2194560"/>
            <a:ext cx="18288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89720" y="1828800"/>
            <a:ext cx="1828800" cy="73152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Consumer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Worker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931920" y="3886200"/>
            <a:ext cx="4389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40507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Example message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4434840"/>
            <a:ext cx="40233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{"orderId":1001,"status":"created"}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Lab 8: Create and process a queue message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Hands-on asynchronous pattern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12064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Create queue: orders-queue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Add a sample JSON order message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Peek message without deleting it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Dequeue/delete message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Explain at-least-once processing and idempotency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920240"/>
            <a:ext cx="4297680" cy="1828800"/>
          </a:xfrm>
          <a:prstGeom prst="roundRect">
            <a:avLst>
              <a:gd name="adj" fmla="val 30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084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Use case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393192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When a user places an order, the website can immediately store a queue message and a backend worker can process it later.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Azure Storage Explorer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Desktop-friendly tool for storage operations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493776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Useful for browsing accounts, containers and blobs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Supports upload/download and folder navigation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Works well for trainers handling sample datasets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Still follows security and permissions 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Classroom use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38404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Trainer can use Storage Explorer to quickly verify whether each student uploaded files to the right location.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Lifecycle management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Automate cost-aware data movement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1828800" cy="411480"/>
          </a:xfrm>
          <a:prstGeom prst="rect">
            <a:avLst/>
          </a:prstGeom>
          <a:solidFill>
            <a:srgbClr val="FFF2C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Hot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697480" y="2029968"/>
            <a:ext cx="18288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709160" y="1874520"/>
            <a:ext cx="1828800" cy="685800"/>
          </a:xfrm>
          <a:prstGeom prst="rect">
            <a:avLst/>
          </a:prstGeom>
          <a:solidFill>
            <a:srgbClr val="E2F0D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Cool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After 30 days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20840" y="2029968"/>
            <a:ext cx="18288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732520" y="1874520"/>
            <a:ext cx="1828800" cy="68580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Delete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After 90 days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3840480"/>
            <a:ext cx="6858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400507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Rule example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4389120"/>
            <a:ext cx="64922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Move blobs under raw/day3/ to Cool after 30 days, then delete temporary files after 90 days.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Monitoring 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What to inspect after the lab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070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385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Used capacity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70AD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9385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01000" y="18288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070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9385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Ingress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27432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70AD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8529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Egress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34840" y="27432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0070C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8529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Availability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01000" y="2743200"/>
            <a:ext cx="2560320" cy="384048"/>
          </a:xfrm>
          <a:prstGeom prst="roundRect">
            <a:avLst>
              <a:gd name="adj" fmla="val 19048"/>
            </a:avLst>
          </a:prstGeom>
          <a:solidFill>
            <a:srgbClr val="70AD4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85292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Latency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57400" y="4023360"/>
            <a:ext cx="8046720" cy="1188720"/>
          </a:xfrm>
          <a:prstGeom prst="roundRect">
            <a:avLst>
              <a:gd name="adj" fmla="val 4615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4187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Trainer message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240280" y="4572000"/>
            <a:ext cx="76809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Monitoring is not only for production. It teaches students how resources behave and where cost or errors may appear.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Security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Safe defaults for Day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Keep containers private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Use Microsoft Entra ID/RBAC where possible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Use SAS only when needed, with short expiry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Do not create public containers in training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Do not share account keys in chat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Delete or expire test SAS links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FFF2CC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Key phrase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38404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 storage account is simple to create, but easy to expose incorrectly. Security defaults matter.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Cost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Avoid unnecessary spend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12064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800" dirty="0">
                <a:solidFill>
                  <a:srgbClr val="222222"/>
                </a:solidFill>
              </a:rPr>
              <a:t>Use Standard LRS for training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Avoid Premium unless needed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Delete duplicate accounts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Use lifecycle policies for temporary data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Monitor capacity and transactions</a:t>
            </a:r>
            <a:endParaRPr lang="en-US" sz="1800" dirty="0"/>
          </a:p>
          <a:p>
            <a:r>
              <a:rPr lang="en-US" sz="1800" dirty="0">
                <a:solidFill>
                  <a:srgbClr val="222222"/>
                </a:solidFill>
              </a:rPr>
              <a:t>Review cost after class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4206240" cy="1828800"/>
          </a:xfrm>
          <a:prstGeom prst="roundRect">
            <a:avLst>
              <a:gd name="adj" fmla="val 3000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993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Common mistake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377440"/>
            <a:ext cx="38404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Students create multiple storage accounts or leave high-cost options selected without understanding why.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Practical Exercise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Create Blob Storage and access it using SAS Token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783080"/>
            <a:ext cx="548640" cy="54864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17373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Create storage account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548640" cy="54864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74520" y="2697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Create private container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548640" cy="54864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74520" y="36576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Upload customers.csv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1783080"/>
            <a:ext cx="548640" cy="54864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86600" y="1737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Generate read-only SAS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548640" cy="54864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86600" y="26974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Test in private browser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548640" cy="54864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86600" y="36576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Explain security and expiry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Troubleshooting quick guide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Common Day 3 issues and fixes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Name unavailable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28803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Use globally unique lowercase name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Upload denied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423160"/>
            <a:ext cx="28803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Check RBAC/data role and correct account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275320" y="187452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039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SAS fails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423160"/>
            <a:ext cx="28803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Check expiry, permission and clock time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7FB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136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Files mount fails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4297680"/>
            <a:ext cx="28803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SMB port 445 may be blocked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526280" y="3749040"/>
            <a:ext cx="32461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9136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High cost fear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4297680"/>
            <a:ext cx="288036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Review SKU, redundancy and duplicates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Assessment questions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Use these to check understanding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1024128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2000" dirty="0">
                <a:solidFill>
                  <a:srgbClr val="222222"/>
                </a:solidFill>
              </a:rPr>
              <a:t>Why must a storage account name be globally unique?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</a:rPr>
              <a:t>When would you choose Blob Storage over Azure Files?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</a:rPr>
              <a:t>What is a SAS token and why should it expire quickly?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</a:rPr>
              <a:t>What is the difference between Hot, Cool and Archive tiers?</a:t>
            </a:r>
            <a:endParaRPr lang="en-US" sz="2000" dirty="0"/>
          </a:p>
          <a:p>
            <a:r>
              <a:rPr lang="en-US" sz="2000" dirty="0">
                <a:solidFill>
                  <a:srgbClr val="222222"/>
                </a:solidFill>
              </a:rPr>
              <a:t>Why is a private container safer than public access?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Day 3 validation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Before closing the session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100584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2222"/>
                </a:solidFill>
              </a:rPr>
              <a:t>Each student has one working storage account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raw and archive containers created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customers.csv uploaded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Metadata and access tier demonstrated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Read-only short-lived SAS tested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File share and queue demonstrated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Lifecycle and monitoring explained</a:t>
            </a:r>
            <a:endParaRPr lang="en-US" sz="1900" dirty="0"/>
          </a:p>
          <a:p>
            <a:r>
              <a:rPr lang="en-US" sz="1900" dirty="0">
                <a:solidFill>
                  <a:srgbClr val="222222"/>
                </a:solidFill>
              </a:rPr>
              <a:t>Costs reviewed and unnecessary resources cleaned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28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Bridge to Day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From storage to data services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560320" cy="41148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Storage contains files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66160" y="2029968"/>
            <a:ext cx="182880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5577840" y="1737360"/>
            <a:ext cx="2743200" cy="640080"/>
          </a:xfrm>
          <a:prstGeom prst="rect">
            <a:avLst/>
          </a:prstGeom>
          <a:solidFill>
            <a:srgbClr val="EAF3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</a:rPr>
              <a:t>Databases manage structured data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58200" y="2029968"/>
            <a:ext cx="1097280" cy="0"/>
          </a:xfrm>
          <a:prstGeom prst="line">
            <a:avLst/>
          </a:prstGeom>
          <a:noFill/>
          <a:ln w="25400">
            <a:solidFill>
              <a:srgbClr val="0070C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738360" y="1828800"/>
            <a:ext cx="2011680" cy="41148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Applications query data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743200" y="3886200"/>
            <a:ext cx="68580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A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405079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</a:rPr>
              <a:t>Next topic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26080" y="4434840"/>
            <a:ext cx="64922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22222"/>
                </a:solidFill>
              </a:rPr>
              <a:t>Azure SQL Database, Cosmos DB and PostgreSQL will build on today's storage foundation.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1F4E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" y="10972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Cloud Data GenAI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9"/>
                </a:solidFill>
              </a:rPr>
              <a:t>Instructor closing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114300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What students should remember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Azure Storage is the durable data foundation for cloud applications, analytics and GenAI pipelines.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Private by default • least privilege SAS • lifecycle policies • monitor cost and usage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12700">
            <a:solidFill>
              <a:srgbClr val="D9EA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Cloud Data GenAI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3 - Azure Storage</dc:title>
  <dc:subject>Day 3 Azure Storage</dc:subject>
  <dc:creator>OpenAI</dc:creator>
  <cp:lastModifiedBy>OpenAI</cp:lastModifiedBy>
  <cp:revision>1</cp:revision>
  <dcterms:created xsi:type="dcterms:W3CDTF">2026-08-28T02:25:06Z</dcterms:created>
  <dcterms:modified xsi:type="dcterms:W3CDTF">2026-08-28T02:25:06Z</dcterms:modified>
</cp:coreProperties>
</file>